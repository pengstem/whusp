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81" r:id="rId5"/>
    <p:sldId id="282" r:id="rId6"/>
    <p:sldId id="283" r:id="rId7"/>
    <p:sldId id="284" r:id="rId8"/>
    <p:sldId id="285" r:id="rId9"/>
    <p:sldId id="286" r:id="rId10"/>
    <p:sldId id="287" r:id="rId11"/>
    <p:sldId id="288" r:id="rId12"/>
    <p:sldId id="289" r:id="rId13"/>
    <p:sldId id="290" r:id="rId14"/>
    <p:sldId id="291" r:id="rId15"/>
    <p:sldId id="260" r:id="rId16"/>
    <p:sldId id="261" r:id="rId17"/>
    <p:sldId id="262" r:id="rId18"/>
    <p:sldId id="263" r:id="rId19"/>
    <p:sldId id="265" r:id="rId20"/>
    <p:sldId id="292" r:id="rId21"/>
    <p:sldId id="267" r:id="rId22"/>
    <p:sldId id="269" r:id="rId23"/>
    <p:sldId id="293" r:id="rId24"/>
    <p:sldId id="270" r:id="rId25"/>
    <p:sldId id="271" r:id="rId26"/>
    <p:sldId id="272" r:id="rId27"/>
    <p:sldId id="273" r:id="rId28"/>
    <p:sldId id="274" r:id="rId29"/>
    <p:sldId id="275" r:id="rId30"/>
    <p:sldId id="279" r:id="rId31"/>
    <p:sldId id="280" r:id="rId3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117" autoAdjust="0"/>
    <p:restoredTop sz="94610"/>
  </p:normalViewPr>
  <p:slideViewPr>
    <p:cSldViewPr snapToGrid="0" snapToObjects="1">
      <p:cViewPr>
        <p:scale>
          <a:sx n="66" d="100"/>
          <a:sy n="66" d="100"/>
        </p:scale>
        <p:origin x="365" y="3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30T06:25: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30T06:26: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6/30/2026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70456-B6A7-CBCE-0D97-97AF0093F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EC2CE6-7852-01E9-4C98-7CE9A7AFA2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E6CD42-A73A-8DC9-5DFB-D554B183E5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D0135D-13C5-B774-7E25-95105545B1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22404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nastem/Project/oscomp/preliminary-report/figures/wh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139" y="2892949"/>
            <a:ext cx="3439858" cy="1084430"/>
          </a:xfrm>
          <a:prstGeom prst="rect">
            <a:avLst/>
          </a:prstGeom>
        </p:spPr>
      </p:pic>
      <p:grpSp>
        <p:nvGrpSpPr>
          <p:cNvPr id="13" name="组合 12"/>
          <p:cNvGrpSpPr/>
          <p:nvPr/>
        </p:nvGrpSpPr>
        <p:grpSpPr>
          <a:xfrm>
            <a:off x="4904508" y="2481748"/>
            <a:ext cx="6561916" cy="2327883"/>
            <a:chOff x="4873336" y="2402237"/>
            <a:chExt cx="6561916" cy="2327883"/>
          </a:xfrm>
        </p:grpSpPr>
        <p:sp>
          <p:nvSpPr>
            <p:cNvPr id="3" name="Text 0"/>
            <p:cNvSpPr/>
            <p:nvPr/>
          </p:nvSpPr>
          <p:spPr>
            <a:xfrm>
              <a:off x="4873336" y="2402237"/>
              <a:ext cx="5684810" cy="8503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4800" dirty="0">
                  <a:solidFill>
                    <a:srgbClr val="00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  <a:cs typeface="Times New Roman" panose="02020603050405020304" pitchFamily="18" charset="0"/>
                </a:rPr>
                <a:t>WHUSP</a:t>
              </a:r>
              <a:r>
                <a:rPr lang="en-US" sz="4800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Consolas" panose="020B0609020204030204" pitchFamily="34" charset="-120"/>
                </a:rPr>
                <a:t>  初赛汇报</a:t>
              </a:r>
              <a:endParaRPr lang="en-US" sz="4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4" name="Text 1"/>
            <p:cNvSpPr/>
            <p:nvPr/>
          </p:nvSpPr>
          <p:spPr>
            <a:xfrm>
              <a:off x="4951032" y="3645690"/>
              <a:ext cx="4857985" cy="108443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endParaRPr lang="en-US" sz="16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cxnSp>
          <p:nvCxnSpPr>
            <p:cNvPr id="9" name="直接连接符 8"/>
            <p:cNvCxnSpPr/>
            <p:nvPr/>
          </p:nvCxnSpPr>
          <p:spPr>
            <a:xfrm>
              <a:off x="5268191" y="3429000"/>
              <a:ext cx="6167061" cy="0"/>
            </a:xfrm>
            <a:prstGeom prst="line">
              <a:avLst/>
            </a:prstGeom>
            <a:ln w="50800">
              <a:solidFill>
                <a:schemeClr val="bg2">
                  <a:lumMod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文本框 11"/>
            <p:cNvSpPr txBox="1"/>
            <p:nvPr/>
          </p:nvSpPr>
          <p:spPr>
            <a:xfrm>
              <a:off x="5199779" y="3721920"/>
              <a:ext cx="550663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err="1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等线" pitchFamily="34" charset="-120"/>
                </a:rPr>
                <a:t>武汉大学</a:t>
              </a:r>
              <a:r>
                <a:rPr lang="en-US" altLang="zh-CN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等线" pitchFamily="34" charset="-120"/>
                </a:rPr>
                <a:t> </a:t>
              </a:r>
              <a:r>
                <a:rPr lang="zh-CN" altLang="en-US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等线" pitchFamily="34" charset="-120"/>
                </a:rPr>
                <a:t>最后一次入门</a:t>
              </a:r>
              <a:r>
                <a:rPr lang="en-US" altLang="zh-CN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等线" pitchFamily="34" charset="-120"/>
                </a:rPr>
                <a:t>RUST 队——</a:t>
              </a:r>
              <a:r>
                <a:rPr lang="en-US" altLang="zh-CN" dirty="0" err="1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等线" pitchFamily="34" charset="-120"/>
                </a:rPr>
                <a:t>彭灵钰</a:t>
              </a:r>
              <a:r>
                <a:rPr lang="en-US" altLang="zh-CN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等线" pitchFamily="34" charset="-120"/>
                </a:rPr>
                <a:t>  </a:t>
              </a:r>
              <a:r>
                <a:rPr lang="en-US" altLang="zh-CN" dirty="0" err="1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等线" pitchFamily="34" charset="-120"/>
                </a:rPr>
                <a:t>石瑞博</a:t>
              </a:r>
              <a:endPara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  <a:p>
              <a:endParaRPr lang="zh-CN" altLang="en-US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9468196" y="2432304"/>
            <a:ext cx="5852160" cy="256032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endParaRPr lang="en-US" sz="1500" dirty="0"/>
          </a:p>
        </p:txBody>
      </p:sp>
      <p:cxnSp>
        <p:nvCxnSpPr>
          <p:cNvPr id="17" name="直接连接符 16"/>
          <p:cNvCxnSpPr/>
          <p:nvPr/>
        </p:nvCxnSpPr>
        <p:spPr>
          <a:xfrm>
            <a:off x="519545" y="1039091"/>
            <a:ext cx="7813964" cy="0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11641282" y="342901"/>
            <a:ext cx="259773" cy="58189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550718" y="155351"/>
            <a:ext cx="131318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dirty="0">
                <a:latin typeface="华文中宋" panose="02010600040101010101" pitchFamily="2" charset="-122"/>
                <a:ea typeface="华文中宋" panose="02010600040101010101" pitchFamily="2" charset="-122"/>
              </a:rPr>
              <a:t>目录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687774" y="1153391"/>
            <a:ext cx="1039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English</a:t>
            </a:r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7" name="墨迹 26"/>
              <p14:cNvContentPartPr/>
              <p14:nvPr/>
            </p14:nvContentPartPr>
            <p14:xfrm>
              <a:off x="7669389" y="3745786"/>
              <a:ext cx="360" cy="360"/>
            </p14:xfrm>
          </p:contentPart>
        </mc:Choice>
        <mc:Fallback xmlns="">
          <p:pic>
            <p:nvPicPr>
              <p:cNvPr id="27" name="墨迹 26"/>
            </p:nvPicPr>
            <p:blipFill>
              <a:blip r:embed="rId4"/>
            </p:blipFill>
            <p:spPr>
              <a:xfrm>
                <a:off x="7669389" y="3745786"/>
                <a:ext cx="36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8" name="墨迹 27"/>
              <p14:cNvContentPartPr/>
              <p14:nvPr/>
            </p14:nvContentPartPr>
            <p14:xfrm>
              <a:off x="8022909" y="4951426"/>
              <a:ext cx="360" cy="360"/>
            </p14:xfrm>
          </p:contentPart>
        </mc:Choice>
        <mc:Fallback xmlns="">
          <p:pic>
            <p:nvPicPr>
              <p:cNvPr id="28" name="墨迹 27"/>
            </p:nvPicPr>
            <p:blipFill>
              <a:blip r:embed="rId4"/>
            </p:blipFill>
            <p:spPr>
              <a:xfrm>
                <a:off x="8022909" y="4951426"/>
                <a:ext cx="360" cy="360"/>
              </a:xfrm>
              <a:prstGeom prst="rect"/>
            </p:spPr>
          </p:pic>
        </mc:Fallback>
      </mc:AlternateContent>
      <p:grpSp>
        <p:nvGrpSpPr>
          <p:cNvPr id="63" name="组合 62"/>
          <p:cNvGrpSpPr/>
          <p:nvPr/>
        </p:nvGrpSpPr>
        <p:grpSpPr>
          <a:xfrm>
            <a:off x="1911923" y="2591563"/>
            <a:ext cx="4609653" cy="2189979"/>
            <a:chOff x="949483" y="1713494"/>
            <a:chExt cx="4609653" cy="2189979"/>
          </a:xfrm>
        </p:grpSpPr>
        <p:grpSp>
          <p:nvGrpSpPr>
            <p:cNvPr id="30" name="组合 29"/>
            <p:cNvGrpSpPr/>
            <p:nvPr/>
          </p:nvGrpSpPr>
          <p:grpSpPr>
            <a:xfrm>
              <a:off x="949483" y="1713494"/>
              <a:ext cx="1230067" cy="618226"/>
              <a:chOff x="949483" y="1713494"/>
              <a:chExt cx="1230067" cy="618226"/>
            </a:xfrm>
          </p:grpSpPr>
          <p:sp>
            <p:nvSpPr>
              <p:cNvPr id="22" name="矩形 21"/>
              <p:cNvSpPr/>
              <p:nvPr/>
            </p:nvSpPr>
            <p:spPr>
              <a:xfrm>
                <a:off x="949483" y="1880757"/>
                <a:ext cx="648162" cy="356611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矩形 20"/>
              <p:cNvSpPr/>
              <p:nvPr/>
            </p:nvSpPr>
            <p:spPr>
              <a:xfrm>
                <a:off x="1207307" y="1975109"/>
                <a:ext cx="648162" cy="35661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" name="文本框 22"/>
              <p:cNvSpPr txBox="1"/>
              <p:nvPr/>
            </p:nvSpPr>
            <p:spPr>
              <a:xfrm>
                <a:off x="1531388" y="1713494"/>
                <a:ext cx="64816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1</a:t>
                </a:r>
                <a:endParaRPr lang="zh-CN" altLang="en-US" sz="2800" b="1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p:grpSp>
        <p:grpSp>
          <p:nvGrpSpPr>
            <p:cNvPr id="31" name="组合 30"/>
            <p:cNvGrpSpPr/>
            <p:nvPr/>
          </p:nvGrpSpPr>
          <p:grpSpPr>
            <a:xfrm>
              <a:off x="949483" y="2484120"/>
              <a:ext cx="1230067" cy="618226"/>
              <a:chOff x="949483" y="1713494"/>
              <a:chExt cx="1230067" cy="618226"/>
            </a:xfrm>
          </p:grpSpPr>
          <p:sp>
            <p:nvSpPr>
              <p:cNvPr id="32" name="矩形 31"/>
              <p:cNvSpPr/>
              <p:nvPr/>
            </p:nvSpPr>
            <p:spPr>
              <a:xfrm>
                <a:off x="949483" y="1880757"/>
                <a:ext cx="648162" cy="356611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" name="矩形 32"/>
              <p:cNvSpPr/>
              <p:nvPr/>
            </p:nvSpPr>
            <p:spPr>
              <a:xfrm>
                <a:off x="1207307" y="1975109"/>
                <a:ext cx="648162" cy="35661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文本框 33"/>
              <p:cNvSpPr txBox="1"/>
              <p:nvPr/>
            </p:nvSpPr>
            <p:spPr>
              <a:xfrm>
                <a:off x="1531388" y="1713494"/>
                <a:ext cx="64816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2</a:t>
                </a:r>
                <a:endParaRPr lang="zh-CN" altLang="en-US" sz="2800" b="1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p:grpSp>
        <p:grpSp>
          <p:nvGrpSpPr>
            <p:cNvPr id="35" name="组合 34"/>
            <p:cNvGrpSpPr/>
            <p:nvPr/>
          </p:nvGrpSpPr>
          <p:grpSpPr>
            <a:xfrm>
              <a:off x="949483" y="3254746"/>
              <a:ext cx="1230067" cy="618226"/>
              <a:chOff x="949483" y="1713494"/>
              <a:chExt cx="1230067" cy="618226"/>
            </a:xfrm>
          </p:grpSpPr>
          <p:sp>
            <p:nvSpPr>
              <p:cNvPr id="36" name="矩形 35"/>
              <p:cNvSpPr/>
              <p:nvPr/>
            </p:nvSpPr>
            <p:spPr>
              <a:xfrm>
                <a:off x="949483" y="1880757"/>
                <a:ext cx="648162" cy="356611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矩形 36"/>
              <p:cNvSpPr/>
              <p:nvPr/>
            </p:nvSpPr>
            <p:spPr>
              <a:xfrm>
                <a:off x="1207307" y="1975109"/>
                <a:ext cx="648162" cy="35661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531388" y="1713494"/>
                <a:ext cx="64816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3</a:t>
                </a:r>
                <a:endParaRPr lang="zh-CN" altLang="en-US" sz="2800" b="1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p:grpSp>
        <p:sp>
          <p:nvSpPr>
            <p:cNvPr id="55" name="文本框 54"/>
            <p:cNvSpPr txBox="1"/>
            <p:nvPr/>
          </p:nvSpPr>
          <p:spPr>
            <a:xfrm>
              <a:off x="2179550" y="1878566"/>
              <a:ext cx="337958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 err="1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等线" pitchFamily="34" charset="-120"/>
                </a:rPr>
                <a:t>项目介绍</a:t>
              </a:r>
              <a:endPara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56" name="文本框 55"/>
            <p:cNvSpPr txBox="1"/>
            <p:nvPr/>
          </p:nvSpPr>
          <p:spPr>
            <a:xfrm>
              <a:off x="2168398" y="2654883"/>
              <a:ext cx="233795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等线" pitchFamily="34" charset="-120"/>
                </a:rPr>
                <a:t>成果展示</a:t>
              </a:r>
              <a:endPara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2168399" y="3380253"/>
              <a:ext cx="233795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等线" pitchFamily="34" charset="-120"/>
                </a:rPr>
                <a:t>总体架构</a:t>
              </a:r>
              <a:endPara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6877101" y="2592333"/>
            <a:ext cx="3543373" cy="2228238"/>
            <a:chOff x="949482" y="4025372"/>
            <a:chExt cx="3543373" cy="2228238"/>
          </a:xfrm>
        </p:grpSpPr>
        <p:grpSp>
          <p:nvGrpSpPr>
            <p:cNvPr id="43" name="组合 42"/>
            <p:cNvGrpSpPr/>
            <p:nvPr/>
          </p:nvGrpSpPr>
          <p:grpSpPr>
            <a:xfrm>
              <a:off x="949482" y="4025372"/>
              <a:ext cx="1230067" cy="618226"/>
              <a:chOff x="949483" y="1713494"/>
              <a:chExt cx="1230067" cy="618226"/>
            </a:xfrm>
          </p:grpSpPr>
          <p:sp>
            <p:nvSpPr>
              <p:cNvPr id="44" name="矩形 43"/>
              <p:cNvSpPr/>
              <p:nvPr/>
            </p:nvSpPr>
            <p:spPr>
              <a:xfrm>
                <a:off x="949483" y="1880757"/>
                <a:ext cx="648162" cy="356611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5" name="矩形 44"/>
              <p:cNvSpPr/>
              <p:nvPr/>
            </p:nvSpPr>
            <p:spPr>
              <a:xfrm>
                <a:off x="1207307" y="1975109"/>
                <a:ext cx="648162" cy="35661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" name="文本框 45"/>
              <p:cNvSpPr txBox="1"/>
              <p:nvPr/>
            </p:nvSpPr>
            <p:spPr>
              <a:xfrm>
                <a:off x="1531388" y="1713494"/>
                <a:ext cx="64816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4</a:t>
                </a:r>
                <a:endParaRPr lang="zh-CN" altLang="en-US" sz="2800" b="1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p:grpSp>
        <p:grpSp>
          <p:nvGrpSpPr>
            <p:cNvPr id="47" name="组合 46"/>
            <p:cNvGrpSpPr/>
            <p:nvPr/>
          </p:nvGrpSpPr>
          <p:grpSpPr>
            <a:xfrm>
              <a:off x="949482" y="4795998"/>
              <a:ext cx="1230067" cy="618226"/>
              <a:chOff x="949483" y="1713494"/>
              <a:chExt cx="1230067" cy="618226"/>
            </a:xfrm>
          </p:grpSpPr>
          <p:sp>
            <p:nvSpPr>
              <p:cNvPr id="48" name="矩形 47"/>
              <p:cNvSpPr/>
              <p:nvPr/>
            </p:nvSpPr>
            <p:spPr>
              <a:xfrm>
                <a:off x="949483" y="1880757"/>
                <a:ext cx="648162" cy="356611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" name="矩形 48"/>
              <p:cNvSpPr/>
              <p:nvPr/>
            </p:nvSpPr>
            <p:spPr>
              <a:xfrm>
                <a:off x="1207307" y="1975109"/>
                <a:ext cx="648162" cy="35661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文本框 49"/>
              <p:cNvSpPr txBox="1"/>
              <p:nvPr/>
            </p:nvSpPr>
            <p:spPr>
              <a:xfrm>
                <a:off x="1531388" y="1713494"/>
                <a:ext cx="64816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5</a:t>
                </a:r>
                <a:endParaRPr lang="zh-CN" altLang="en-US" sz="2800" b="1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p:grpSp>
        <p:grpSp>
          <p:nvGrpSpPr>
            <p:cNvPr id="51" name="组合 50"/>
            <p:cNvGrpSpPr/>
            <p:nvPr/>
          </p:nvGrpSpPr>
          <p:grpSpPr>
            <a:xfrm>
              <a:off x="949482" y="5580833"/>
              <a:ext cx="1230067" cy="618226"/>
              <a:chOff x="949483" y="1713494"/>
              <a:chExt cx="1230067" cy="618226"/>
            </a:xfrm>
          </p:grpSpPr>
          <p:sp>
            <p:nvSpPr>
              <p:cNvPr id="52" name="矩形 51"/>
              <p:cNvSpPr/>
              <p:nvPr/>
            </p:nvSpPr>
            <p:spPr>
              <a:xfrm>
                <a:off x="949483" y="1880757"/>
                <a:ext cx="648162" cy="356611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矩形 52"/>
              <p:cNvSpPr/>
              <p:nvPr/>
            </p:nvSpPr>
            <p:spPr>
              <a:xfrm>
                <a:off x="1207307" y="1975109"/>
                <a:ext cx="648162" cy="35661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文本框 53"/>
              <p:cNvSpPr txBox="1"/>
              <p:nvPr/>
            </p:nvSpPr>
            <p:spPr>
              <a:xfrm>
                <a:off x="1531388" y="1713494"/>
                <a:ext cx="64816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6</a:t>
                </a:r>
                <a:endParaRPr lang="zh-CN" altLang="en-US" sz="2800" b="1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p:grpSp>
        <p:sp>
          <p:nvSpPr>
            <p:cNvPr id="58" name="文本框 57"/>
            <p:cNvSpPr txBox="1"/>
            <p:nvPr/>
          </p:nvSpPr>
          <p:spPr>
            <a:xfrm>
              <a:off x="2154901" y="4172529"/>
              <a:ext cx="2337954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等线" pitchFamily="34" charset="-120"/>
                </a:rPr>
                <a:t>内核模块</a:t>
              </a:r>
              <a:endPara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59" name="文本框 58"/>
            <p:cNvSpPr txBox="1"/>
            <p:nvPr/>
          </p:nvSpPr>
          <p:spPr>
            <a:xfrm>
              <a:off x="2154901" y="4953654"/>
              <a:ext cx="233795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等线" pitchFamily="34" charset="-120"/>
                </a:rPr>
                <a:t>性能评测</a:t>
              </a:r>
              <a:endPara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2154901" y="5730390"/>
              <a:ext cx="233795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等线" pitchFamily="34" charset="-120"/>
                </a:rPr>
                <a:t>总结展望</a:t>
              </a:r>
              <a:endPara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</p:grpSp>
      <p:sp>
        <p:nvSpPr>
          <p:cNvPr id="61" name="文本框 60"/>
          <p:cNvSpPr txBox="1"/>
          <p:nvPr/>
        </p:nvSpPr>
        <p:spPr>
          <a:xfrm>
            <a:off x="13274040" y="731520"/>
            <a:ext cx="1800493" cy="29586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具体模块包括</a:t>
            </a:r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系统调用兼容性</a:t>
            </a:r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文件系统</a:t>
            </a:r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内存管理</a:t>
            </a:r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进程管理</a:t>
            </a:r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信号处理</a:t>
            </a:r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网络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/>
        </p:nvGrpSpPr>
        <p:grpSpPr>
          <a:xfrm rot="10800000">
            <a:off x="550718" y="5306600"/>
            <a:ext cx="847652" cy="850140"/>
            <a:chOff x="4144312" y="1707297"/>
            <a:chExt cx="958000" cy="955510"/>
          </a:xfrm>
        </p:grpSpPr>
        <p:sp>
          <p:nvSpPr>
            <p:cNvPr id="22" name="矩形 21"/>
            <p:cNvSpPr/>
            <p:nvPr/>
          </p:nvSpPr>
          <p:spPr>
            <a:xfrm>
              <a:off x="4199486" y="1707297"/>
              <a:ext cx="902826" cy="902826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 22"/>
            <p:cNvSpPr/>
            <p:nvPr/>
          </p:nvSpPr>
          <p:spPr>
            <a:xfrm>
              <a:off x="4144312" y="1759981"/>
              <a:ext cx="902826" cy="902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4426527" y="1759982"/>
            <a:ext cx="847652" cy="850140"/>
            <a:chOff x="4144312" y="1707297"/>
            <a:chExt cx="958000" cy="955510"/>
          </a:xfrm>
        </p:grpSpPr>
        <p:sp>
          <p:nvSpPr>
            <p:cNvPr id="18" name="矩形 17"/>
            <p:cNvSpPr/>
            <p:nvPr/>
          </p:nvSpPr>
          <p:spPr>
            <a:xfrm>
              <a:off x="4199486" y="1707297"/>
              <a:ext cx="902826" cy="902826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/>
          </p:nvSpPr>
          <p:spPr>
            <a:xfrm>
              <a:off x="4144312" y="1759981"/>
              <a:ext cx="902826" cy="902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3" name="Text 1"/>
          <p:cNvSpPr/>
          <p:nvPr/>
        </p:nvSpPr>
        <p:spPr>
          <a:xfrm>
            <a:off x="685800" y="3406556"/>
            <a:ext cx="10789920" cy="658368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3136880" y="2175979"/>
            <a:ext cx="10789920" cy="658368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111111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项目目标是在 RISC-V 64 和 LoongArch 64 两种指令集上提供可启动、可构建、可复现、可运行官方测试盘中用户程序的通用内核。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13136880" y="2925787"/>
            <a:ext cx="10789920" cy="658368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111111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当前内核覆盖启动、Trap、上下文切换、任务调度、虚拟内存、EXT4/VFS、设备驱动、信号、futex、socket 与 Linux generic syscall ABI。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3136880" y="3675595"/>
            <a:ext cx="10789920" cy="658368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111111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我们把竞赛脚本编排放在 host 侧生成的脚本盘中，内核只提供通用对象和通用语义，避免识别测例、文件名或字符串后返回伪造结果。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3136880" y="4535131"/>
            <a:ext cx="10424160" cy="475488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11111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核心判断标准：能否用同一套内核机制稳定跑完公开测试，能否从日志、源码和构建入口复现结果。</a:t>
            </a:r>
            <a:endParaRPr lang="en-US" sz="1550" dirty="0"/>
          </a:p>
        </p:txBody>
      </p:sp>
      <p:cxnSp>
        <p:nvCxnSpPr>
          <p:cNvPr id="8" name="直接连接符 7"/>
          <p:cNvCxnSpPr/>
          <p:nvPr/>
        </p:nvCxnSpPr>
        <p:spPr>
          <a:xfrm>
            <a:off x="519545" y="1039091"/>
            <a:ext cx="7813964" cy="0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11641282" y="342901"/>
            <a:ext cx="259773" cy="58189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550718" y="155351"/>
            <a:ext cx="24416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dirty="0">
                <a:latin typeface="华文中宋" panose="02010600040101010101" pitchFamily="2" charset="-122"/>
                <a:ea typeface="华文中宋" panose="02010600040101010101" pitchFamily="2" charset="-122"/>
              </a:rPr>
              <a:t>项目介绍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687774" y="1153391"/>
            <a:ext cx="2090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Introduction </a:t>
            </a:r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932893" y="4121189"/>
            <a:ext cx="5527587" cy="202040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818282" y="2425431"/>
            <a:ext cx="4463517" cy="32694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en-US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WHUSP </a:t>
            </a:r>
            <a:r>
              <a:rPr lang="zh-CN" altLang="en-US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是武汉大学 最后一次入门</a:t>
            </a:r>
            <a:r>
              <a:rPr lang="en-US" altLang="zh-CN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RUST </a:t>
            </a:r>
            <a:r>
              <a:rPr lang="zh-CN" altLang="en-US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队开发的 </a:t>
            </a:r>
            <a:r>
              <a:rPr lang="en-US" altLang="en-US" sz="2000" dirty="0">
                <a:solidFill>
                  <a:schemeClr val="bg2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Rust </a:t>
            </a:r>
            <a:r>
              <a:rPr lang="zh-CN" altLang="en-US" sz="2000" dirty="0">
                <a:solidFill>
                  <a:schemeClr val="bg2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宏内核</a:t>
            </a:r>
            <a:r>
              <a:rPr lang="zh-CN" altLang="en-US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，支持 </a:t>
            </a:r>
            <a:r>
              <a:rPr lang="en-US" altLang="en-US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RISC-V 64 </a:t>
            </a:r>
            <a:r>
              <a:rPr lang="zh-CN" altLang="en-US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与 </a:t>
            </a:r>
            <a:r>
              <a:rPr lang="en-US" altLang="en-US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LoongArch 64 </a:t>
            </a:r>
            <a:r>
              <a:rPr lang="zh-CN" altLang="en-US" sz="2000" dirty="0">
                <a:solidFill>
                  <a:schemeClr val="bg2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双架构</a:t>
            </a:r>
            <a:r>
              <a:rPr lang="zh-CN" altLang="en-US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，能够运行基于 </a:t>
            </a:r>
            <a:r>
              <a:rPr lang="en-US" altLang="en-US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Linux ABI </a:t>
            </a:r>
            <a:r>
              <a:rPr lang="zh-CN" altLang="en-US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的真实用户程序，并具备进程调度、虚拟内存、文件系统、网络与信号处理等核心能力。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6080760" y="4333963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chemeClr val="bg2">
                    <a:lumMod val="2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涵盖内容包括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8202090" y="5118599"/>
            <a:ext cx="11458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 err="1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启动</a:t>
            </a:r>
            <a:endParaRPr lang="zh-CN" altLang="en-US" sz="32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5932892" y="1707297"/>
            <a:ext cx="5527587" cy="202040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18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0" name="文本框 29"/>
          <p:cNvSpPr txBox="1"/>
          <p:nvPr/>
        </p:nvSpPr>
        <p:spPr>
          <a:xfrm>
            <a:off x="6313360" y="2155631"/>
            <a:ext cx="4766649" cy="1099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dirty="0" err="1">
                <a:solidFill>
                  <a:schemeClr val="bg2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项目目标</a:t>
            </a:r>
            <a:r>
              <a:rPr lang="en-US" altLang="zh-CN" dirty="0" err="1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是在</a:t>
            </a:r>
            <a:r>
              <a:rPr lang="en-US" altLang="zh-CN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 </a:t>
            </a:r>
            <a:r>
              <a:rPr lang="en-US" altLang="zh-CN" dirty="0">
                <a:solidFill>
                  <a:schemeClr val="bg2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RISC-V 64 </a:t>
            </a:r>
            <a:r>
              <a:rPr lang="en-US" altLang="zh-CN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和 </a:t>
            </a:r>
            <a:r>
              <a:rPr lang="en-US" altLang="zh-CN" dirty="0" err="1">
                <a:solidFill>
                  <a:schemeClr val="bg2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LoongArch</a:t>
            </a:r>
            <a:r>
              <a:rPr lang="en-US" altLang="zh-CN" dirty="0">
                <a:solidFill>
                  <a:schemeClr val="bg2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 64 </a:t>
            </a:r>
            <a:r>
              <a:rPr lang="en-US" altLang="zh-CN" dirty="0" err="1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两种指令集上提供可启动、可构建、可复现、可运行官方测试盘中用户程序的</a:t>
            </a:r>
            <a:r>
              <a:rPr lang="en-US" altLang="zh-CN" dirty="0" err="1">
                <a:solidFill>
                  <a:schemeClr val="bg2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通用内核</a:t>
            </a:r>
            <a:endParaRPr lang="zh-CN" altLang="en-US" dirty="0">
              <a:solidFill>
                <a:schemeClr val="bg2">
                  <a:lumMod val="50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10079311" y="5150703"/>
            <a:ext cx="8787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bg2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Trap</a:t>
            </a:r>
            <a:endParaRPr lang="zh-CN" altLang="en-US" sz="2400" dirty="0">
              <a:solidFill>
                <a:schemeClr val="bg2">
                  <a:lumMod val="7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组合 19"/>
          <p:cNvGrpSpPr/>
          <p:nvPr/>
        </p:nvGrpSpPr>
        <p:grpSpPr>
          <a:xfrm>
            <a:off x="4426527" y="1759982"/>
            <a:ext cx="847652" cy="850140"/>
            <a:chOff x="4144312" y="1707297"/>
            <a:chExt cx="958000" cy="955510"/>
          </a:xfrm>
        </p:grpSpPr>
        <p:sp>
          <p:nvSpPr>
            <p:cNvPr id="18" name="矩形 17"/>
            <p:cNvSpPr/>
            <p:nvPr/>
          </p:nvSpPr>
          <p:spPr>
            <a:xfrm>
              <a:off x="4199486" y="1707297"/>
              <a:ext cx="902826" cy="902826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/>
          </p:nvSpPr>
          <p:spPr>
            <a:xfrm>
              <a:off x="4144312" y="1759981"/>
              <a:ext cx="902826" cy="902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3" name="Text 1"/>
          <p:cNvSpPr/>
          <p:nvPr/>
        </p:nvSpPr>
        <p:spPr>
          <a:xfrm>
            <a:off x="685800" y="3406556"/>
            <a:ext cx="10789920" cy="658368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3136880" y="2175979"/>
            <a:ext cx="10789920" cy="658368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111111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项目目标是在 RISC-V 64 和 LoongArch 64 两种指令集上提供可启动、可构建、可复现、可运行官方测试盘中用户程序的通用内核。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13136880" y="2925787"/>
            <a:ext cx="10789920" cy="658368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111111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当前内核覆盖启动、Trap、上下文切换、任务调度、虚拟内存、EXT4/VFS、设备驱动、信号、futex、socket 与 Linux generic syscall ABI。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3136880" y="3675595"/>
            <a:ext cx="10789920" cy="658368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111111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我们把竞赛脚本编排放在 host 侧生成的脚本盘中，内核只提供通用对象和通用语义，避免识别测例、文件名或字符串后返回伪造结果。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3136880" y="4535131"/>
            <a:ext cx="10424160" cy="475488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11111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核心判断标准：能否用同一套内核机制稳定跑完公开测试，能否从日志、源码和构建入口复现结果。</a:t>
            </a:r>
            <a:endParaRPr lang="en-US" sz="1550" dirty="0"/>
          </a:p>
        </p:txBody>
      </p:sp>
      <p:cxnSp>
        <p:nvCxnSpPr>
          <p:cNvPr id="8" name="直接连接符 7"/>
          <p:cNvCxnSpPr/>
          <p:nvPr/>
        </p:nvCxnSpPr>
        <p:spPr>
          <a:xfrm>
            <a:off x="519545" y="1039091"/>
            <a:ext cx="7813964" cy="0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11641282" y="342901"/>
            <a:ext cx="259773" cy="58189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550718" y="155351"/>
            <a:ext cx="24416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dirty="0">
                <a:latin typeface="华文中宋" panose="02010600040101010101" pitchFamily="2" charset="-122"/>
                <a:ea typeface="华文中宋" panose="02010600040101010101" pitchFamily="2" charset="-122"/>
              </a:rPr>
              <a:t>项目介绍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687774" y="1153391"/>
            <a:ext cx="2090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Introduction </a:t>
            </a:r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932893" y="4121189"/>
            <a:ext cx="5527587" cy="202040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18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文本框 14"/>
          <p:cNvSpPr txBox="1"/>
          <p:nvPr/>
        </p:nvSpPr>
        <p:spPr>
          <a:xfrm>
            <a:off x="6080760" y="4333963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chemeClr val="bg2">
                    <a:lumMod val="2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涵盖内容包括</a:t>
            </a:r>
          </a:p>
        </p:txBody>
      </p:sp>
      <p:sp>
        <p:nvSpPr>
          <p:cNvPr id="17" name="矩形 16"/>
          <p:cNvSpPr/>
          <p:nvPr/>
        </p:nvSpPr>
        <p:spPr>
          <a:xfrm>
            <a:off x="5932892" y="1707297"/>
            <a:ext cx="5527587" cy="202040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18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21" name="组合 20"/>
          <p:cNvGrpSpPr/>
          <p:nvPr/>
        </p:nvGrpSpPr>
        <p:grpSpPr>
          <a:xfrm rot="10800000">
            <a:off x="550718" y="5306600"/>
            <a:ext cx="847652" cy="850140"/>
            <a:chOff x="4144312" y="1707297"/>
            <a:chExt cx="958000" cy="955510"/>
          </a:xfrm>
        </p:grpSpPr>
        <p:sp>
          <p:nvSpPr>
            <p:cNvPr id="22" name="矩形 21"/>
            <p:cNvSpPr/>
            <p:nvPr/>
          </p:nvSpPr>
          <p:spPr>
            <a:xfrm>
              <a:off x="4199486" y="1707297"/>
              <a:ext cx="902826" cy="902826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 22"/>
            <p:cNvSpPr/>
            <p:nvPr/>
          </p:nvSpPr>
          <p:spPr>
            <a:xfrm>
              <a:off x="4144312" y="1759981"/>
              <a:ext cx="902826" cy="902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0" name="文本框 29"/>
          <p:cNvSpPr txBox="1"/>
          <p:nvPr/>
        </p:nvSpPr>
        <p:spPr>
          <a:xfrm>
            <a:off x="6313360" y="2155631"/>
            <a:ext cx="4766649" cy="1099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dirty="0" err="1">
                <a:solidFill>
                  <a:schemeClr val="bg2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项目目标</a:t>
            </a:r>
            <a:r>
              <a:rPr lang="en-US" altLang="zh-CN" dirty="0" err="1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是在</a:t>
            </a:r>
            <a:r>
              <a:rPr lang="en-US" altLang="zh-CN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 </a:t>
            </a:r>
            <a:r>
              <a:rPr lang="en-US" altLang="zh-CN" dirty="0">
                <a:solidFill>
                  <a:schemeClr val="bg2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RISC-V 64 </a:t>
            </a:r>
            <a:r>
              <a:rPr lang="en-US" altLang="zh-CN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和 </a:t>
            </a:r>
            <a:r>
              <a:rPr lang="en-US" altLang="zh-CN" dirty="0" err="1">
                <a:solidFill>
                  <a:schemeClr val="bg2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LoongArch</a:t>
            </a:r>
            <a:r>
              <a:rPr lang="en-US" altLang="zh-CN" dirty="0">
                <a:solidFill>
                  <a:schemeClr val="bg2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 64 </a:t>
            </a:r>
            <a:r>
              <a:rPr lang="en-US" altLang="zh-CN" dirty="0" err="1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两种指令集上提供可启动、可构建、可复现、可运行官方测试盘中用户程序的</a:t>
            </a:r>
            <a:r>
              <a:rPr lang="en-US" altLang="zh-CN" dirty="0" err="1">
                <a:solidFill>
                  <a:schemeClr val="bg2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通用内核</a:t>
            </a:r>
            <a:endParaRPr lang="zh-CN" altLang="en-US" dirty="0">
              <a:solidFill>
                <a:schemeClr val="bg2">
                  <a:lumMod val="50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8202090" y="5118599"/>
            <a:ext cx="11458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Trap</a:t>
            </a:r>
            <a:endParaRPr lang="zh-CN" altLang="en-US" sz="32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9746802" y="5150703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chemeClr val="bg2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上下文切换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6563669" y="5175389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chemeClr val="bg2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启动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E4EFB6D-C19B-17D7-EEED-E9AAE642C916}"/>
              </a:ext>
            </a:extLst>
          </p:cNvPr>
          <p:cNvSpPr txBox="1"/>
          <p:nvPr/>
        </p:nvSpPr>
        <p:spPr>
          <a:xfrm>
            <a:off x="818282" y="2425431"/>
            <a:ext cx="4463517" cy="32694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en-US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WHUSP </a:t>
            </a:r>
            <a:r>
              <a:rPr lang="zh-CN" altLang="en-US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是武汉大学 最后一次入门</a:t>
            </a:r>
            <a:r>
              <a:rPr lang="en-US" altLang="zh-CN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RUST </a:t>
            </a:r>
            <a:r>
              <a:rPr lang="zh-CN" altLang="en-US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队开发的 </a:t>
            </a:r>
            <a:r>
              <a:rPr lang="en-US" altLang="en-US" sz="2000" dirty="0">
                <a:solidFill>
                  <a:schemeClr val="bg2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Rust </a:t>
            </a:r>
            <a:r>
              <a:rPr lang="zh-CN" altLang="en-US" sz="2000" dirty="0">
                <a:solidFill>
                  <a:schemeClr val="bg2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宏内核</a:t>
            </a:r>
            <a:r>
              <a:rPr lang="zh-CN" altLang="en-US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，支持 </a:t>
            </a:r>
            <a:r>
              <a:rPr lang="en-US" altLang="en-US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RISC-V 64 </a:t>
            </a:r>
            <a:r>
              <a:rPr lang="zh-CN" altLang="en-US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与 </a:t>
            </a:r>
            <a:r>
              <a:rPr lang="en-US" altLang="en-US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LoongArch 64 </a:t>
            </a:r>
            <a:r>
              <a:rPr lang="zh-CN" altLang="en-US" sz="2000" dirty="0">
                <a:solidFill>
                  <a:schemeClr val="bg2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双架构</a:t>
            </a:r>
            <a:r>
              <a:rPr lang="zh-CN" altLang="en-US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，能够运行基于 </a:t>
            </a:r>
            <a:r>
              <a:rPr lang="en-US" altLang="en-US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Linux ABI </a:t>
            </a:r>
            <a:r>
              <a:rPr lang="zh-CN" altLang="en-US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的真实用户程序，并具备进程调度、虚拟内存、文件系统、网络与信号处理等核心能力。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组合 19"/>
          <p:cNvGrpSpPr/>
          <p:nvPr/>
        </p:nvGrpSpPr>
        <p:grpSpPr>
          <a:xfrm>
            <a:off x="4426527" y="1759982"/>
            <a:ext cx="847652" cy="850140"/>
            <a:chOff x="4144312" y="1707297"/>
            <a:chExt cx="958000" cy="955510"/>
          </a:xfrm>
        </p:grpSpPr>
        <p:sp>
          <p:nvSpPr>
            <p:cNvPr id="18" name="矩形 17"/>
            <p:cNvSpPr/>
            <p:nvPr/>
          </p:nvSpPr>
          <p:spPr>
            <a:xfrm>
              <a:off x="4199486" y="1707297"/>
              <a:ext cx="902826" cy="902826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/>
          </p:nvSpPr>
          <p:spPr>
            <a:xfrm>
              <a:off x="4144312" y="1759981"/>
              <a:ext cx="902826" cy="902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3" name="Text 1"/>
          <p:cNvSpPr/>
          <p:nvPr/>
        </p:nvSpPr>
        <p:spPr>
          <a:xfrm>
            <a:off x="685800" y="3406556"/>
            <a:ext cx="10789920" cy="658368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3136880" y="2175979"/>
            <a:ext cx="10789920" cy="658368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111111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项目目标是在 RISC-V 64 和 LoongArch 64 两种指令集上提供可启动、可构建、可复现、可运行官方测试盘中用户程序的通用内核。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13136880" y="2925787"/>
            <a:ext cx="10789920" cy="658368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111111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当前内核覆盖启动、Trap、上下文切换、任务调度、虚拟内存、EXT4/VFS、设备驱动、信号、futex、socket 与 Linux generic syscall ABI。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3136880" y="3675595"/>
            <a:ext cx="10789920" cy="658368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111111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我们把竞赛脚本编排放在 host 侧生成的脚本盘中，内核只提供通用对象和通用语义，避免识别测例、文件名或字符串后返回伪造结果。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3136880" y="4535131"/>
            <a:ext cx="10424160" cy="475488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11111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核心判断标准：能否用同一套内核机制稳定跑完公开测试，能否从日志、源码和构建入口复现结果。</a:t>
            </a:r>
            <a:endParaRPr lang="en-US" sz="1550" dirty="0"/>
          </a:p>
        </p:txBody>
      </p:sp>
      <p:cxnSp>
        <p:nvCxnSpPr>
          <p:cNvPr id="8" name="直接连接符 7"/>
          <p:cNvCxnSpPr/>
          <p:nvPr/>
        </p:nvCxnSpPr>
        <p:spPr>
          <a:xfrm>
            <a:off x="519545" y="1039091"/>
            <a:ext cx="7813964" cy="0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11641282" y="342901"/>
            <a:ext cx="259773" cy="58189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550718" y="155351"/>
            <a:ext cx="24416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dirty="0">
                <a:latin typeface="华文中宋" panose="02010600040101010101" pitchFamily="2" charset="-122"/>
                <a:ea typeface="华文中宋" panose="02010600040101010101" pitchFamily="2" charset="-122"/>
              </a:rPr>
              <a:t>项目介绍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687774" y="1153391"/>
            <a:ext cx="2090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Introduction </a:t>
            </a:r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932893" y="4121189"/>
            <a:ext cx="5527587" cy="202040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18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文本框 14"/>
          <p:cNvSpPr txBox="1"/>
          <p:nvPr/>
        </p:nvSpPr>
        <p:spPr>
          <a:xfrm>
            <a:off x="6080760" y="4333963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chemeClr val="bg2">
                    <a:lumMod val="2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涵盖内容包括</a:t>
            </a:r>
          </a:p>
        </p:txBody>
      </p:sp>
      <p:sp>
        <p:nvSpPr>
          <p:cNvPr id="17" name="矩形 16"/>
          <p:cNvSpPr/>
          <p:nvPr/>
        </p:nvSpPr>
        <p:spPr>
          <a:xfrm>
            <a:off x="5932892" y="1707297"/>
            <a:ext cx="5527587" cy="202040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18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21" name="组合 20"/>
          <p:cNvGrpSpPr/>
          <p:nvPr/>
        </p:nvGrpSpPr>
        <p:grpSpPr>
          <a:xfrm rot="10800000">
            <a:off x="550718" y="5306600"/>
            <a:ext cx="847652" cy="850140"/>
            <a:chOff x="4144312" y="1707297"/>
            <a:chExt cx="958000" cy="955510"/>
          </a:xfrm>
        </p:grpSpPr>
        <p:sp>
          <p:nvSpPr>
            <p:cNvPr id="22" name="矩形 21"/>
            <p:cNvSpPr/>
            <p:nvPr/>
          </p:nvSpPr>
          <p:spPr>
            <a:xfrm>
              <a:off x="4199486" y="1707297"/>
              <a:ext cx="902826" cy="902826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 22"/>
            <p:cNvSpPr/>
            <p:nvPr/>
          </p:nvSpPr>
          <p:spPr>
            <a:xfrm>
              <a:off x="4144312" y="1759981"/>
              <a:ext cx="902826" cy="902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0" name="文本框 29"/>
          <p:cNvSpPr txBox="1"/>
          <p:nvPr/>
        </p:nvSpPr>
        <p:spPr>
          <a:xfrm>
            <a:off x="6313360" y="2155631"/>
            <a:ext cx="4766649" cy="1099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dirty="0" err="1">
                <a:solidFill>
                  <a:schemeClr val="bg2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项目目标</a:t>
            </a:r>
            <a:r>
              <a:rPr lang="en-US" altLang="zh-CN" dirty="0" err="1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是在</a:t>
            </a:r>
            <a:r>
              <a:rPr lang="en-US" altLang="zh-CN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 </a:t>
            </a:r>
            <a:r>
              <a:rPr lang="en-US" altLang="zh-CN" dirty="0">
                <a:solidFill>
                  <a:schemeClr val="bg2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RISC-V 64 </a:t>
            </a:r>
            <a:r>
              <a:rPr lang="en-US" altLang="zh-CN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和 </a:t>
            </a:r>
            <a:r>
              <a:rPr lang="en-US" altLang="zh-CN" dirty="0" err="1">
                <a:solidFill>
                  <a:schemeClr val="bg2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LoongArch</a:t>
            </a:r>
            <a:r>
              <a:rPr lang="en-US" altLang="zh-CN" dirty="0">
                <a:solidFill>
                  <a:schemeClr val="bg2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 64 </a:t>
            </a:r>
            <a:r>
              <a:rPr lang="en-US" altLang="zh-CN" dirty="0" err="1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两种指令集上提供可启动、可构建、可复现、可运行官方测试盘中用户程序的</a:t>
            </a:r>
            <a:r>
              <a:rPr lang="en-US" altLang="zh-CN" dirty="0" err="1">
                <a:solidFill>
                  <a:schemeClr val="bg2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通用内核</a:t>
            </a:r>
            <a:endParaRPr lang="zh-CN" altLang="en-US" dirty="0">
              <a:solidFill>
                <a:schemeClr val="bg2">
                  <a:lumMod val="50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7588379" y="5061086"/>
            <a:ext cx="22511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上下文切换</a:t>
            </a:r>
            <a:endParaRPr lang="zh-CN" altLang="en-US" sz="32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9942126" y="5137124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chemeClr val="bg2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任务调度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6411706" y="5150703"/>
            <a:ext cx="8787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bg2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Trap</a:t>
            </a:r>
            <a:endParaRPr lang="zh-CN" altLang="en-US" sz="2400" dirty="0">
              <a:solidFill>
                <a:schemeClr val="bg2">
                  <a:lumMod val="7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B4D0534-595C-75A5-43B1-B8F9CC6573E5}"/>
              </a:ext>
            </a:extLst>
          </p:cNvPr>
          <p:cNvSpPr txBox="1"/>
          <p:nvPr/>
        </p:nvSpPr>
        <p:spPr>
          <a:xfrm>
            <a:off x="818282" y="2425431"/>
            <a:ext cx="4463517" cy="32694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en-US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WHUSP </a:t>
            </a:r>
            <a:r>
              <a:rPr lang="zh-CN" altLang="en-US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是武汉大学 最后一次入门</a:t>
            </a:r>
            <a:r>
              <a:rPr lang="en-US" altLang="zh-CN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RUST </a:t>
            </a:r>
            <a:r>
              <a:rPr lang="zh-CN" altLang="en-US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队开发的 </a:t>
            </a:r>
            <a:r>
              <a:rPr lang="en-US" altLang="en-US" sz="2000" dirty="0">
                <a:solidFill>
                  <a:schemeClr val="bg2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Rust </a:t>
            </a:r>
            <a:r>
              <a:rPr lang="zh-CN" altLang="en-US" sz="2000" dirty="0">
                <a:solidFill>
                  <a:schemeClr val="bg2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宏内核</a:t>
            </a:r>
            <a:r>
              <a:rPr lang="zh-CN" altLang="en-US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，支持 </a:t>
            </a:r>
            <a:r>
              <a:rPr lang="en-US" altLang="en-US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RISC-V 64 </a:t>
            </a:r>
            <a:r>
              <a:rPr lang="zh-CN" altLang="en-US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与 </a:t>
            </a:r>
            <a:r>
              <a:rPr lang="en-US" altLang="en-US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LoongArch 64 </a:t>
            </a:r>
            <a:r>
              <a:rPr lang="zh-CN" altLang="en-US" sz="2000" dirty="0">
                <a:solidFill>
                  <a:schemeClr val="bg2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双架构</a:t>
            </a:r>
            <a:r>
              <a:rPr lang="zh-CN" altLang="en-US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，能够运行基于 </a:t>
            </a:r>
            <a:r>
              <a:rPr lang="en-US" altLang="en-US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Linux ABI </a:t>
            </a:r>
            <a:r>
              <a:rPr lang="zh-CN" altLang="en-US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的真实用户程序，并具备进程调度、虚拟内存、文件系统、网络与信号处理等核心能力。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组合 19"/>
          <p:cNvGrpSpPr/>
          <p:nvPr/>
        </p:nvGrpSpPr>
        <p:grpSpPr>
          <a:xfrm>
            <a:off x="4426527" y="1759982"/>
            <a:ext cx="847652" cy="850140"/>
            <a:chOff x="4144312" y="1707297"/>
            <a:chExt cx="958000" cy="955510"/>
          </a:xfrm>
        </p:grpSpPr>
        <p:sp>
          <p:nvSpPr>
            <p:cNvPr id="18" name="矩形 17"/>
            <p:cNvSpPr/>
            <p:nvPr/>
          </p:nvSpPr>
          <p:spPr>
            <a:xfrm>
              <a:off x="4199486" y="1707297"/>
              <a:ext cx="902826" cy="902826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/>
          </p:nvSpPr>
          <p:spPr>
            <a:xfrm>
              <a:off x="4144312" y="1759981"/>
              <a:ext cx="902826" cy="902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3" name="Text 1"/>
          <p:cNvSpPr/>
          <p:nvPr/>
        </p:nvSpPr>
        <p:spPr>
          <a:xfrm>
            <a:off x="685800" y="3406556"/>
            <a:ext cx="10789920" cy="658368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3136880" y="2175979"/>
            <a:ext cx="10789920" cy="658368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111111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项目目标是在 RISC-V 64 和 LoongArch 64 两种指令集上提供可启动、可构建、可复现、可运行官方测试盘中用户程序的通用内核。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13136880" y="2925787"/>
            <a:ext cx="10789920" cy="658368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111111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当前内核覆盖启动、Trap、上下文切换、任务调度、虚拟内存、EXT4/VFS、设备驱动、信号、futex、socket 与 Linux generic syscall ABI。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3136880" y="3675595"/>
            <a:ext cx="10789920" cy="658368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111111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我们把竞赛脚本编排放在 host 侧生成的脚本盘中，内核只提供通用对象和通用语义，避免识别测例、文件名或字符串后返回伪造结果。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3136880" y="4535131"/>
            <a:ext cx="10424160" cy="475488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11111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核心判断标准：能否用同一套内核机制稳定跑完公开测试，能否从日志、源码和构建入口复现结果。</a:t>
            </a:r>
            <a:endParaRPr lang="en-US" sz="1550" dirty="0"/>
          </a:p>
        </p:txBody>
      </p:sp>
      <p:cxnSp>
        <p:nvCxnSpPr>
          <p:cNvPr id="8" name="直接连接符 7"/>
          <p:cNvCxnSpPr/>
          <p:nvPr/>
        </p:nvCxnSpPr>
        <p:spPr>
          <a:xfrm>
            <a:off x="519545" y="1039091"/>
            <a:ext cx="7813964" cy="0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11641282" y="342901"/>
            <a:ext cx="259773" cy="58189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550718" y="155351"/>
            <a:ext cx="24416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dirty="0">
                <a:latin typeface="华文中宋" panose="02010600040101010101" pitchFamily="2" charset="-122"/>
                <a:ea typeface="华文中宋" panose="02010600040101010101" pitchFamily="2" charset="-122"/>
              </a:rPr>
              <a:t>项目介绍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687774" y="1153391"/>
            <a:ext cx="2090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Introduction </a:t>
            </a:r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932893" y="4121189"/>
            <a:ext cx="5527587" cy="202040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18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文本框 14"/>
          <p:cNvSpPr txBox="1"/>
          <p:nvPr/>
        </p:nvSpPr>
        <p:spPr>
          <a:xfrm>
            <a:off x="6080760" y="4333963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chemeClr val="bg2">
                    <a:lumMod val="2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涵盖内容包括</a:t>
            </a:r>
          </a:p>
        </p:txBody>
      </p:sp>
      <p:sp>
        <p:nvSpPr>
          <p:cNvPr id="17" name="矩形 16"/>
          <p:cNvSpPr/>
          <p:nvPr/>
        </p:nvSpPr>
        <p:spPr>
          <a:xfrm>
            <a:off x="5932892" y="1707297"/>
            <a:ext cx="5527587" cy="202040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18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21" name="组合 20"/>
          <p:cNvGrpSpPr/>
          <p:nvPr/>
        </p:nvGrpSpPr>
        <p:grpSpPr>
          <a:xfrm rot="10800000">
            <a:off x="550718" y="5306600"/>
            <a:ext cx="847652" cy="850140"/>
            <a:chOff x="4144312" y="1707297"/>
            <a:chExt cx="958000" cy="955510"/>
          </a:xfrm>
        </p:grpSpPr>
        <p:sp>
          <p:nvSpPr>
            <p:cNvPr id="22" name="矩形 21"/>
            <p:cNvSpPr/>
            <p:nvPr/>
          </p:nvSpPr>
          <p:spPr>
            <a:xfrm>
              <a:off x="4199486" y="1707297"/>
              <a:ext cx="902826" cy="902826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 22"/>
            <p:cNvSpPr/>
            <p:nvPr/>
          </p:nvSpPr>
          <p:spPr>
            <a:xfrm>
              <a:off x="4144312" y="1759981"/>
              <a:ext cx="902826" cy="902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0" name="文本框 29"/>
          <p:cNvSpPr txBox="1"/>
          <p:nvPr/>
        </p:nvSpPr>
        <p:spPr>
          <a:xfrm>
            <a:off x="6313360" y="2155631"/>
            <a:ext cx="4766649" cy="1099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dirty="0" err="1">
                <a:solidFill>
                  <a:schemeClr val="bg2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项目目标</a:t>
            </a:r>
            <a:r>
              <a:rPr lang="en-US" altLang="zh-CN" dirty="0" err="1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是在</a:t>
            </a:r>
            <a:r>
              <a:rPr lang="en-US" altLang="zh-CN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 </a:t>
            </a:r>
            <a:r>
              <a:rPr lang="en-US" altLang="zh-CN" dirty="0">
                <a:solidFill>
                  <a:schemeClr val="bg2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RISC-V 64 </a:t>
            </a:r>
            <a:r>
              <a:rPr lang="en-US" altLang="zh-CN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和 </a:t>
            </a:r>
            <a:r>
              <a:rPr lang="en-US" altLang="zh-CN" dirty="0" err="1">
                <a:solidFill>
                  <a:schemeClr val="bg2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LoongArch</a:t>
            </a:r>
            <a:r>
              <a:rPr lang="en-US" altLang="zh-CN" dirty="0">
                <a:solidFill>
                  <a:schemeClr val="bg2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 64 </a:t>
            </a:r>
            <a:r>
              <a:rPr lang="en-US" altLang="zh-CN" dirty="0" err="1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两种指令集上提供可启动、可构建、可复现、可运行官方测试盘中用户程序的</a:t>
            </a:r>
            <a:r>
              <a:rPr lang="en-US" altLang="zh-CN" dirty="0" err="1">
                <a:solidFill>
                  <a:schemeClr val="bg2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通用内核</a:t>
            </a:r>
            <a:endParaRPr lang="zh-CN" altLang="en-US" dirty="0">
              <a:solidFill>
                <a:schemeClr val="bg2">
                  <a:lumMod val="50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7847873" y="5061086"/>
            <a:ext cx="22511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任务调度</a:t>
            </a:r>
            <a:endParaRPr lang="zh-CN" altLang="en-US" sz="32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9942126" y="5137124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chemeClr val="bg2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虚拟内存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5981712" y="5150703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chemeClr val="bg2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上下文切换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8EB7B19-2CEF-FA20-2B5E-48AE11FACF32}"/>
              </a:ext>
            </a:extLst>
          </p:cNvPr>
          <p:cNvSpPr txBox="1"/>
          <p:nvPr/>
        </p:nvSpPr>
        <p:spPr>
          <a:xfrm>
            <a:off x="818282" y="2425431"/>
            <a:ext cx="4463517" cy="32694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en-US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WHUSP </a:t>
            </a:r>
            <a:r>
              <a:rPr lang="zh-CN" altLang="en-US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是武汉大学 最后一次入门</a:t>
            </a:r>
            <a:r>
              <a:rPr lang="en-US" altLang="zh-CN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RUST </a:t>
            </a:r>
            <a:r>
              <a:rPr lang="zh-CN" altLang="en-US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队开发的 </a:t>
            </a:r>
            <a:r>
              <a:rPr lang="en-US" altLang="en-US" sz="2000" dirty="0">
                <a:solidFill>
                  <a:schemeClr val="bg2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Rust </a:t>
            </a:r>
            <a:r>
              <a:rPr lang="zh-CN" altLang="en-US" sz="2000" dirty="0">
                <a:solidFill>
                  <a:schemeClr val="bg2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宏内核</a:t>
            </a:r>
            <a:r>
              <a:rPr lang="zh-CN" altLang="en-US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，支持 </a:t>
            </a:r>
            <a:r>
              <a:rPr lang="en-US" altLang="en-US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RISC-V 64 </a:t>
            </a:r>
            <a:r>
              <a:rPr lang="zh-CN" altLang="en-US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与 </a:t>
            </a:r>
            <a:r>
              <a:rPr lang="en-US" altLang="en-US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LoongArch 64 </a:t>
            </a:r>
            <a:r>
              <a:rPr lang="zh-CN" altLang="en-US" sz="2000" dirty="0">
                <a:solidFill>
                  <a:schemeClr val="bg2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双架构</a:t>
            </a:r>
            <a:r>
              <a:rPr lang="zh-CN" altLang="en-US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，能够运行基于 </a:t>
            </a:r>
            <a:r>
              <a:rPr lang="en-US" altLang="en-US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Linux ABI </a:t>
            </a:r>
            <a:r>
              <a:rPr lang="zh-CN" altLang="en-US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的真实用户程序，并具备进程调度、虚拟内存、文件系统、网络与信号处理等核心能力。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组合 19"/>
          <p:cNvGrpSpPr/>
          <p:nvPr/>
        </p:nvGrpSpPr>
        <p:grpSpPr>
          <a:xfrm>
            <a:off x="4426527" y="1759982"/>
            <a:ext cx="847652" cy="850140"/>
            <a:chOff x="4144312" y="1707297"/>
            <a:chExt cx="958000" cy="955510"/>
          </a:xfrm>
        </p:grpSpPr>
        <p:sp>
          <p:nvSpPr>
            <p:cNvPr id="18" name="矩形 17"/>
            <p:cNvSpPr/>
            <p:nvPr/>
          </p:nvSpPr>
          <p:spPr>
            <a:xfrm>
              <a:off x="4199486" y="1707297"/>
              <a:ext cx="902826" cy="902826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/>
          </p:nvSpPr>
          <p:spPr>
            <a:xfrm>
              <a:off x="4144312" y="1759981"/>
              <a:ext cx="902826" cy="902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3" name="Text 1"/>
          <p:cNvSpPr/>
          <p:nvPr/>
        </p:nvSpPr>
        <p:spPr>
          <a:xfrm>
            <a:off x="685800" y="3406556"/>
            <a:ext cx="10789920" cy="658368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3136880" y="2175979"/>
            <a:ext cx="10789920" cy="658368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111111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项目目标是在 RISC-V 64 和 LoongArch 64 两种指令集上提供可启动、可构建、可复现、可运行官方测试盘中用户程序的通用内核。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13136880" y="2925787"/>
            <a:ext cx="10789920" cy="658368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111111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当前内核覆盖启动、Trap、上下文切换、任务调度、虚拟内存、EXT4/VFS、设备驱动、信号、futex、socket 与 Linux generic syscall ABI。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3136880" y="3675595"/>
            <a:ext cx="10789920" cy="658368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111111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我们把竞赛脚本编排放在 host 侧生成的脚本盘中，内核只提供通用对象和通用语义，避免识别测例、文件名或字符串后返回伪造结果。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3136880" y="4535131"/>
            <a:ext cx="10424160" cy="475488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11111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核心判断标准：能否用同一套内核机制稳定跑完公开测试，能否从日志、源码和构建入口复现结果。</a:t>
            </a:r>
            <a:endParaRPr lang="en-US" sz="1550" dirty="0"/>
          </a:p>
        </p:txBody>
      </p:sp>
      <p:cxnSp>
        <p:nvCxnSpPr>
          <p:cNvPr id="8" name="直接连接符 7"/>
          <p:cNvCxnSpPr/>
          <p:nvPr/>
        </p:nvCxnSpPr>
        <p:spPr>
          <a:xfrm>
            <a:off x="519545" y="1039091"/>
            <a:ext cx="7813964" cy="0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11641282" y="342901"/>
            <a:ext cx="259773" cy="58189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550718" y="155351"/>
            <a:ext cx="24416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dirty="0">
                <a:latin typeface="华文中宋" panose="02010600040101010101" pitchFamily="2" charset="-122"/>
                <a:ea typeface="华文中宋" panose="02010600040101010101" pitchFamily="2" charset="-122"/>
              </a:rPr>
              <a:t>项目介绍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687774" y="1153391"/>
            <a:ext cx="2090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Introduction </a:t>
            </a:r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948133" y="4121189"/>
            <a:ext cx="5527587" cy="202040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18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文本框 14"/>
          <p:cNvSpPr txBox="1"/>
          <p:nvPr/>
        </p:nvSpPr>
        <p:spPr>
          <a:xfrm>
            <a:off x="6080760" y="4333963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chemeClr val="bg2">
                    <a:lumMod val="2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涵盖内容包括</a:t>
            </a:r>
          </a:p>
        </p:txBody>
      </p:sp>
      <p:sp>
        <p:nvSpPr>
          <p:cNvPr id="17" name="矩形 16"/>
          <p:cNvSpPr/>
          <p:nvPr/>
        </p:nvSpPr>
        <p:spPr>
          <a:xfrm>
            <a:off x="5932892" y="1707297"/>
            <a:ext cx="5527587" cy="202040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18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21" name="组合 20"/>
          <p:cNvGrpSpPr/>
          <p:nvPr/>
        </p:nvGrpSpPr>
        <p:grpSpPr>
          <a:xfrm rot="10800000">
            <a:off x="550718" y="5306600"/>
            <a:ext cx="847652" cy="850140"/>
            <a:chOff x="4144312" y="1707297"/>
            <a:chExt cx="958000" cy="955510"/>
          </a:xfrm>
        </p:grpSpPr>
        <p:sp>
          <p:nvSpPr>
            <p:cNvPr id="22" name="矩形 21"/>
            <p:cNvSpPr/>
            <p:nvPr/>
          </p:nvSpPr>
          <p:spPr>
            <a:xfrm>
              <a:off x="4199486" y="1707297"/>
              <a:ext cx="902826" cy="902826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 22"/>
            <p:cNvSpPr/>
            <p:nvPr/>
          </p:nvSpPr>
          <p:spPr>
            <a:xfrm>
              <a:off x="4144312" y="1759981"/>
              <a:ext cx="902826" cy="902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0" name="文本框 29"/>
          <p:cNvSpPr txBox="1"/>
          <p:nvPr/>
        </p:nvSpPr>
        <p:spPr>
          <a:xfrm>
            <a:off x="6313360" y="2155631"/>
            <a:ext cx="4766649" cy="1099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dirty="0" err="1">
                <a:solidFill>
                  <a:schemeClr val="bg2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项目目标</a:t>
            </a:r>
            <a:r>
              <a:rPr lang="en-US" altLang="zh-CN" dirty="0" err="1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是在</a:t>
            </a:r>
            <a:r>
              <a:rPr lang="en-US" altLang="zh-CN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 </a:t>
            </a:r>
            <a:r>
              <a:rPr lang="en-US" altLang="zh-CN" dirty="0">
                <a:solidFill>
                  <a:schemeClr val="bg2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RISC-V 64 </a:t>
            </a:r>
            <a:r>
              <a:rPr lang="en-US" altLang="zh-CN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和 </a:t>
            </a:r>
            <a:r>
              <a:rPr lang="en-US" altLang="zh-CN" dirty="0" err="1">
                <a:solidFill>
                  <a:schemeClr val="bg2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LoongArch</a:t>
            </a:r>
            <a:r>
              <a:rPr lang="en-US" altLang="zh-CN" dirty="0">
                <a:solidFill>
                  <a:schemeClr val="bg2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 64 </a:t>
            </a:r>
            <a:r>
              <a:rPr lang="en-US" altLang="zh-CN" dirty="0" err="1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两种指令集上提供可启动、可构建、可复现、可运行官方测试盘中用户程序的</a:t>
            </a:r>
            <a:r>
              <a:rPr lang="en-US" altLang="zh-CN" dirty="0" err="1">
                <a:solidFill>
                  <a:schemeClr val="bg2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通用内核</a:t>
            </a:r>
            <a:endParaRPr lang="zh-CN" altLang="en-US" dirty="0">
              <a:solidFill>
                <a:schemeClr val="bg2">
                  <a:lumMod val="50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7847873" y="5061086"/>
            <a:ext cx="22511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虚拟内存</a:t>
            </a:r>
            <a:endParaRPr lang="zh-CN" altLang="en-US" sz="32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9942126" y="5137124"/>
            <a:ext cx="18085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bg2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EXT4/VFS</a:t>
            </a:r>
            <a:endParaRPr lang="zh-CN" altLang="en-US" sz="2400" dirty="0">
              <a:solidFill>
                <a:schemeClr val="bg2">
                  <a:lumMod val="7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092861" y="5131393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chemeClr val="bg2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任务调度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8D53299-4607-096A-F558-AFEA9FAB1B48}"/>
              </a:ext>
            </a:extLst>
          </p:cNvPr>
          <p:cNvSpPr txBox="1"/>
          <p:nvPr/>
        </p:nvSpPr>
        <p:spPr>
          <a:xfrm>
            <a:off x="818282" y="2425431"/>
            <a:ext cx="4463517" cy="32694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en-US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WHUSP </a:t>
            </a:r>
            <a:r>
              <a:rPr lang="zh-CN" altLang="en-US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是武汉大学 最后一次入门</a:t>
            </a:r>
            <a:r>
              <a:rPr lang="en-US" altLang="zh-CN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RUST </a:t>
            </a:r>
            <a:r>
              <a:rPr lang="zh-CN" altLang="en-US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队开发的 </a:t>
            </a:r>
            <a:r>
              <a:rPr lang="en-US" altLang="en-US" sz="2000" dirty="0">
                <a:solidFill>
                  <a:schemeClr val="bg2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Rust </a:t>
            </a:r>
            <a:r>
              <a:rPr lang="zh-CN" altLang="en-US" sz="2000" dirty="0">
                <a:solidFill>
                  <a:schemeClr val="bg2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宏内核</a:t>
            </a:r>
            <a:r>
              <a:rPr lang="zh-CN" altLang="en-US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，支持 </a:t>
            </a:r>
            <a:r>
              <a:rPr lang="en-US" altLang="en-US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RISC-V 64 </a:t>
            </a:r>
            <a:r>
              <a:rPr lang="zh-CN" altLang="en-US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与 </a:t>
            </a:r>
            <a:r>
              <a:rPr lang="en-US" altLang="en-US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LoongArch 64 </a:t>
            </a:r>
            <a:r>
              <a:rPr lang="zh-CN" altLang="en-US" sz="2000" dirty="0">
                <a:solidFill>
                  <a:schemeClr val="bg2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双架构</a:t>
            </a:r>
            <a:r>
              <a:rPr lang="zh-CN" altLang="en-US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，能够运行基于 </a:t>
            </a:r>
            <a:r>
              <a:rPr lang="en-US" altLang="en-US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Linux ABI </a:t>
            </a:r>
            <a:r>
              <a:rPr lang="zh-CN" altLang="en-US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的真实用户程序，并具备进程调度、虚拟内存、文件系统、网络与信号处理等核心能力。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组合 19"/>
          <p:cNvGrpSpPr/>
          <p:nvPr/>
        </p:nvGrpSpPr>
        <p:grpSpPr>
          <a:xfrm>
            <a:off x="4426527" y="1759982"/>
            <a:ext cx="847652" cy="850140"/>
            <a:chOff x="4144312" y="1707297"/>
            <a:chExt cx="958000" cy="955510"/>
          </a:xfrm>
        </p:grpSpPr>
        <p:sp>
          <p:nvSpPr>
            <p:cNvPr id="18" name="矩形 17"/>
            <p:cNvSpPr/>
            <p:nvPr/>
          </p:nvSpPr>
          <p:spPr>
            <a:xfrm>
              <a:off x="4199486" y="1707297"/>
              <a:ext cx="902826" cy="902826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/>
          </p:nvSpPr>
          <p:spPr>
            <a:xfrm>
              <a:off x="4144312" y="1759981"/>
              <a:ext cx="902826" cy="902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3" name="Text 1"/>
          <p:cNvSpPr/>
          <p:nvPr/>
        </p:nvSpPr>
        <p:spPr>
          <a:xfrm>
            <a:off x="685800" y="3406556"/>
            <a:ext cx="10789920" cy="658368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3136880" y="2175979"/>
            <a:ext cx="10789920" cy="658368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111111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项目目标是在 RISC-V 64 和 LoongArch 64 两种指令集上提供可启动、可构建、可复现、可运行官方测试盘中用户程序的通用内核。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13136880" y="2925787"/>
            <a:ext cx="10789920" cy="658368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111111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当前内核覆盖启动、Trap、上下文切换、任务调度、虚拟内存、EXT4/VFS、设备驱动、信号、futex、socket 与 Linux generic syscall ABI。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3136880" y="3675595"/>
            <a:ext cx="10789920" cy="658368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111111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我们把竞赛脚本编排放在 host 侧生成的脚本盘中，内核只提供通用对象和通用语义，避免识别测例、文件名或字符串后返回伪造结果。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3136880" y="4535131"/>
            <a:ext cx="10424160" cy="475488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11111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核心判断标准：能否用同一套内核机制稳定跑完公开测试，能否从日志、源码和构建入口复现结果。</a:t>
            </a:r>
            <a:endParaRPr lang="en-US" sz="1550" dirty="0"/>
          </a:p>
        </p:txBody>
      </p:sp>
      <p:cxnSp>
        <p:nvCxnSpPr>
          <p:cNvPr id="8" name="直接连接符 7"/>
          <p:cNvCxnSpPr/>
          <p:nvPr/>
        </p:nvCxnSpPr>
        <p:spPr>
          <a:xfrm>
            <a:off x="519545" y="1039091"/>
            <a:ext cx="7813964" cy="0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11641282" y="342901"/>
            <a:ext cx="259773" cy="58189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550718" y="155351"/>
            <a:ext cx="24416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dirty="0">
                <a:latin typeface="华文中宋" panose="02010600040101010101" pitchFamily="2" charset="-122"/>
                <a:ea typeface="华文中宋" panose="02010600040101010101" pitchFamily="2" charset="-122"/>
              </a:rPr>
              <a:t>项目介绍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687774" y="1153391"/>
            <a:ext cx="2090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Introduction </a:t>
            </a:r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948133" y="4121189"/>
            <a:ext cx="5527587" cy="202040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18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文本框 14"/>
          <p:cNvSpPr txBox="1"/>
          <p:nvPr/>
        </p:nvSpPr>
        <p:spPr>
          <a:xfrm>
            <a:off x="6080760" y="4333963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chemeClr val="bg2">
                    <a:lumMod val="2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涵盖内容包括</a:t>
            </a:r>
          </a:p>
        </p:txBody>
      </p:sp>
      <p:sp>
        <p:nvSpPr>
          <p:cNvPr id="17" name="矩形 16"/>
          <p:cNvSpPr/>
          <p:nvPr/>
        </p:nvSpPr>
        <p:spPr>
          <a:xfrm>
            <a:off x="5932892" y="1707297"/>
            <a:ext cx="5527587" cy="202040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18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21" name="组合 20"/>
          <p:cNvGrpSpPr/>
          <p:nvPr/>
        </p:nvGrpSpPr>
        <p:grpSpPr>
          <a:xfrm rot="10800000">
            <a:off x="550718" y="5306600"/>
            <a:ext cx="847652" cy="850140"/>
            <a:chOff x="4144312" y="1707297"/>
            <a:chExt cx="958000" cy="955510"/>
          </a:xfrm>
        </p:grpSpPr>
        <p:sp>
          <p:nvSpPr>
            <p:cNvPr id="22" name="矩形 21"/>
            <p:cNvSpPr/>
            <p:nvPr/>
          </p:nvSpPr>
          <p:spPr>
            <a:xfrm>
              <a:off x="4199486" y="1707297"/>
              <a:ext cx="902826" cy="902826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 22"/>
            <p:cNvSpPr/>
            <p:nvPr/>
          </p:nvSpPr>
          <p:spPr>
            <a:xfrm>
              <a:off x="4144312" y="1759981"/>
              <a:ext cx="902826" cy="902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0" name="文本框 29"/>
          <p:cNvSpPr txBox="1"/>
          <p:nvPr/>
        </p:nvSpPr>
        <p:spPr>
          <a:xfrm>
            <a:off x="6313360" y="2155631"/>
            <a:ext cx="4766649" cy="1099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dirty="0" err="1">
                <a:solidFill>
                  <a:schemeClr val="bg2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项目目标</a:t>
            </a:r>
            <a:r>
              <a:rPr lang="en-US" altLang="zh-CN" dirty="0" err="1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是在</a:t>
            </a:r>
            <a:r>
              <a:rPr lang="en-US" altLang="zh-CN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 </a:t>
            </a:r>
            <a:r>
              <a:rPr lang="en-US" altLang="zh-CN" dirty="0">
                <a:solidFill>
                  <a:schemeClr val="bg2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RISC-V 64 </a:t>
            </a:r>
            <a:r>
              <a:rPr lang="en-US" altLang="zh-CN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和 </a:t>
            </a:r>
            <a:r>
              <a:rPr lang="en-US" altLang="zh-CN" dirty="0" err="1">
                <a:solidFill>
                  <a:schemeClr val="bg2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LoongArch</a:t>
            </a:r>
            <a:r>
              <a:rPr lang="en-US" altLang="zh-CN" dirty="0">
                <a:solidFill>
                  <a:schemeClr val="bg2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 64 </a:t>
            </a:r>
            <a:r>
              <a:rPr lang="en-US" altLang="zh-CN" dirty="0" err="1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两种指令集上提供可启动、可构建、可复现、可运行官方测试盘中用户程序的</a:t>
            </a:r>
            <a:r>
              <a:rPr lang="en-US" altLang="zh-CN" dirty="0" err="1">
                <a:solidFill>
                  <a:schemeClr val="bg2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通用内核</a:t>
            </a:r>
            <a:endParaRPr lang="zh-CN" altLang="en-US" dirty="0">
              <a:solidFill>
                <a:schemeClr val="bg2">
                  <a:lumMod val="50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7611587" y="5061086"/>
            <a:ext cx="26677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EXT4/VFS</a:t>
            </a:r>
            <a:endParaRPr lang="zh-CN" altLang="en-US" sz="32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0108767" y="5122641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chemeClr val="bg2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设备驱动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5996952" y="5131393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chemeClr val="bg2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虚拟内存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AFC065F-04B4-E9DF-17D7-C8848EA8E421}"/>
              </a:ext>
            </a:extLst>
          </p:cNvPr>
          <p:cNvSpPr txBox="1"/>
          <p:nvPr/>
        </p:nvSpPr>
        <p:spPr>
          <a:xfrm>
            <a:off x="818282" y="2425431"/>
            <a:ext cx="4463517" cy="32694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en-US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WHUSP </a:t>
            </a:r>
            <a:r>
              <a:rPr lang="zh-CN" altLang="en-US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是武汉大学 最后一次入门</a:t>
            </a:r>
            <a:r>
              <a:rPr lang="en-US" altLang="zh-CN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RUST </a:t>
            </a:r>
            <a:r>
              <a:rPr lang="zh-CN" altLang="en-US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队开发的 </a:t>
            </a:r>
            <a:r>
              <a:rPr lang="en-US" altLang="en-US" sz="2000" dirty="0">
                <a:solidFill>
                  <a:schemeClr val="bg2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Rust </a:t>
            </a:r>
            <a:r>
              <a:rPr lang="zh-CN" altLang="en-US" sz="2000" dirty="0">
                <a:solidFill>
                  <a:schemeClr val="bg2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宏内核</a:t>
            </a:r>
            <a:r>
              <a:rPr lang="zh-CN" altLang="en-US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，支持 </a:t>
            </a:r>
            <a:r>
              <a:rPr lang="en-US" altLang="en-US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RISC-V 64 </a:t>
            </a:r>
            <a:r>
              <a:rPr lang="zh-CN" altLang="en-US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与 </a:t>
            </a:r>
            <a:r>
              <a:rPr lang="en-US" altLang="en-US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LoongArch 64 </a:t>
            </a:r>
            <a:r>
              <a:rPr lang="zh-CN" altLang="en-US" sz="2000" dirty="0">
                <a:solidFill>
                  <a:schemeClr val="bg2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双架构</a:t>
            </a:r>
            <a:r>
              <a:rPr lang="zh-CN" altLang="en-US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，能够运行基于 </a:t>
            </a:r>
            <a:r>
              <a:rPr lang="en-US" altLang="en-US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Linux ABI </a:t>
            </a:r>
            <a:r>
              <a:rPr lang="zh-CN" altLang="en-US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的真实用户程序，并具备进程调度、虚拟内存、文件系统、网络与信号处理等核心能力。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组合 19"/>
          <p:cNvGrpSpPr/>
          <p:nvPr/>
        </p:nvGrpSpPr>
        <p:grpSpPr>
          <a:xfrm>
            <a:off x="4426527" y="1759982"/>
            <a:ext cx="847652" cy="850140"/>
            <a:chOff x="4144312" y="1707297"/>
            <a:chExt cx="958000" cy="955510"/>
          </a:xfrm>
        </p:grpSpPr>
        <p:sp>
          <p:nvSpPr>
            <p:cNvPr id="18" name="矩形 17"/>
            <p:cNvSpPr/>
            <p:nvPr/>
          </p:nvSpPr>
          <p:spPr>
            <a:xfrm>
              <a:off x="4199486" y="1707297"/>
              <a:ext cx="902826" cy="902826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/>
          </p:nvSpPr>
          <p:spPr>
            <a:xfrm>
              <a:off x="4144312" y="1759981"/>
              <a:ext cx="902826" cy="902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3" name="Text 1"/>
          <p:cNvSpPr/>
          <p:nvPr/>
        </p:nvSpPr>
        <p:spPr>
          <a:xfrm>
            <a:off x="685800" y="3406556"/>
            <a:ext cx="10789920" cy="658368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3136880" y="2175979"/>
            <a:ext cx="10789920" cy="658368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111111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项目目标是在 RISC-V 64 和 LoongArch 64 两种指令集上提供可启动、可构建、可复现、可运行官方测试盘中用户程序的通用内核。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13136880" y="2925787"/>
            <a:ext cx="10789920" cy="658368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111111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当前内核覆盖启动、Trap、上下文切换、任务调度、虚拟内存、EXT4/VFS、设备驱动、信号、futex、socket 与 Linux generic syscall ABI。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3136880" y="3675595"/>
            <a:ext cx="10789920" cy="658368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111111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我们把竞赛脚本编排放在 host 侧生成的脚本盘中，内核只提供通用对象和通用语义，避免识别测例、文件名或字符串后返回伪造结果。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3136880" y="4535131"/>
            <a:ext cx="10424160" cy="475488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11111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核心判断标准：能否用同一套内核机制稳定跑完公开测试，能否从日志、源码和构建入口复现结果。</a:t>
            </a:r>
            <a:endParaRPr lang="en-US" sz="1550" dirty="0"/>
          </a:p>
        </p:txBody>
      </p:sp>
      <p:cxnSp>
        <p:nvCxnSpPr>
          <p:cNvPr id="8" name="直接连接符 7"/>
          <p:cNvCxnSpPr/>
          <p:nvPr/>
        </p:nvCxnSpPr>
        <p:spPr>
          <a:xfrm>
            <a:off x="519545" y="1039091"/>
            <a:ext cx="7813964" cy="0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11641282" y="342901"/>
            <a:ext cx="259773" cy="58189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550718" y="155351"/>
            <a:ext cx="24416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dirty="0">
                <a:latin typeface="华文中宋" panose="02010600040101010101" pitchFamily="2" charset="-122"/>
                <a:ea typeface="华文中宋" panose="02010600040101010101" pitchFamily="2" charset="-122"/>
              </a:rPr>
              <a:t>项目介绍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687774" y="1153391"/>
            <a:ext cx="2090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Introduction </a:t>
            </a:r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948133" y="4121189"/>
            <a:ext cx="5527587" cy="202040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18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文本框 14"/>
          <p:cNvSpPr txBox="1"/>
          <p:nvPr/>
        </p:nvSpPr>
        <p:spPr>
          <a:xfrm>
            <a:off x="6080760" y="4333963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chemeClr val="bg2">
                    <a:lumMod val="2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涵盖内容包括</a:t>
            </a:r>
          </a:p>
        </p:txBody>
      </p:sp>
      <p:sp>
        <p:nvSpPr>
          <p:cNvPr id="17" name="矩形 16"/>
          <p:cNvSpPr/>
          <p:nvPr/>
        </p:nvSpPr>
        <p:spPr>
          <a:xfrm>
            <a:off x="5932892" y="1707297"/>
            <a:ext cx="5527587" cy="202040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18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21" name="组合 20"/>
          <p:cNvGrpSpPr/>
          <p:nvPr/>
        </p:nvGrpSpPr>
        <p:grpSpPr>
          <a:xfrm rot="10800000">
            <a:off x="550718" y="5306600"/>
            <a:ext cx="847652" cy="850140"/>
            <a:chOff x="4144312" y="1707297"/>
            <a:chExt cx="958000" cy="955510"/>
          </a:xfrm>
        </p:grpSpPr>
        <p:sp>
          <p:nvSpPr>
            <p:cNvPr id="22" name="矩形 21"/>
            <p:cNvSpPr/>
            <p:nvPr/>
          </p:nvSpPr>
          <p:spPr>
            <a:xfrm>
              <a:off x="4199486" y="1707297"/>
              <a:ext cx="902826" cy="902826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 22"/>
            <p:cNvSpPr/>
            <p:nvPr/>
          </p:nvSpPr>
          <p:spPr>
            <a:xfrm>
              <a:off x="4144312" y="1759981"/>
              <a:ext cx="902826" cy="902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0" name="文本框 29"/>
          <p:cNvSpPr txBox="1"/>
          <p:nvPr/>
        </p:nvSpPr>
        <p:spPr>
          <a:xfrm>
            <a:off x="6313360" y="2155631"/>
            <a:ext cx="4766649" cy="1099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dirty="0" err="1">
                <a:solidFill>
                  <a:schemeClr val="bg2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项目目标</a:t>
            </a:r>
            <a:r>
              <a:rPr lang="en-US" altLang="zh-CN" dirty="0" err="1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是在</a:t>
            </a:r>
            <a:r>
              <a:rPr lang="en-US" altLang="zh-CN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 </a:t>
            </a:r>
            <a:r>
              <a:rPr lang="en-US" altLang="zh-CN" dirty="0">
                <a:solidFill>
                  <a:schemeClr val="bg2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RISC-V 64 </a:t>
            </a:r>
            <a:r>
              <a:rPr lang="en-US" altLang="zh-CN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和 </a:t>
            </a:r>
            <a:r>
              <a:rPr lang="en-US" altLang="zh-CN" dirty="0" err="1">
                <a:solidFill>
                  <a:schemeClr val="bg2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LoongArch</a:t>
            </a:r>
            <a:r>
              <a:rPr lang="en-US" altLang="zh-CN" dirty="0">
                <a:solidFill>
                  <a:schemeClr val="bg2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 64 </a:t>
            </a:r>
            <a:r>
              <a:rPr lang="en-US" altLang="zh-CN" dirty="0" err="1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两种指令集上提供可启动、可构建、可复现、可运行官方测试盘中用户程序的</a:t>
            </a:r>
            <a:r>
              <a:rPr lang="en-US" altLang="zh-CN" dirty="0" err="1">
                <a:solidFill>
                  <a:schemeClr val="bg2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通用内核</a:t>
            </a:r>
            <a:endParaRPr lang="zh-CN" altLang="en-US" dirty="0">
              <a:solidFill>
                <a:schemeClr val="bg2">
                  <a:lumMod val="50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7932118" y="5041017"/>
            <a:ext cx="21766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设备驱动</a:t>
            </a:r>
            <a:endParaRPr lang="zh-CN" altLang="en-US" sz="32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9992024" y="5131393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chemeClr val="bg2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信号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5996952" y="5131393"/>
            <a:ext cx="18085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bg2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EXT4/VFS</a:t>
            </a:r>
            <a:endParaRPr lang="zh-CN" altLang="en-US" sz="2400" dirty="0">
              <a:solidFill>
                <a:schemeClr val="bg2">
                  <a:lumMod val="7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CB77A13-B4EC-9C93-39A2-E1D6F016FBA9}"/>
              </a:ext>
            </a:extLst>
          </p:cNvPr>
          <p:cNvSpPr txBox="1"/>
          <p:nvPr/>
        </p:nvSpPr>
        <p:spPr>
          <a:xfrm>
            <a:off x="818282" y="2425431"/>
            <a:ext cx="4463517" cy="32694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en-US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WHUSP </a:t>
            </a:r>
            <a:r>
              <a:rPr lang="zh-CN" altLang="en-US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是武汉大学 最后一次入门</a:t>
            </a:r>
            <a:r>
              <a:rPr lang="en-US" altLang="zh-CN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RUST </a:t>
            </a:r>
            <a:r>
              <a:rPr lang="zh-CN" altLang="en-US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队开发的 </a:t>
            </a:r>
            <a:r>
              <a:rPr lang="en-US" altLang="en-US" sz="2000" dirty="0">
                <a:solidFill>
                  <a:schemeClr val="bg2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Rust </a:t>
            </a:r>
            <a:r>
              <a:rPr lang="zh-CN" altLang="en-US" sz="2000" dirty="0">
                <a:solidFill>
                  <a:schemeClr val="bg2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宏内核</a:t>
            </a:r>
            <a:r>
              <a:rPr lang="zh-CN" altLang="en-US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，支持 </a:t>
            </a:r>
            <a:r>
              <a:rPr lang="en-US" altLang="en-US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RISC-V 64 </a:t>
            </a:r>
            <a:r>
              <a:rPr lang="zh-CN" altLang="en-US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与 </a:t>
            </a:r>
            <a:r>
              <a:rPr lang="en-US" altLang="en-US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LoongArch 64 </a:t>
            </a:r>
            <a:r>
              <a:rPr lang="zh-CN" altLang="en-US" sz="2000" dirty="0">
                <a:solidFill>
                  <a:schemeClr val="bg2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双架构</a:t>
            </a:r>
            <a:r>
              <a:rPr lang="zh-CN" altLang="en-US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，能够运行基于 </a:t>
            </a:r>
            <a:r>
              <a:rPr lang="en-US" altLang="en-US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Linux ABI </a:t>
            </a:r>
            <a:r>
              <a:rPr lang="zh-CN" altLang="en-US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的真实用户程序，并具备进程调度、虚拟内存、文件系统、网络与信号处理等核心能力。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组合 19"/>
          <p:cNvGrpSpPr/>
          <p:nvPr/>
        </p:nvGrpSpPr>
        <p:grpSpPr>
          <a:xfrm>
            <a:off x="4426527" y="1759982"/>
            <a:ext cx="847652" cy="850140"/>
            <a:chOff x="4144312" y="1707297"/>
            <a:chExt cx="958000" cy="955510"/>
          </a:xfrm>
        </p:grpSpPr>
        <p:sp>
          <p:nvSpPr>
            <p:cNvPr id="18" name="矩形 17"/>
            <p:cNvSpPr/>
            <p:nvPr/>
          </p:nvSpPr>
          <p:spPr>
            <a:xfrm>
              <a:off x="4199486" y="1707297"/>
              <a:ext cx="902826" cy="902826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/>
          </p:nvSpPr>
          <p:spPr>
            <a:xfrm>
              <a:off x="4144312" y="1759981"/>
              <a:ext cx="902826" cy="902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3" name="Text 1"/>
          <p:cNvSpPr/>
          <p:nvPr/>
        </p:nvSpPr>
        <p:spPr>
          <a:xfrm>
            <a:off x="685800" y="3406556"/>
            <a:ext cx="10789920" cy="658368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3136880" y="2175979"/>
            <a:ext cx="10789920" cy="658368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111111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项目目标是在 RISC-V 64 和 LoongArch 64 两种指令集上提供可启动、可构建、可复现、可运行官方测试盘中用户程序的通用内核。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13136880" y="2925787"/>
            <a:ext cx="10789920" cy="658368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111111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当前内核覆盖启动、Trap、上下文切换、任务调度、虚拟内存、EXT4/VFS、设备驱动、信号、futex、socket 与 Linux generic syscall ABI。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3136880" y="3675595"/>
            <a:ext cx="10789920" cy="658368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111111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我们把竞赛脚本编排放在 host 侧生成的脚本盘中，内核只提供通用对象和通用语义，避免识别测例、文件名或字符串后返回伪造结果。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3136880" y="4535131"/>
            <a:ext cx="10424160" cy="475488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11111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核心判断标准：能否用同一套内核机制稳定跑完公开测试，能否从日志、源码和构建入口复现结果。</a:t>
            </a:r>
            <a:endParaRPr lang="en-US" sz="1550" dirty="0"/>
          </a:p>
        </p:txBody>
      </p:sp>
      <p:cxnSp>
        <p:nvCxnSpPr>
          <p:cNvPr id="8" name="直接连接符 7"/>
          <p:cNvCxnSpPr/>
          <p:nvPr/>
        </p:nvCxnSpPr>
        <p:spPr>
          <a:xfrm>
            <a:off x="519545" y="1039091"/>
            <a:ext cx="7813964" cy="0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11641282" y="342901"/>
            <a:ext cx="259773" cy="58189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550718" y="155351"/>
            <a:ext cx="24416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dirty="0">
                <a:latin typeface="华文中宋" panose="02010600040101010101" pitchFamily="2" charset="-122"/>
                <a:ea typeface="华文中宋" panose="02010600040101010101" pitchFamily="2" charset="-122"/>
              </a:rPr>
              <a:t>项目介绍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687774" y="1153391"/>
            <a:ext cx="2090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Introduction </a:t>
            </a:r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948133" y="4121189"/>
            <a:ext cx="5527587" cy="202040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18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文本框 14"/>
          <p:cNvSpPr txBox="1"/>
          <p:nvPr/>
        </p:nvSpPr>
        <p:spPr>
          <a:xfrm>
            <a:off x="6080760" y="4333963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chemeClr val="bg2">
                    <a:lumMod val="2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涵盖内容包括</a:t>
            </a:r>
          </a:p>
        </p:txBody>
      </p:sp>
      <p:sp>
        <p:nvSpPr>
          <p:cNvPr id="17" name="矩形 16"/>
          <p:cNvSpPr/>
          <p:nvPr/>
        </p:nvSpPr>
        <p:spPr>
          <a:xfrm>
            <a:off x="5932892" y="1707297"/>
            <a:ext cx="5527587" cy="202040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18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21" name="组合 20"/>
          <p:cNvGrpSpPr/>
          <p:nvPr/>
        </p:nvGrpSpPr>
        <p:grpSpPr>
          <a:xfrm rot="10800000">
            <a:off x="550718" y="5306600"/>
            <a:ext cx="847652" cy="850140"/>
            <a:chOff x="4144312" y="1707297"/>
            <a:chExt cx="958000" cy="955510"/>
          </a:xfrm>
        </p:grpSpPr>
        <p:sp>
          <p:nvSpPr>
            <p:cNvPr id="22" name="矩形 21"/>
            <p:cNvSpPr/>
            <p:nvPr/>
          </p:nvSpPr>
          <p:spPr>
            <a:xfrm>
              <a:off x="4199486" y="1707297"/>
              <a:ext cx="902826" cy="902826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 22"/>
            <p:cNvSpPr/>
            <p:nvPr/>
          </p:nvSpPr>
          <p:spPr>
            <a:xfrm>
              <a:off x="4144312" y="1759981"/>
              <a:ext cx="902826" cy="902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0" name="文本框 29"/>
          <p:cNvSpPr txBox="1"/>
          <p:nvPr/>
        </p:nvSpPr>
        <p:spPr>
          <a:xfrm>
            <a:off x="6313360" y="2155631"/>
            <a:ext cx="4766649" cy="1099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dirty="0" err="1">
                <a:solidFill>
                  <a:schemeClr val="bg2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项目目标</a:t>
            </a:r>
            <a:r>
              <a:rPr lang="en-US" altLang="zh-CN" dirty="0" err="1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是在</a:t>
            </a:r>
            <a:r>
              <a:rPr lang="en-US" altLang="zh-CN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 </a:t>
            </a:r>
            <a:r>
              <a:rPr lang="en-US" altLang="zh-CN" dirty="0">
                <a:solidFill>
                  <a:schemeClr val="bg2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RISC-V 64 </a:t>
            </a:r>
            <a:r>
              <a:rPr lang="en-US" altLang="zh-CN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和 </a:t>
            </a:r>
            <a:r>
              <a:rPr lang="en-US" altLang="zh-CN" dirty="0" err="1">
                <a:solidFill>
                  <a:schemeClr val="bg2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LoongArch</a:t>
            </a:r>
            <a:r>
              <a:rPr lang="en-US" altLang="zh-CN" dirty="0">
                <a:solidFill>
                  <a:schemeClr val="bg2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 64 </a:t>
            </a:r>
            <a:r>
              <a:rPr lang="en-US" altLang="zh-CN" dirty="0" err="1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两种指令集上提供可启动、可构建、可复现、可运行官方测试盘中用户程序的</a:t>
            </a:r>
            <a:r>
              <a:rPr lang="en-US" altLang="zh-CN" dirty="0" err="1">
                <a:solidFill>
                  <a:schemeClr val="bg2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通用内核</a:t>
            </a:r>
            <a:endParaRPr lang="zh-CN" altLang="en-US" dirty="0">
              <a:solidFill>
                <a:schemeClr val="bg2">
                  <a:lumMod val="50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8215484" y="5041017"/>
            <a:ext cx="21766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信号</a:t>
            </a:r>
            <a:endParaRPr lang="zh-CN" altLang="en-US" sz="32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0279790" y="5122641"/>
            <a:ext cx="9428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 err="1">
                <a:solidFill>
                  <a:schemeClr val="bg2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futex</a:t>
            </a:r>
            <a:endParaRPr lang="zh-CN" altLang="en-US" sz="2400" dirty="0">
              <a:solidFill>
                <a:schemeClr val="bg2">
                  <a:lumMod val="7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5996952" y="5131393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chemeClr val="bg2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设备驱动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3E849EB-45DD-21E0-C3A1-AB12346F8F71}"/>
              </a:ext>
            </a:extLst>
          </p:cNvPr>
          <p:cNvSpPr txBox="1"/>
          <p:nvPr/>
        </p:nvSpPr>
        <p:spPr>
          <a:xfrm>
            <a:off x="818282" y="2425431"/>
            <a:ext cx="4463517" cy="32694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en-US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WHUSP </a:t>
            </a:r>
            <a:r>
              <a:rPr lang="zh-CN" altLang="en-US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是武汉大学 最后一次入门</a:t>
            </a:r>
            <a:r>
              <a:rPr lang="en-US" altLang="zh-CN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RUST </a:t>
            </a:r>
            <a:r>
              <a:rPr lang="zh-CN" altLang="en-US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队开发的 </a:t>
            </a:r>
            <a:r>
              <a:rPr lang="en-US" altLang="en-US" sz="2000" dirty="0">
                <a:solidFill>
                  <a:schemeClr val="bg2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Rust </a:t>
            </a:r>
            <a:r>
              <a:rPr lang="zh-CN" altLang="en-US" sz="2000" dirty="0">
                <a:solidFill>
                  <a:schemeClr val="bg2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宏内核</a:t>
            </a:r>
            <a:r>
              <a:rPr lang="zh-CN" altLang="en-US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，支持 </a:t>
            </a:r>
            <a:r>
              <a:rPr lang="en-US" altLang="en-US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RISC-V 64 </a:t>
            </a:r>
            <a:r>
              <a:rPr lang="zh-CN" altLang="en-US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与 </a:t>
            </a:r>
            <a:r>
              <a:rPr lang="en-US" altLang="en-US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LoongArch 64 </a:t>
            </a:r>
            <a:r>
              <a:rPr lang="zh-CN" altLang="en-US" sz="2000" dirty="0">
                <a:solidFill>
                  <a:schemeClr val="bg2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双架构</a:t>
            </a:r>
            <a:r>
              <a:rPr lang="zh-CN" altLang="en-US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，能够运行基于 </a:t>
            </a:r>
            <a:r>
              <a:rPr lang="en-US" altLang="en-US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Linux ABI </a:t>
            </a:r>
            <a:r>
              <a:rPr lang="zh-CN" altLang="en-US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的真实用户程序，并具备进程调度、虚拟内存、文件系统、网络与信号处理等核心能力。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组合 19"/>
          <p:cNvGrpSpPr/>
          <p:nvPr/>
        </p:nvGrpSpPr>
        <p:grpSpPr>
          <a:xfrm>
            <a:off x="4426527" y="1759982"/>
            <a:ext cx="847652" cy="850140"/>
            <a:chOff x="4144312" y="1707297"/>
            <a:chExt cx="958000" cy="955510"/>
          </a:xfrm>
        </p:grpSpPr>
        <p:sp>
          <p:nvSpPr>
            <p:cNvPr id="18" name="矩形 17"/>
            <p:cNvSpPr/>
            <p:nvPr/>
          </p:nvSpPr>
          <p:spPr>
            <a:xfrm>
              <a:off x="4199486" y="1707297"/>
              <a:ext cx="902826" cy="902826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/>
          </p:nvSpPr>
          <p:spPr>
            <a:xfrm>
              <a:off x="4144312" y="1759981"/>
              <a:ext cx="902826" cy="902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3" name="Text 1"/>
          <p:cNvSpPr/>
          <p:nvPr/>
        </p:nvSpPr>
        <p:spPr>
          <a:xfrm>
            <a:off x="685800" y="3406556"/>
            <a:ext cx="10789920" cy="658368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3136880" y="2175979"/>
            <a:ext cx="10789920" cy="658368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111111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项目目标是在 RISC-V 64 和 LoongArch 64 两种指令集上提供可启动、可构建、可复现、可运行官方测试盘中用户程序的通用内核。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13136880" y="2925787"/>
            <a:ext cx="10789920" cy="658368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111111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当前内核覆盖启动、Trap、上下文切换、任务调度、虚拟内存、EXT4/VFS、设备驱动、信号、futex、socket 与 Linux generic syscall ABI。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3136880" y="3675595"/>
            <a:ext cx="10789920" cy="658368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111111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我们把竞赛脚本编排放在 host 侧生成的脚本盘中，内核只提供通用对象和通用语义，避免识别测例、文件名或字符串后返回伪造结果。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3136880" y="4535131"/>
            <a:ext cx="10424160" cy="475488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11111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核心判断标准：能否用同一套内核机制稳定跑完公开测试，能否从日志、源码和构建入口复现结果。</a:t>
            </a:r>
            <a:endParaRPr lang="en-US" sz="1550" dirty="0"/>
          </a:p>
        </p:txBody>
      </p:sp>
      <p:cxnSp>
        <p:nvCxnSpPr>
          <p:cNvPr id="8" name="直接连接符 7"/>
          <p:cNvCxnSpPr/>
          <p:nvPr/>
        </p:nvCxnSpPr>
        <p:spPr>
          <a:xfrm>
            <a:off x="519545" y="1039091"/>
            <a:ext cx="7813964" cy="0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11641282" y="342901"/>
            <a:ext cx="259773" cy="58189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550718" y="155351"/>
            <a:ext cx="24416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dirty="0">
                <a:latin typeface="华文中宋" panose="02010600040101010101" pitchFamily="2" charset="-122"/>
                <a:ea typeface="华文中宋" panose="02010600040101010101" pitchFamily="2" charset="-122"/>
              </a:rPr>
              <a:t>项目介绍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687774" y="1153391"/>
            <a:ext cx="2090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Introduction </a:t>
            </a:r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948133" y="4121189"/>
            <a:ext cx="5527587" cy="202040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18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文本框 14"/>
          <p:cNvSpPr txBox="1"/>
          <p:nvPr/>
        </p:nvSpPr>
        <p:spPr>
          <a:xfrm>
            <a:off x="6080760" y="4333963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chemeClr val="bg2">
                    <a:lumMod val="2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涵盖内容包括</a:t>
            </a:r>
          </a:p>
        </p:txBody>
      </p:sp>
      <p:sp>
        <p:nvSpPr>
          <p:cNvPr id="17" name="矩形 16"/>
          <p:cNvSpPr/>
          <p:nvPr/>
        </p:nvSpPr>
        <p:spPr>
          <a:xfrm>
            <a:off x="5932892" y="1707297"/>
            <a:ext cx="5527587" cy="202040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18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21" name="组合 20"/>
          <p:cNvGrpSpPr/>
          <p:nvPr/>
        </p:nvGrpSpPr>
        <p:grpSpPr>
          <a:xfrm rot="10800000">
            <a:off x="550718" y="5306600"/>
            <a:ext cx="847652" cy="850140"/>
            <a:chOff x="4144312" y="1707297"/>
            <a:chExt cx="958000" cy="955510"/>
          </a:xfrm>
        </p:grpSpPr>
        <p:sp>
          <p:nvSpPr>
            <p:cNvPr id="22" name="矩形 21"/>
            <p:cNvSpPr/>
            <p:nvPr/>
          </p:nvSpPr>
          <p:spPr>
            <a:xfrm>
              <a:off x="4199486" y="1707297"/>
              <a:ext cx="902826" cy="902826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 22"/>
            <p:cNvSpPr/>
            <p:nvPr/>
          </p:nvSpPr>
          <p:spPr>
            <a:xfrm>
              <a:off x="4144312" y="1759981"/>
              <a:ext cx="902826" cy="902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0" name="文本框 29"/>
          <p:cNvSpPr txBox="1"/>
          <p:nvPr/>
        </p:nvSpPr>
        <p:spPr>
          <a:xfrm>
            <a:off x="6313360" y="2155631"/>
            <a:ext cx="4766649" cy="1099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dirty="0" err="1">
                <a:solidFill>
                  <a:schemeClr val="bg2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项目目标</a:t>
            </a:r>
            <a:r>
              <a:rPr lang="en-US" altLang="zh-CN" dirty="0" err="1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是在</a:t>
            </a:r>
            <a:r>
              <a:rPr lang="en-US" altLang="zh-CN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 </a:t>
            </a:r>
            <a:r>
              <a:rPr lang="en-US" altLang="zh-CN" dirty="0">
                <a:solidFill>
                  <a:schemeClr val="bg2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RISC-V 64 </a:t>
            </a:r>
            <a:r>
              <a:rPr lang="en-US" altLang="zh-CN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和 </a:t>
            </a:r>
            <a:r>
              <a:rPr lang="en-US" altLang="zh-CN" dirty="0" err="1">
                <a:solidFill>
                  <a:schemeClr val="bg2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LoongArch</a:t>
            </a:r>
            <a:r>
              <a:rPr lang="en-US" altLang="zh-CN" dirty="0">
                <a:solidFill>
                  <a:schemeClr val="bg2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 64 </a:t>
            </a:r>
            <a:r>
              <a:rPr lang="en-US" altLang="zh-CN" dirty="0" err="1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两种指令集上提供可启动、可构建、可复现、可运行官方测试盘中用户程序的</a:t>
            </a:r>
            <a:r>
              <a:rPr lang="en-US" altLang="zh-CN" dirty="0" err="1">
                <a:solidFill>
                  <a:schemeClr val="bg2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通用内核</a:t>
            </a:r>
            <a:endParaRPr lang="zh-CN" altLang="en-US" dirty="0">
              <a:solidFill>
                <a:schemeClr val="bg2">
                  <a:lumMod val="50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8215484" y="5041017"/>
            <a:ext cx="21766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 err="1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futex</a:t>
            </a:r>
            <a:endParaRPr lang="zh-CN" altLang="en-US" sz="32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0279790" y="5122641"/>
            <a:ext cx="11464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bg2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socket</a:t>
            </a:r>
            <a:endParaRPr lang="zh-CN" altLang="en-US" sz="2400" dirty="0">
              <a:solidFill>
                <a:schemeClr val="bg2">
                  <a:lumMod val="7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5996952" y="5131393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chemeClr val="bg2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信号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E87DF4F-BD3E-B27B-B6CA-A5C7BC8EEFE4}"/>
              </a:ext>
            </a:extLst>
          </p:cNvPr>
          <p:cNvSpPr txBox="1"/>
          <p:nvPr/>
        </p:nvSpPr>
        <p:spPr>
          <a:xfrm>
            <a:off x="818282" y="2425431"/>
            <a:ext cx="4463517" cy="32694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en-US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WHUSP </a:t>
            </a:r>
            <a:r>
              <a:rPr lang="zh-CN" altLang="en-US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是武汉大学 最后一次入门</a:t>
            </a:r>
            <a:r>
              <a:rPr lang="en-US" altLang="zh-CN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RUST </a:t>
            </a:r>
            <a:r>
              <a:rPr lang="zh-CN" altLang="en-US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队开发的 </a:t>
            </a:r>
            <a:r>
              <a:rPr lang="en-US" altLang="en-US" sz="2000" dirty="0">
                <a:solidFill>
                  <a:schemeClr val="bg2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Rust </a:t>
            </a:r>
            <a:r>
              <a:rPr lang="zh-CN" altLang="en-US" sz="2000" dirty="0">
                <a:solidFill>
                  <a:schemeClr val="bg2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宏内核</a:t>
            </a:r>
            <a:r>
              <a:rPr lang="zh-CN" altLang="en-US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，支持 </a:t>
            </a:r>
            <a:r>
              <a:rPr lang="en-US" altLang="en-US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RISC-V 64 </a:t>
            </a:r>
            <a:r>
              <a:rPr lang="zh-CN" altLang="en-US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与 </a:t>
            </a:r>
            <a:r>
              <a:rPr lang="en-US" altLang="en-US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LoongArch 64 </a:t>
            </a:r>
            <a:r>
              <a:rPr lang="zh-CN" altLang="en-US" sz="2000" dirty="0">
                <a:solidFill>
                  <a:schemeClr val="bg2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双架构</a:t>
            </a:r>
            <a:r>
              <a:rPr lang="zh-CN" altLang="en-US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，能够运行基于 </a:t>
            </a:r>
            <a:r>
              <a:rPr lang="en-US" altLang="en-US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Linux ABI </a:t>
            </a:r>
            <a:r>
              <a:rPr lang="zh-CN" altLang="en-US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的真实用户程序，并具备进程调度、虚拟内存、文件系统、网络与信号处理等核心能力。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组合 19"/>
          <p:cNvGrpSpPr/>
          <p:nvPr/>
        </p:nvGrpSpPr>
        <p:grpSpPr>
          <a:xfrm>
            <a:off x="4426527" y="1759982"/>
            <a:ext cx="847652" cy="850140"/>
            <a:chOff x="4144312" y="1707297"/>
            <a:chExt cx="958000" cy="955510"/>
          </a:xfrm>
        </p:grpSpPr>
        <p:sp>
          <p:nvSpPr>
            <p:cNvPr id="18" name="矩形 17"/>
            <p:cNvSpPr/>
            <p:nvPr/>
          </p:nvSpPr>
          <p:spPr>
            <a:xfrm>
              <a:off x="4199486" y="1707297"/>
              <a:ext cx="902826" cy="902826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/>
          </p:nvSpPr>
          <p:spPr>
            <a:xfrm>
              <a:off x="4144312" y="1759981"/>
              <a:ext cx="902826" cy="902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3" name="Text 1"/>
          <p:cNvSpPr/>
          <p:nvPr/>
        </p:nvSpPr>
        <p:spPr>
          <a:xfrm>
            <a:off x="685800" y="3406556"/>
            <a:ext cx="10789920" cy="658368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3136880" y="2175979"/>
            <a:ext cx="10789920" cy="658368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111111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项目目标是在 RISC-V 64 和 LoongArch 64 两种指令集上提供可启动、可构建、可复现、可运行官方测试盘中用户程序的通用内核。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13136880" y="2925787"/>
            <a:ext cx="10789920" cy="658368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111111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当前内核覆盖启动、Trap、上下文切换、任务调度、虚拟内存、EXT4/VFS、设备驱动、信号、futex、socket 与 Linux generic syscall ABI。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3136880" y="3675595"/>
            <a:ext cx="10789920" cy="658368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111111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我们把竞赛脚本编排放在 host 侧生成的脚本盘中，内核只提供通用对象和通用语义，避免识别测例、文件名或字符串后返回伪造结果。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3136880" y="4535131"/>
            <a:ext cx="10424160" cy="475488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11111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核心判断标准：能否用同一套内核机制稳定跑完公开测试，能否从日志、源码和构建入口复现结果。</a:t>
            </a:r>
            <a:endParaRPr lang="en-US" sz="1550" dirty="0"/>
          </a:p>
        </p:txBody>
      </p:sp>
      <p:cxnSp>
        <p:nvCxnSpPr>
          <p:cNvPr id="8" name="直接连接符 7"/>
          <p:cNvCxnSpPr/>
          <p:nvPr/>
        </p:nvCxnSpPr>
        <p:spPr>
          <a:xfrm>
            <a:off x="519545" y="1039091"/>
            <a:ext cx="7813964" cy="0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11641282" y="342901"/>
            <a:ext cx="259773" cy="58189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550718" y="155351"/>
            <a:ext cx="24416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dirty="0">
                <a:latin typeface="华文中宋" panose="02010600040101010101" pitchFamily="2" charset="-122"/>
                <a:ea typeface="华文中宋" panose="02010600040101010101" pitchFamily="2" charset="-122"/>
              </a:rPr>
              <a:t>项目介绍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687774" y="1153391"/>
            <a:ext cx="2090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Introduction </a:t>
            </a:r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948133" y="4121189"/>
            <a:ext cx="5527587" cy="202040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18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文本框 14"/>
          <p:cNvSpPr txBox="1"/>
          <p:nvPr/>
        </p:nvSpPr>
        <p:spPr>
          <a:xfrm>
            <a:off x="6080760" y="4333963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chemeClr val="bg2">
                    <a:lumMod val="2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涵盖内容包括</a:t>
            </a:r>
          </a:p>
        </p:txBody>
      </p:sp>
      <p:sp>
        <p:nvSpPr>
          <p:cNvPr id="17" name="矩形 16"/>
          <p:cNvSpPr/>
          <p:nvPr/>
        </p:nvSpPr>
        <p:spPr>
          <a:xfrm>
            <a:off x="5932892" y="1707297"/>
            <a:ext cx="5527587" cy="202040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18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21" name="组合 20"/>
          <p:cNvGrpSpPr/>
          <p:nvPr/>
        </p:nvGrpSpPr>
        <p:grpSpPr>
          <a:xfrm rot="10800000">
            <a:off x="550718" y="5306600"/>
            <a:ext cx="847652" cy="850140"/>
            <a:chOff x="4144312" y="1707297"/>
            <a:chExt cx="958000" cy="955510"/>
          </a:xfrm>
        </p:grpSpPr>
        <p:sp>
          <p:nvSpPr>
            <p:cNvPr id="22" name="矩形 21"/>
            <p:cNvSpPr/>
            <p:nvPr/>
          </p:nvSpPr>
          <p:spPr>
            <a:xfrm>
              <a:off x="4199486" y="1707297"/>
              <a:ext cx="902826" cy="902826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 22"/>
            <p:cNvSpPr/>
            <p:nvPr/>
          </p:nvSpPr>
          <p:spPr>
            <a:xfrm>
              <a:off x="4144312" y="1759981"/>
              <a:ext cx="902826" cy="902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0" name="文本框 29"/>
          <p:cNvSpPr txBox="1"/>
          <p:nvPr/>
        </p:nvSpPr>
        <p:spPr>
          <a:xfrm>
            <a:off x="6313360" y="2155631"/>
            <a:ext cx="4766649" cy="1099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dirty="0" err="1">
                <a:solidFill>
                  <a:schemeClr val="bg2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项目目标</a:t>
            </a:r>
            <a:r>
              <a:rPr lang="en-US" altLang="zh-CN" dirty="0" err="1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是在</a:t>
            </a:r>
            <a:r>
              <a:rPr lang="en-US" altLang="zh-CN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 </a:t>
            </a:r>
            <a:r>
              <a:rPr lang="en-US" altLang="zh-CN" dirty="0">
                <a:solidFill>
                  <a:schemeClr val="bg2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RISC-V 64 </a:t>
            </a:r>
            <a:r>
              <a:rPr lang="en-US" altLang="zh-CN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和 </a:t>
            </a:r>
            <a:r>
              <a:rPr lang="en-US" altLang="zh-CN" dirty="0" err="1">
                <a:solidFill>
                  <a:schemeClr val="bg2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LoongArch</a:t>
            </a:r>
            <a:r>
              <a:rPr lang="en-US" altLang="zh-CN" dirty="0">
                <a:solidFill>
                  <a:schemeClr val="bg2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 64 </a:t>
            </a:r>
            <a:r>
              <a:rPr lang="en-US" altLang="zh-CN" dirty="0" err="1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两种指令集上提供可启动、可构建、可复现、可运行官方测试盘中用户程序的</a:t>
            </a:r>
            <a:r>
              <a:rPr lang="en-US" altLang="zh-CN" dirty="0" err="1">
                <a:solidFill>
                  <a:schemeClr val="bg2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通用内核</a:t>
            </a:r>
            <a:endParaRPr lang="zh-CN" altLang="en-US" dirty="0">
              <a:solidFill>
                <a:schemeClr val="bg2">
                  <a:lumMod val="50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8053679" y="5041017"/>
            <a:ext cx="21766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socket</a:t>
            </a:r>
            <a:endParaRPr lang="zh-CN" altLang="en-US" sz="32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0489783" y="5122641"/>
            <a:ext cx="7264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bg2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ABI</a:t>
            </a:r>
            <a:endParaRPr lang="zh-CN" altLang="en-US" sz="2400" dirty="0">
              <a:solidFill>
                <a:schemeClr val="bg2">
                  <a:lumMod val="7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5996952" y="5131393"/>
            <a:ext cx="9428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 err="1">
                <a:solidFill>
                  <a:schemeClr val="bg2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futex</a:t>
            </a:r>
            <a:endParaRPr lang="zh-CN" altLang="en-US" sz="2400" dirty="0">
              <a:solidFill>
                <a:schemeClr val="bg2">
                  <a:lumMod val="7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2E05DC8-3E9E-1B22-7DE9-14C93FD12D5E}"/>
              </a:ext>
            </a:extLst>
          </p:cNvPr>
          <p:cNvSpPr txBox="1"/>
          <p:nvPr/>
        </p:nvSpPr>
        <p:spPr>
          <a:xfrm>
            <a:off x="818282" y="2425431"/>
            <a:ext cx="4463517" cy="32694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en-US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WHUSP </a:t>
            </a:r>
            <a:r>
              <a:rPr lang="zh-CN" altLang="en-US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是武汉大学 最后一次入门</a:t>
            </a:r>
            <a:r>
              <a:rPr lang="en-US" altLang="zh-CN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RUST </a:t>
            </a:r>
            <a:r>
              <a:rPr lang="zh-CN" altLang="en-US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队开发的 </a:t>
            </a:r>
            <a:r>
              <a:rPr lang="en-US" altLang="en-US" sz="2000" dirty="0">
                <a:solidFill>
                  <a:schemeClr val="bg2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Rust </a:t>
            </a:r>
            <a:r>
              <a:rPr lang="zh-CN" altLang="en-US" sz="2000" dirty="0">
                <a:solidFill>
                  <a:schemeClr val="bg2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宏内核</a:t>
            </a:r>
            <a:r>
              <a:rPr lang="zh-CN" altLang="en-US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，支持 </a:t>
            </a:r>
            <a:r>
              <a:rPr lang="en-US" altLang="en-US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RISC-V 64 </a:t>
            </a:r>
            <a:r>
              <a:rPr lang="zh-CN" altLang="en-US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与 </a:t>
            </a:r>
            <a:r>
              <a:rPr lang="en-US" altLang="en-US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LoongArch 64 </a:t>
            </a:r>
            <a:r>
              <a:rPr lang="zh-CN" altLang="en-US" sz="2000" dirty="0">
                <a:solidFill>
                  <a:schemeClr val="bg2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双架构</a:t>
            </a:r>
            <a:r>
              <a:rPr lang="zh-CN" altLang="en-US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，能够运行基于 </a:t>
            </a:r>
            <a:r>
              <a:rPr lang="en-US" altLang="en-US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Linux ABI </a:t>
            </a:r>
            <a:r>
              <a:rPr lang="zh-CN" altLang="en-US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的真实用户程序，并具备进程调度、虚拟内存、文件系统、网络与信号处理等核心能力。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组合 19"/>
          <p:cNvGrpSpPr/>
          <p:nvPr/>
        </p:nvGrpSpPr>
        <p:grpSpPr>
          <a:xfrm>
            <a:off x="4426527" y="1759982"/>
            <a:ext cx="847652" cy="850140"/>
            <a:chOff x="4144312" y="1707297"/>
            <a:chExt cx="958000" cy="955510"/>
          </a:xfrm>
        </p:grpSpPr>
        <p:sp>
          <p:nvSpPr>
            <p:cNvPr id="18" name="矩形 17"/>
            <p:cNvSpPr/>
            <p:nvPr/>
          </p:nvSpPr>
          <p:spPr>
            <a:xfrm>
              <a:off x="4199486" y="1707297"/>
              <a:ext cx="902826" cy="902826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/>
          </p:nvSpPr>
          <p:spPr>
            <a:xfrm>
              <a:off x="4144312" y="1759981"/>
              <a:ext cx="902826" cy="902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3" name="Text 1"/>
          <p:cNvSpPr/>
          <p:nvPr/>
        </p:nvSpPr>
        <p:spPr>
          <a:xfrm>
            <a:off x="685800" y="3406556"/>
            <a:ext cx="10789920" cy="658368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3136880" y="2175979"/>
            <a:ext cx="10789920" cy="658368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111111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项目目标是在 RISC-V 64 和 LoongArch 64 两种指令集上提供可启动、可构建、可复现、可运行官方测试盘中用户程序的通用内核。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13136880" y="2925787"/>
            <a:ext cx="10789920" cy="658368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111111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当前内核覆盖启动、Trap、上下文切换、任务调度、虚拟内存、EXT4/VFS、设备驱动、信号、futex、socket 与 Linux generic syscall ABI。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3136880" y="3675595"/>
            <a:ext cx="10789920" cy="658368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111111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我们把竞赛脚本编排放在 host 侧生成的脚本盘中，内核只提供通用对象和通用语义，避免识别测例、文件名或字符串后返回伪造结果。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3136880" y="4535131"/>
            <a:ext cx="10424160" cy="475488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11111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核心判断标准：能否用同一套内核机制稳定跑完公开测试，能否从日志、源码和构建入口复现结果。</a:t>
            </a:r>
            <a:endParaRPr lang="en-US" sz="1550" dirty="0"/>
          </a:p>
        </p:txBody>
      </p:sp>
      <p:cxnSp>
        <p:nvCxnSpPr>
          <p:cNvPr id="8" name="直接连接符 7"/>
          <p:cNvCxnSpPr/>
          <p:nvPr/>
        </p:nvCxnSpPr>
        <p:spPr>
          <a:xfrm>
            <a:off x="519545" y="1039091"/>
            <a:ext cx="7813964" cy="0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11641282" y="342901"/>
            <a:ext cx="259773" cy="58189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550718" y="155351"/>
            <a:ext cx="24416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dirty="0">
                <a:latin typeface="华文中宋" panose="02010600040101010101" pitchFamily="2" charset="-122"/>
                <a:ea typeface="华文中宋" panose="02010600040101010101" pitchFamily="2" charset="-122"/>
              </a:rPr>
              <a:t>项目介绍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687774" y="1153391"/>
            <a:ext cx="2090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Introduction </a:t>
            </a:r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948133" y="4121189"/>
            <a:ext cx="5527587" cy="202040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18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文本框 14"/>
          <p:cNvSpPr txBox="1"/>
          <p:nvPr/>
        </p:nvSpPr>
        <p:spPr>
          <a:xfrm>
            <a:off x="6080760" y="4333963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chemeClr val="bg2">
                    <a:lumMod val="2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涵盖内容包括</a:t>
            </a:r>
          </a:p>
        </p:txBody>
      </p:sp>
      <p:sp>
        <p:nvSpPr>
          <p:cNvPr id="17" name="矩形 16"/>
          <p:cNvSpPr/>
          <p:nvPr/>
        </p:nvSpPr>
        <p:spPr>
          <a:xfrm>
            <a:off x="5932892" y="1707297"/>
            <a:ext cx="5527587" cy="202040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18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5000"/>
              </a:lnSpc>
            </a:pPr>
            <a:endParaRPr lang="zh-CN" altLang="en-US" dirty="0"/>
          </a:p>
        </p:txBody>
      </p:sp>
      <p:grpSp>
        <p:nvGrpSpPr>
          <p:cNvPr id="21" name="组合 20"/>
          <p:cNvGrpSpPr/>
          <p:nvPr/>
        </p:nvGrpSpPr>
        <p:grpSpPr>
          <a:xfrm rot="10800000">
            <a:off x="550718" y="5306600"/>
            <a:ext cx="847652" cy="850140"/>
            <a:chOff x="4144312" y="1707297"/>
            <a:chExt cx="958000" cy="955510"/>
          </a:xfrm>
        </p:grpSpPr>
        <p:sp>
          <p:nvSpPr>
            <p:cNvPr id="22" name="矩形 21"/>
            <p:cNvSpPr/>
            <p:nvPr/>
          </p:nvSpPr>
          <p:spPr>
            <a:xfrm>
              <a:off x="4199486" y="1707297"/>
              <a:ext cx="902826" cy="902826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 22"/>
            <p:cNvSpPr/>
            <p:nvPr/>
          </p:nvSpPr>
          <p:spPr>
            <a:xfrm>
              <a:off x="4144312" y="1759981"/>
              <a:ext cx="902826" cy="902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5" name="文本框 24"/>
          <p:cNvSpPr txBox="1"/>
          <p:nvPr/>
        </p:nvSpPr>
        <p:spPr>
          <a:xfrm>
            <a:off x="8333509" y="5061086"/>
            <a:ext cx="21766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ABI</a:t>
            </a:r>
            <a:endParaRPr lang="zh-CN" altLang="en-US" sz="32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5996952" y="5131393"/>
            <a:ext cx="11464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bg2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socket</a:t>
            </a:r>
            <a:endParaRPr lang="zh-CN" altLang="en-US" sz="2400" dirty="0">
              <a:solidFill>
                <a:schemeClr val="bg2">
                  <a:lumMod val="7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3048000" y="2863850"/>
            <a:ext cx="6096000" cy="4375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5000"/>
              </a:lnSpc>
            </a:pPr>
            <a:endParaRPr lang="en-US" altLang="zh-CN" dirty="0" err="1">
              <a:solidFill>
                <a:schemeClr val="bg2">
                  <a:lumMod val="50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  <a:cs typeface="等线" pitchFamily="34" charset="-120"/>
              <a:sym typeface="+mn-ea"/>
            </a:endParaRPr>
          </a:p>
        </p:txBody>
      </p:sp>
      <p:sp>
        <p:nvSpPr>
          <p:cNvPr id="14" name="文本框 29"/>
          <p:cNvSpPr txBox="1"/>
          <p:nvPr/>
        </p:nvSpPr>
        <p:spPr>
          <a:xfrm>
            <a:off x="6313360" y="2155631"/>
            <a:ext cx="4766649" cy="1099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dirty="0" err="1">
                <a:solidFill>
                  <a:schemeClr val="bg2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项目目标</a:t>
            </a:r>
            <a:r>
              <a:rPr lang="en-US" altLang="zh-CN" dirty="0" err="1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是在</a:t>
            </a:r>
            <a:r>
              <a:rPr lang="en-US" altLang="zh-CN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 </a:t>
            </a:r>
            <a:r>
              <a:rPr lang="en-US" altLang="zh-CN" dirty="0">
                <a:solidFill>
                  <a:schemeClr val="bg2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RISC-V 64 </a:t>
            </a:r>
            <a:r>
              <a:rPr lang="en-US" altLang="zh-CN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和 </a:t>
            </a:r>
            <a:r>
              <a:rPr lang="en-US" altLang="zh-CN" dirty="0" err="1">
                <a:solidFill>
                  <a:schemeClr val="bg2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LoongArch</a:t>
            </a:r>
            <a:r>
              <a:rPr lang="en-US" altLang="zh-CN" dirty="0">
                <a:solidFill>
                  <a:schemeClr val="bg2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 64 </a:t>
            </a:r>
            <a:r>
              <a:rPr lang="en-US" altLang="zh-CN" dirty="0" err="1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两种指令集上提供可启动、可构建、可复现、可运行官方测试盘中用户程序的</a:t>
            </a:r>
            <a:r>
              <a:rPr lang="en-US" altLang="zh-CN" dirty="0" err="1">
                <a:solidFill>
                  <a:schemeClr val="bg2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通用内核</a:t>
            </a:r>
            <a:endParaRPr lang="zh-CN" altLang="en-US" dirty="0">
              <a:solidFill>
                <a:schemeClr val="bg2">
                  <a:lumMod val="50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E50029D-9D20-AEC1-90BE-5ADC4437ECB9}"/>
              </a:ext>
            </a:extLst>
          </p:cNvPr>
          <p:cNvSpPr txBox="1"/>
          <p:nvPr/>
        </p:nvSpPr>
        <p:spPr>
          <a:xfrm>
            <a:off x="818282" y="2425431"/>
            <a:ext cx="4463517" cy="32694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en-US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WHUSP </a:t>
            </a:r>
            <a:r>
              <a:rPr lang="zh-CN" altLang="en-US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是武汉大学 最后一次入门</a:t>
            </a:r>
            <a:r>
              <a:rPr lang="en-US" altLang="zh-CN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RUST </a:t>
            </a:r>
            <a:r>
              <a:rPr lang="zh-CN" altLang="en-US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队开发的 </a:t>
            </a:r>
            <a:r>
              <a:rPr lang="en-US" altLang="en-US" sz="2000" dirty="0">
                <a:solidFill>
                  <a:schemeClr val="bg2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Rust </a:t>
            </a:r>
            <a:r>
              <a:rPr lang="zh-CN" altLang="en-US" sz="2000" dirty="0">
                <a:solidFill>
                  <a:schemeClr val="bg2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宏内核</a:t>
            </a:r>
            <a:r>
              <a:rPr lang="zh-CN" altLang="en-US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，支持 </a:t>
            </a:r>
            <a:r>
              <a:rPr lang="en-US" altLang="en-US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RISC-V 64 </a:t>
            </a:r>
            <a:r>
              <a:rPr lang="zh-CN" altLang="en-US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与 </a:t>
            </a:r>
            <a:r>
              <a:rPr lang="en-US" altLang="en-US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LoongArch 64 </a:t>
            </a:r>
            <a:r>
              <a:rPr lang="zh-CN" altLang="en-US" sz="2000" dirty="0">
                <a:solidFill>
                  <a:schemeClr val="bg2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双架构</a:t>
            </a:r>
            <a:r>
              <a:rPr lang="zh-CN" altLang="en-US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，能够运行基于 </a:t>
            </a:r>
            <a:r>
              <a:rPr lang="en-US" altLang="en-US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Linux ABI </a:t>
            </a:r>
            <a:r>
              <a:rPr lang="zh-CN" altLang="en-US" sz="2000" dirty="0">
                <a:solidFill>
                  <a:schemeClr val="bg2">
                    <a:lumMod val="1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的真实用户程序，并具备进程调度、虚拟内存、文件系统、网络与信号处理等核心能力。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/>
        </p:nvCxnSpPr>
        <p:spPr>
          <a:xfrm>
            <a:off x="519545" y="1039091"/>
            <a:ext cx="7813964" cy="0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11641282" y="342901"/>
            <a:ext cx="259773" cy="58189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550718" y="155351"/>
            <a:ext cx="24416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dirty="0">
                <a:latin typeface="华文中宋" panose="02010600040101010101" pitchFamily="2" charset="-122"/>
                <a:ea typeface="华文中宋" panose="02010600040101010101" pitchFamily="2" charset="-122"/>
              </a:rPr>
              <a:t>项目介绍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687774" y="1153391"/>
            <a:ext cx="2090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Introduction </a:t>
            </a:r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-178449" y="1637022"/>
            <a:ext cx="3170861" cy="511386"/>
            <a:chOff x="-178449" y="1764081"/>
            <a:chExt cx="3170861" cy="511386"/>
          </a:xfrm>
        </p:grpSpPr>
        <p:sp>
          <p:nvSpPr>
            <p:cNvPr id="14" name="矩形 13"/>
            <p:cNvSpPr/>
            <p:nvPr/>
          </p:nvSpPr>
          <p:spPr>
            <a:xfrm>
              <a:off x="-178449" y="1764081"/>
              <a:ext cx="3170861" cy="511386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" name="文本框 1"/>
            <p:cNvSpPr txBox="1"/>
            <p:nvPr/>
          </p:nvSpPr>
          <p:spPr>
            <a:xfrm>
              <a:off x="875482" y="1782628"/>
              <a:ext cx="203132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>
                  <a:solidFill>
                    <a:schemeClr val="bg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具体特色如下</a:t>
              </a:r>
            </a:p>
          </p:txBody>
        </p:sp>
      </p:grpSp>
      <p:sp>
        <p:nvSpPr>
          <p:cNvPr id="32" name="矩形 31"/>
          <p:cNvSpPr/>
          <p:nvPr/>
        </p:nvSpPr>
        <p:spPr>
          <a:xfrm>
            <a:off x="5151576" y="2505163"/>
            <a:ext cx="1993081" cy="364958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sx="101000" sy="101000" algn="ctr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2" name="组合 41"/>
          <p:cNvGrpSpPr/>
          <p:nvPr/>
        </p:nvGrpSpPr>
        <p:grpSpPr>
          <a:xfrm>
            <a:off x="5318458" y="2564408"/>
            <a:ext cx="1706880" cy="519305"/>
            <a:chOff x="717763" y="2535622"/>
            <a:chExt cx="1706880" cy="519305"/>
          </a:xfrm>
        </p:grpSpPr>
        <p:cxnSp>
          <p:nvCxnSpPr>
            <p:cNvPr id="43" name="直接连接符 42"/>
            <p:cNvCxnSpPr/>
            <p:nvPr/>
          </p:nvCxnSpPr>
          <p:spPr>
            <a:xfrm>
              <a:off x="789709" y="3054927"/>
              <a:ext cx="1517073" cy="0"/>
            </a:xfrm>
            <a:prstGeom prst="line">
              <a:avLst/>
            </a:prstGeom>
            <a:ln w="254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文本框 43"/>
            <p:cNvSpPr txBox="1"/>
            <p:nvPr/>
          </p:nvSpPr>
          <p:spPr>
            <a:xfrm>
              <a:off x="717763" y="2535622"/>
              <a:ext cx="1706880" cy="460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广泛兼容性</a:t>
              </a: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B2CC1839-6131-78BC-3FAD-F007A3797A47}"/>
              </a:ext>
            </a:extLst>
          </p:cNvPr>
          <p:cNvGrpSpPr/>
          <p:nvPr/>
        </p:nvGrpSpPr>
        <p:grpSpPr>
          <a:xfrm>
            <a:off x="542300" y="2488660"/>
            <a:ext cx="1993081" cy="3649580"/>
            <a:chOff x="542300" y="2488660"/>
            <a:chExt cx="1993081" cy="3649580"/>
          </a:xfrm>
        </p:grpSpPr>
        <p:sp>
          <p:nvSpPr>
            <p:cNvPr id="16" name="矩形 15"/>
            <p:cNvSpPr/>
            <p:nvPr/>
          </p:nvSpPr>
          <p:spPr>
            <a:xfrm>
              <a:off x="542300" y="2488660"/>
              <a:ext cx="1993081" cy="36495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sx="101000" sy="101000" algn="ctr" rotWithShape="0">
                <a:prstClr val="black">
                  <a:alpha val="23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48" name="组合 47"/>
            <p:cNvGrpSpPr/>
            <p:nvPr/>
          </p:nvGrpSpPr>
          <p:grpSpPr>
            <a:xfrm>
              <a:off x="720853" y="2540961"/>
              <a:ext cx="1706880" cy="513966"/>
              <a:chOff x="720853" y="2540961"/>
              <a:chExt cx="1706880" cy="513966"/>
            </a:xfrm>
          </p:grpSpPr>
          <p:cxnSp>
            <p:nvCxnSpPr>
              <p:cNvPr id="49" name="直接连接符 48"/>
              <p:cNvCxnSpPr/>
              <p:nvPr/>
            </p:nvCxnSpPr>
            <p:spPr>
              <a:xfrm>
                <a:off x="789709" y="3054927"/>
                <a:ext cx="1517073" cy="0"/>
              </a:xfrm>
              <a:prstGeom prst="line">
                <a:avLst/>
              </a:prstGeom>
              <a:ln w="25400">
                <a:solidFill>
                  <a:schemeClr val="bg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" name="文本框 49"/>
              <p:cNvSpPr txBox="1"/>
              <p:nvPr/>
            </p:nvSpPr>
            <p:spPr>
              <a:xfrm>
                <a:off x="720853" y="2540961"/>
                <a:ext cx="1706880" cy="4603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双架构适配</a:t>
                </a:r>
              </a:p>
            </p:txBody>
          </p:sp>
        </p:grpSp>
        <p:sp>
          <p:nvSpPr>
            <p:cNvPr id="51" name="文本框 50"/>
            <p:cNvSpPr txBox="1"/>
            <p:nvPr/>
          </p:nvSpPr>
          <p:spPr>
            <a:xfrm flipH="1">
              <a:off x="674950" y="3200558"/>
              <a:ext cx="1801888" cy="14455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5000"/>
                </a:lnSpc>
              </a:pPr>
              <a:r>
                <a:rPr lang="en-US" altLang="zh-CN" dirty="0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等线" pitchFamily="34" charset="-120"/>
                </a:rPr>
                <a:t>RISC-V 64 与 </a:t>
              </a:r>
              <a:r>
                <a:rPr lang="en-US" altLang="zh-CN" dirty="0" err="1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等线" pitchFamily="34" charset="-120"/>
                </a:rPr>
                <a:t>LoongArch</a:t>
              </a:r>
              <a:r>
                <a:rPr lang="en-US" altLang="zh-CN" dirty="0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等线" pitchFamily="34" charset="-120"/>
                </a:rPr>
                <a:t> 64 </a:t>
              </a:r>
              <a:r>
                <a:rPr lang="en-US" altLang="zh-CN" dirty="0" err="1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等线" pitchFamily="34" charset="-120"/>
                </a:rPr>
                <a:t>共用主干，差异收敛在</a:t>
              </a:r>
              <a:r>
                <a:rPr lang="en-US" altLang="zh-CN" dirty="0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等线" pitchFamily="34" charset="-120"/>
                </a:rPr>
                <a:t> arch 层</a:t>
              </a:r>
              <a:endPara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</p:grpSp>
      <p:sp>
        <p:nvSpPr>
          <p:cNvPr id="53" name="文本框 52"/>
          <p:cNvSpPr txBox="1"/>
          <p:nvPr/>
        </p:nvSpPr>
        <p:spPr>
          <a:xfrm flipH="1">
            <a:off x="5270954" y="3210003"/>
            <a:ext cx="1801888" cy="1822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altLang="zh-CN" dirty="0" err="1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覆盖约</a:t>
            </a:r>
            <a:r>
              <a:rPr lang="en-US" altLang="zh-CN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250 个 Linux generic </a:t>
            </a:r>
            <a:r>
              <a:rPr lang="en-US" altLang="zh-CN" dirty="0" err="1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syscall，</a:t>
            </a:r>
            <a:r>
              <a:rPr lang="zh-CN" altLang="en-US" dirty="0" err="1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能够运行</a:t>
            </a:r>
            <a:r>
              <a:rPr lang="en-US" altLang="zh-CN" dirty="0" err="1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gcc,git</a:t>
            </a:r>
            <a:r>
              <a:rPr lang="zh-CN" altLang="en-US" dirty="0" err="1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等真实程序</a:t>
            </a: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7A506CD0-5CF6-C83E-AAD2-13438D7C2128}"/>
              </a:ext>
            </a:extLst>
          </p:cNvPr>
          <p:cNvGrpSpPr/>
          <p:nvPr/>
        </p:nvGrpSpPr>
        <p:grpSpPr>
          <a:xfrm>
            <a:off x="2856053" y="2488660"/>
            <a:ext cx="1993081" cy="3649580"/>
            <a:chOff x="542300" y="2488660"/>
            <a:chExt cx="1993081" cy="3649580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1B566D93-D7C4-3D6C-16C2-F6DEC47DA7DD}"/>
                </a:ext>
              </a:extLst>
            </p:cNvPr>
            <p:cNvSpPr/>
            <p:nvPr/>
          </p:nvSpPr>
          <p:spPr>
            <a:xfrm>
              <a:off x="542300" y="2488660"/>
              <a:ext cx="1993081" cy="36495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sx="101000" sy="101000" algn="ctr" rotWithShape="0">
                <a:prstClr val="black">
                  <a:alpha val="23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ADBBDF82-C21E-F5B0-0099-BBB1411BDC45}"/>
                </a:ext>
              </a:extLst>
            </p:cNvPr>
            <p:cNvGrpSpPr/>
            <p:nvPr/>
          </p:nvGrpSpPr>
          <p:grpSpPr>
            <a:xfrm>
              <a:off x="789709" y="2540961"/>
              <a:ext cx="1517073" cy="513966"/>
              <a:chOff x="789709" y="2540961"/>
              <a:chExt cx="1517073" cy="513966"/>
            </a:xfrm>
          </p:grpSpPr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57CA1F65-113E-7CCF-FA32-F8562BFACABE}"/>
                  </a:ext>
                </a:extLst>
              </p:cNvPr>
              <p:cNvCxnSpPr/>
              <p:nvPr/>
            </p:nvCxnSpPr>
            <p:spPr>
              <a:xfrm>
                <a:off x="789709" y="3054927"/>
                <a:ext cx="1517073" cy="0"/>
              </a:xfrm>
              <a:prstGeom prst="line">
                <a:avLst/>
              </a:prstGeom>
              <a:ln w="25400">
                <a:solidFill>
                  <a:schemeClr val="bg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6B5F9F84-5899-9AFB-5425-E37FBD5261FD}"/>
                  </a:ext>
                </a:extLst>
              </p:cNvPr>
              <p:cNvSpPr txBox="1"/>
              <p:nvPr/>
            </p:nvSpPr>
            <p:spPr>
              <a:xfrm>
                <a:off x="797606" y="2540961"/>
                <a:ext cx="141577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卓越性能</a:t>
                </a:r>
              </a:p>
            </p:txBody>
          </p:sp>
        </p:grp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255BAD8B-44ED-1EB0-8B35-8464BE2B85C2}"/>
                </a:ext>
              </a:extLst>
            </p:cNvPr>
            <p:cNvSpPr txBox="1"/>
            <p:nvPr/>
          </p:nvSpPr>
          <p:spPr>
            <a:xfrm flipH="1">
              <a:off x="674950" y="3200558"/>
              <a:ext cx="1801888" cy="14455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5000"/>
                </a:lnSpc>
              </a:pPr>
              <a:r>
                <a:rPr lang="zh-CN" altLang="en-US" dirty="0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在本机测试情况下，</a:t>
              </a:r>
              <a:r>
                <a:rPr lang="en-US" altLang="zh-CN" dirty="0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15</a:t>
              </a:r>
              <a:r>
                <a:rPr lang="zh-CN" altLang="en-US" dirty="0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分钟内能够跑完所有测例</a:t>
              </a:r>
              <a:endPara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1156D3D3-6600-C375-9957-189C2AFCC3EB}"/>
              </a:ext>
            </a:extLst>
          </p:cNvPr>
          <p:cNvGrpSpPr/>
          <p:nvPr/>
        </p:nvGrpSpPr>
        <p:grpSpPr>
          <a:xfrm>
            <a:off x="7465329" y="2505163"/>
            <a:ext cx="2049256" cy="3649580"/>
            <a:chOff x="542300" y="2488660"/>
            <a:chExt cx="2049256" cy="3649580"/>
          </a:xfrm>
        </p:grpSpPr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68A7731C-0A7E-4415-412D-2FD910D74D7A}"/>
                </a:ext>
              </a:extLst>
            </p:cNvPr>
            <p:cNvSpPr/>
            <p:nvPr/>
          </p:nvSpPr>
          <p:spPr>
            <a:xfrm>
              <a:off x="542300" y="2488660"/>
              <a:ext cx="1993081" cy="36495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sx="101000" sy="101000" algn="ctr" rotWithShape="0">
                <a:prstClr val="black">
                  <a:alpha val="23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A130701A-4CDB-757B-A445-D263741E37B4}"/>
                </a:ext>
              </a:extLst>
            </p:cNvPr>
            <p:cNvGrpSpPr/>
            <p:nvPr/>
          </p:nvGrpSpPr>
          <p:grpSpPr>
            <a:xfrm>
              <a:off x="560231" y="2540961"/>
              <a:ext cx="2031325" cy="513966"/>
              <a:chOff x="560231" y="2540961"/>
              <a:chExt cx="2031325" cy="513966"/>
            </a:xfrm>
          </p:grpSpPr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ED94C686-0F8A-71C3-648D-624F0A601F37}"/>
                  </a:ext>
                </a:extLst>
              </p:cNvPr>
              <p:cNvCxnSpPr/>
              <p:nvPr/>
            </p:nvCxnSpPr>
            <p:spPr>
              <a:xfrm>
                <a:off x="789709" y="3054927"/>
                <a:ext cx="1517073" cy="0"/>
              </a:xfrm>
              <a:prstGeom prst="line">
                <a:avLst/>
              </a:prstGeom>
              <a:ln w="25400">
                <a:solidFill>
                  <a:schemeClr val="bg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6C04C5C3-8369-F63B-FC58-0B93E4520437}"/>
                  </a:ext>
                </a:extLst>
              </p:cNvPr>
              <p:cNvSpPr txBox="1"/>
              <p:nvPr/>
            </p:nvSpPr>
            <p:spPr>
              <a:xfrm>
                <a:off x="560231" y="2540961"/>
                <a:ext cx="203132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性能观测框架</a:t>
                </a:r>
              </a:p>
            </p:txBody>
          </p:sp>
        </p:grp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6E755ED5-D977-A528-EE6E-E7170AAE6954}"/>
                </a:ext>
              </a:extLst>
            </p:cNvPr>
            <p:cNvSpPr txBox="1"/>
            <p:nvPr/>
          </p:nvSpPr>
          <p:spPr>
            <a:xfrm flipH="1">
              <a:off x="674950" y="3200558"/>
              <a:ext cx="1801888" cy="17918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lang="zh-CN" altLang="en-US" dirty="0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低开销性能观测框架，支持关键路径计时、事件统计与双架构对比</a:t>
              </a:r>
            </a:p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4364ABBA-AC63-5A9A-E01E-AE86ADBA6260}"/>
              </a:ext>
            </a:extLst>
          </p:cNvPr>
          <p:cNvGrpSpPr/>
          <p:nvPr/>
        </p:nvGrpSpPr>
        <p:grpSpPr>
          <a:xfrm>
            <a:off x="9779082" y="2488660"/>
            <a:ext cx="2049256" cy="3649580"/>
            <a:chOff x="542300" y="2488660"/>
            <a:chExt cx="2049256" cy="3649580"/>
          </a:xfrm>
        </p:grpSpPr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95F0FEBD-3EA2-8900-9825-B25EA8214E84}"/>
                </a:ext>
              </a:extLst>
            </p:cNvPr>
            <p:cNvSpPr/>
            <p:nvPr/>
          </p:nvSpPr>
          <p:spPr>
            <a:xfrm>
              <a:off x="542300" y="2488660"/>
              <a:ext cx="1993081" cy="36495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sx="101000" sy="101000" algn="ctr" rotWithShape="0">
                <a:prstClr val="black">
                  <a:alpha val="23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D412F60B-67BC-A831-5BC5-2F91F4C82D08}"/>
                </a:ext>
              </a:extLst>
            </p:cNvPr>
            <p:cNvGrpSpPr/>
            <p:nvPr/>
          </p:nvGrpSpPr>
          <p:grpSpPr>
            <a:xfrm>
              <a:off x="560231" y="2540961"/>
              <a:ext cx="2031325" cy="513966"/>
              <a:chOff x="560231" y="2540961"/>
              <a:chExt cx="2031325" cy="513966"/>
            </a:xfrm>
          </p:grpSpPr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07C7C383-E8C2-6887-24D4-F22D4790429E}"/>
                  </a:ext>
                </a:extLst>
              </p:cNvPr>
              <p:cNvCxnSpPr/>
              <p:nvPr/>
            </p:nvCxnSpPr>
            <p:spPr>
              <a:xfrm>
                <a:off x="789709" y="3054927"/>
                <a:ext cx="1517073" cy="0"/>
              </a:xfrm>
              <a:prstGeom prst="line">
                <a:avLst/>
              </a:prstGeom>
              <a:ln w="25400">
                <a:solidFill>
                  <a:schemeClr val="bg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587BCDFC-F14A-5510-4B4E-108432F6CD34}"/>
                  </a:ext>
                </a:extLst>
              </p:cNvPr>
              <p:cNvSpPr txBox="1"/>
              <p:nvPr/>
            </p:nvSpPr>
            <p:spPr>
              <a:xfrm>
                <a:off x="560231" y="2540961"/>
                <a:ext cx="203132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测试逻辑解耦</a:t>
                </a:r>
              </a:p>
            </p:txBody>
          </p:sp>
        </p:grp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C19B5B95-4C2C-66E8-B01C-43E887A6CD3F}"/>
                </a:ext>
              </a:extLst>
            </p:cNvPr>
            <p:cNvSpPr txBox="1"/>
            <p:nvPr/>
          </p:nvSpPr>
          <p:spPr>
            <a:xfrm flipH="1">
              <a:off x="674950" y="3200558"/>
              <a:ext cx="1801888" cy="17918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lang="zh-CN" altLang="en-US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将比赛所要运行的测试通过脚本分离解耦</a:t>
              </a:r>
              <a:r>
                <a:rPr lang="en-US" altLang="zh-CN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,</a:t>
              </a:r>
              <a:br>
                <a:rPr lang="en-US" altLang="zh-CN" dirty="0">
                  <a:latin typeface="华文中宋" panose="02010600040101010101" pitchFamily="2" charset="-122"/>
                  <a:ea typeface="华文中宋" panose="02010600040101010101" pitchFamily="2" charset="-122"/>
                </a:rPr>
              </a:br>
              <a:r>
                <a:rPr lang="zh-CN" altLang="en-US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不污染内核设计核心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1858201"/>
            <a:ext cx="4572000" cy="914400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2026 年 6 月 29 日线上初赛评测：RISC-V 64 与 LoongArch 64 在 glibc / musl 两类环境下运行 11 个测试组，约 36 分钟完成。</a:t>
            </a:r>
            <a:endParaRPr 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1019782" y="3158836"/>
            <a:ext cx="4297680" cy="657093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>
              <a:lnSpc>
                <a:spcPct val="125000"/>
              </a:lnSpc>
            </a:pPr>
            <a:r>
              <a:rPr lang="zh-CN" altLang="en-US" sz="1600" dirty="0">
                <a:latin typeface="华文中宋" panose="02010600040101010101" pitchFamily="2" charset="-122"/>
                <a:ea typeface="华文中宋" panose="02010600040101010101" pitchFamily="2" charset="-122"/>
              </a:rPr>
              <a:t>相比于其他组，我们的内核在运行速度上有着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显著的优势</a:t>
            </a:r>
            <a:r>
              <a:rPr lang="zh-CN" altLang="en-US" sz="1600" dirty="0">
                <a:latin typeface="华文中宋" panose="02010600040101010101" pitchFamily="2" charset="-122"/>
                <a:ea typeface="华文中宋" panose="02010600040101010101" pitchFamily="2" charset="-122"/>
              </a:rPr>
              <a:t>。</a:t>
            </a:r>
          </a:p>
        </p:txBody>
      </p:sp>
      <p:sp>
        <p:nvSpPr>
          <p:cNvPr id="5" name="Text 3"/>
          <p:cNvSpPr/>
          <p:nvPr/>
        </p:nvSpPr>
        <p:spPr>
          <a:xfrm>
            <a:off x="1040564" y="4015752"/>
            <a:ext cx="4297680" cy="45720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r>
              <a:rPr lang="en-US" sz="1600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LTP 四个环境合计 33685,</a:t>
            </a:r>
            <a:r>
              <a:rPr lang="zh-CN" altLang="en-US" sz="1600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展现了我们内核兼容性的强大</a:t>
            </a:r>
          </a:p>
        </p:txBody>
      </p:sp>
      <p:sp>
        <p:nvSpPr>
          <p:cNvPr id="6" name="Text 4"/>
          <p:cNvSpPr/>
          <p:nvPr/>
        </p:nvSpPr>
        <p:spPr>
          <a:xfrm>
            <a:off x="1019782" y="4719972"/>
            <a:ext cx="4297680" cy="657092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>
              <a:lnSpc>
                <a:spcPct val="125000"/>
              </a:lnSpc>
            </a:pPr>
            <a:r>
              <a:rPr lang="en-US" sz="1600" dirty="0" err="1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本地完整流程通常</a:t>
            </a:r>
            <a:r>
              <a:rPr lang="en-US" sz="1600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15 </a:t>
            </a:r>
            <a:r>
              <a:rPr lang="en-US" sz="1600" dirty="0" err="1">
                <a:solidFill>
                  <a:schemeClr val="bg1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分钟</a:t>
            </a:r>
            <a:r>
              <a:rPr lang="en-US" sz="1600" dirty="0" err="1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内结束!</a:t>
            </a:r>
            <a:endParaRPr lang="en-US" sz="1600" dirty="0">
              <a:solidFill>
                <a:schemeClr val="bg2">
                  <a:lumMod val="7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19782" y="5680283"/>
            <a:ext cx="4297680" cy="657092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>
              <a:lnSpc>
                <a:spcPct val="125000"/>
              </a:lnSpc>
            </a:pPr>
            <a:r>
              <a:rPr lang="en-US" sz="1600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线上评测约 36 </a:t>
            </a:r>
            <a:r>
              <a:rPr lang="en-US" sz="1600" dirty="0" err="1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分钟完成，在后期资源压力下仍明显</a:t>
            </a:r>
            <a:r>
              <a:rPr lang="en-US" sz="1600" dirty="0" err="1">
                <a:solidFill>
                  <a:schemeClr val="bg1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短于多数</a:t>
            </a:r>
            <a:r>
              <a:rPr lang="en-US" sz="1600" dirty="0" err="1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队伍</a:t>
            </a:r>
            <a:endParaRPr lang="en-US" sz="1600" dirty="0">
              <a:solidFill>
                <a:srgbClr val="11111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5774575" y="1846783"/>
          <a:ext cx="6126480" cy="4389247"/>
        </p:xfrm>
        <a:graphic>
          <a:graphicData uri="http://schemas.openxmlformats.org/drawingml/2006/table">
            <a:tbl>
              <a:tblPr/>
              <a:tblGrid>
                <a:gridCol w="2042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2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42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7210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800" b="0" kern="1200" dirty="0">
                          <a:solidFill>
                            <a:srgbClr val="11111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等线" pitchFamily="34" charset="-120"/>
                        </a:rPr>
                        <a:t>测试项</a:t>
                      </a:r>
                      <a:endParaRPr lang="en-US" sz="1800" b="0" kern="1200" dirty="0">
                        <a:solidFill>
                          <a:srgbClr val="111111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等线" pitchFamily="34" charset="0"/>
                      </a:endParaRPr>
                    </a:p>
                  </a:txBody>
                  <a:tcPr marL="36576" marR="36576" marT="36576" marB="36576"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800" b="0" kern="1200" dirty="0">
                          <a:solidFill>
                            <a:srgbClr val="11111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等线" pitchFamily="34" charset="-120"/>
                        </a:rPr>
                        <a:t>小计</a:t>
                      </a:r>
                      <a:endParaRPr lang="en-US" sz="1800" b="0" kern="1200" dirty="0">
                        <a:solidFill>
                          <a:srgbClr val="111111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等线" pitchFamily="34" charset="0"/>
                      </a:endParaRPr>
                    </a:p>
                  </a:txBody>
                  <a:tcPr marL="36576" marR="36576" marT="36576" marB="36576"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800" b="0" kern="1200" dirty="0">
                          <a:solidFill>
                            <a:srgbClr val="11111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等线" pitchFamily="34" charset="-120"/>
                        </a:rPr>
                        <a:t>说明</a:t>
                      </a:r>
                      <a:endParaRPr lang="en-US" sz="1800" b="0" kern="1200" dirty="0">
                        <a:solidFill>
                          <a:srgbClr val="111111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等线" pitchFamily="34" charset="0"/>
                      </a:endParaRPr>
                    </a:p>
                  </a:txBody>
                  <a:tcPr marL="36576" marR="36576" marT="36576" marB="36576"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800" b="0" kern="1200" dirty="0">
                          <a:solidFill>
                            <a:srgbClr val="11111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等线" pitchFamily="34" charset="-120"/>
                        </a:rPr>
                        <a:t>basic</a:t>
                      </a:r>
                      <a:endParaRPr lang="en-US" sz="1800" b="0" kern="1200" dirty="0">
                        <a:solidFill>
                          <a:srgbClr val="111111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等线" pitchFamily="34" charset="0"/>
                      </a:endParaRPr>
                    </a:p>
                  </a:txBody>
                  <a:tcPr marL="36576" marR="36576" marT="36576" marB="36576"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800" b="0" kern="1200" dirty="0">
                          <a:solidFill>
                            <a:srgbClr val="11111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等线" pitchFamily="34" charset="-120"/>
                        </a:rPr>
                        <a:t>405</a:t>
                      </a:r>
                      <a:endParaRPr lang="en-US" sz="1800" b="0" kern="1200" dirty="0">
                        <a:solidFill>
                          <a:srgbClr val="111111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等线" pitchFamily="34" charset="0"/>
                      </a:endParaRPr>
                    </a:p>
                  </a:txBody>
                  <a:tcPr marL="36576" marR="36576" marT="36576" marB="36576"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800" b="0" kern="1200" dirty="0">
                          <a:solidFill>
                            <a:srgbClr val="11111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等线" pitchFamily="34" charset="-120"/>
                        </a:rPr>
                        <a:t>四环境基础功能</a:t>
                      </a:r>
                      <a:endParaRPr lang="en-US" sz="1800" b="0" kern="1200" dirty="0">
                        <a:solidFill>
                          <a:srgbClr val="111111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等线" pitchFamily="34" charset="0"/>
                      </a:endParaRPr>
                    </a:p>
                  </a:txBody>
                  <a:tcPr marL="36576" marR="36576" marT="36576" marB="36576"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800" b="0" kern="1200" dirty="0">
                          <a:solidFill>
                            <a:srgbClr val="11111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等线" pitchFamily="34" charset="-120"/>
                        </a:rPr>
                        <a:t>busybox</a:t>
                      </a:r>
                      <a:endParaRPr lang="en-US" sz="1800" b="0" kern="1200" dirty="0">
                        <a:solidFill>
                          <a:srgbClr val="111111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等线" pitchFamily="34" charset="0"/>
                      </a:endParaRPr>
                    </a:p>
                  </a:txBody>
                  <a:tcPr marL="36576" marR="36576" marT="36576" marB="36576"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800" b="0" kern="1200" dirty="0">
                          <a:solidFill>
                            <a:srgbClr val="11111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等线" pitchFamily="34" charset="-120"/>
                        </a:rPr>
                        <a:t>216</a:t>
                      </a:r>
                      <a:endParaRPr lang="en-US" sz="1800" b="0" kern="1200" dirty="0">
                        <a:solidFill>
                          <a:srgbClr val="111111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等线" pitchFamily="34" charset="0"/>
                      </a:endParaRPr>
                    </a:p>
                  </a:txBody>
                  <a:tcPr marL="36576" marR="36576" marT="36576" marB="36576"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800" b="0" kern="1200" dirty="0">
                          <a:solidFill>
                            <a:srgbClr val="11111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等线" pitchFamily="34" charset="-120"/>
                        </a:rPr>
                        <a:t>命令集运行</a:t>
                      </a:r>
                      <a:endParaRPr lang="en-US" sz="1800" b="0" kern="1200" dirty="0">
                        <a:solidFill>
                          <a:srgbClr val="111111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等线" pitchFamily="34" charset="0"/>
                      </a:endParaRPr>
                    </a:p>
                  </a:txBody>
                  <a:tcPr marL="36576" marR="36576" marT="36576" marB="36576"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800" b="0" kern="1200" dirty="0">
                          <a:solidFill>
                            <a:srgbClr val="11111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等线" pitchFamily="34" charset="-120"/>
                        </a:rPr>
                        <a:t>libctest</a:t>
                      </a:r>
                      <a:endParaRPr lang="en-US" sz="1800" b="0" kern="1200" dirty="0">
                        <a:solidFill>
                          <a:srgbClr val="111111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等线" pitchFamily="34" charset="0"/>
                      </a:endParaRPr>
                    </a:p>
                  </a:txBody>
                  <a:tcPr marL="36576" marR="36576" marT="36576" marB="36576"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800" b="0" kern="1200" dirty="0">
                          <a:solidFill>
                            <a:srgbClr val="11111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等线" pitchFamily="34" charset="-120"/>
                        </a:rPr>
                        <a:t>434</a:t>
                      </a:r>
                      <a:endParaRPr lang="en-US" sz="1800" b="0" kern="1200" dirty="0">
                        <a:solidFill>
                          <a:srgbClr val="111111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等线" pitchFamily="34" charset="0"/>
                      </a:endParaRPr>
                    </a:p>
                  </a:txBody>
                  <a:tcPr marL="36576" marR="36576" marT="36576" marB="36576"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800" b="0" kern="1200" dirty="0">
                          <a:solidFill>
                            <a:srgbClr val="11111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等线" pitchFamily="34" charset="-120"/>
                        </a:rPr>
                        <a:t>musl 路径计分</a:t>
                      </a:r>
                      <a:endParaRPr lang="en-US" sz="1800" b="0" kern="1200" dirty="0">
                        <a:solidFill>
                          <a:srgbClr val="111111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等线" pitchFamily="34" charset="0"/>
                      </a:endParaRPr>
                    </a:p>
                  </a:txBody>
                  <a:tcPr marL="36576" marR="36576" marT="36576" marB="36576"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800" b="0" kern="1200" dirty="0">
                          <a:solidFill>
                            <a:srgbClr val="11111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等线" pitchFamily="34" charset="-120"/>
                        </a:rPr>
                        <a:t>ltp</a:t>
                      </a:r>
                      <a:endParaRPr lang="en-US" sz="1800" b="0" kern="1200" dirty="0">
                        <a:solidFill>
                          <a:srgbClr val="111111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等线" pitchFamily="34" charset="0"/>
                      </a:endParaRPr>
                    </a:p>
                  </a:txBody>
                  <a:tcPr marL="36576" marR="36576" marT="36576" marB="36576"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800" b="0" kern="1200" dirty="0">
                          <a:solidFill>
                            <a:srgbClr val="11111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等线" pitchFamily="34" charset="-120"/>
                        </a:rPr>
                        <a:t>33685</a:t>
                      </a:r>
                      <a:endParaRPr lang="en-US" sz="1800" b="0" kern="1200" dirty="0">
                        <a:solidFill>
                          <a:srgbClr val="111111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等线" pitchFamily="34" charset="0"/>
                      </a:endParaRPr>
                    </a:p>
                  </a:txBody>
                  <a:tcPr marL="36576" marR="36576" marT="36576" marB="36576"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800" b="0" kern="1200" dirty="0">
                          <a:solidFill>
                            <a:srgbClr val="11111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等线" pitchFamily="34" charset="-120"/>
                        </a:rPr>
                        <a:t>系统调用兼容</a:t>
                      </a:r>
                      <a:endParaRPr lang="en-US" sz="1800" b="0" kern="1200" dirty="0">
                        <a:solidFill>
                          <a:srgbClr val="111111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等线" pitchFamily="34" charset="0"/>
                      </a:endParaRPr>
                    </a:p>
                  </a:txBody>
                  <a:tcPr marL="36576" marR="36576" marT="36576" marB="36576"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800" b="0" kern="1200" dirty="0">
                          <a:solidFill>
                            <a:srgbClr val="11111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等线" pitchFamily="34" charset="-120"/>
                        </a:rPr>
                        <a:t>iozone</a:t>
                      </a:r>
                      <a:endParaRPr lang="en-US" sz="1800" b="0" kern="1200" dirty="0">
                        <a:solidFill>
                          <a:srgbClr val="111111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等线" pitchFamily="34" charset="0"/>
                      </a:endParaRPr>
                    </a:p>
                  </a:txBody>
                  <a:tcPr marL="36576" marR="36576" marT="36576" marB="36576"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800" b="0" kern="1200" dirty="0">
                          <a:solidFill>
                            <a:srgbClr val="11111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等线" pitchFamily="34" charset="-120"/>
                        </a:rPr>
                        <a:t>80.0</a:t>
                      </a:r>
                      <a:endParaRPr lang="en-US" sz="1800" b="0" kern="1200" dirty="0">
                        <a:solidFill>
                          <a:srgbClr val="111111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等线" pitchFamily="34" charset="0"/>
                      </a:endParaRPr>
                    </a:p>
                  </a:txBody>
                  <a:tcPr marL="36576" marR="36576" marT="36576" marB="36576"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800" b="0" kern="1200" dirty="0">
                          <a:solidFill>
                            <a:srgbClr val="11111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等线" pitchFamily="34" charset="-120"/>
                        </a:rPr>
                        <a:t>文件 I/O</a:t>
                      </a:r>
                      <a:endParaRPr lang="en-US" sz="1800" b="0" kern="1200" dirty="0">
                        <a:solidFill>
                          <a:srgbClr val="111111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等线" pitchFamily="34" charset="0"/>
                      </a:endParaRPr>
                    </a:p>
                  </a:txBody>
                  <a:tcPr marL="36576" marR="36576" marT="36576" marB="36576"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4195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800" b="0" kern="1200" dirty="0">
                          <a:solidFill>
                            <a:srgbClr val="11111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等线" pitchFamily="34" charset="-120"/>
                        </a:rPr>
                        <a:t>netperf / iperf</a:t>
                      </a:r>
                      <a:endParaRPr lang="en-US" sz="1800" b="0" kern="1200" dirty="0">
                        <a:solidFill>
                          <a:srgbClr val="111111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等线" pitchFamily="34" charset="0"/>
                      </a:endParaRPr>
                    </a:p>
                  </a:txBody>
                  <a:tcPr marL="36576" marR="36576" marT="36576" marB="36576"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800" b="0" kern="1200" dirty="0">
                          <a:solidFill>
                            <a:srgbClr val="11111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等线" pitchFamily="34" charset="-120"/>
                        </a:rPr>
                        <a:t>50.091</a:t>
                      </a:r>
                      <a:endParaRPr lang="en-US" sz="1800" b="0" kern="1200" dirty="0">
                        <a:solidFill>
                          <a:srgbClr val="111111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等线" pitchFamily="34" charset="0"/>
                      </a:endParaRPr>
                    </a:p>
                  </a:txBody>
                  <a:tcPr marL="36576" marR="36576" marT="36576" marB="36576"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800" b="0" kern="1200" dirty="0">
                          <a:solidFill>
                            <a:srgbClr val="11111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等线" pitchFamily="34" charset="-120"/>
                        </a:rPr>
                        <a:t>回环网络</a:t>
                      </a:r>
                      <a:endParaRPr lang="en-US" sz="1800" b="0" kern="1200" dirty="0">
                        <a:solidFill>
                          <a:srgbClr val="111111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等线" pitchFamily="34" charset="0"/>
                      </a:endParaRPr>
                    </a:p>
                  </a:txBody>
                  <a:tcPr marL="36576" marR="36576" marT="36576" marB="36576"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800" b="0" kern="1200" dirty="0">
                          <a:solidFill>
                            <a:srgbClr val="11111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等线" pitchFamily="34" charset="-120"/>
                        </a:rPr>
                        <a:t>libcbench / lmbench</a:t>
                      </a:r>
                      <a:endParaRPr lang="en-US" sz="1800" b="0" kern="1200" dirty="0">
                        <a:solidFill>
                          <a:srgbClr val="111111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等线" pitchFamily="34" charset="0"/>
                      </a:endParaRPr>
                    </a:p>
                  </a:txBody>
                  <a:tcPr marL="36576" marR="36576" marT="36576" marB="36576"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800" b="0" kern="1200" dirty="0">
                          <a:solidFill>
                            <a:srgbClr val="11111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等线" pitchFamily="34" charset="-120"/>
                        </a:rPr>
                        <a:t>280.359</a:t>
                      </a:r>
                      <a:endParaRPr lang="en-US" sz="1800" b="0" kern="1200" dirty="0">
                        <a:solidFill>
                          <a:srgbClr val="111111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等线" pitchFamily="34" charset="0"/>
                      </a:endParaRPr>
                    </a:p>
                  </a:txBody>
                  <a:tcPr marL="36576" marR="36576" marT="36576" marB="36576"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800" b="0" kern="1200" dirty="0">
                          <a:solidFill>
                            <a:srgbClr val="11111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等线" pitchFamily="34" charset="-120"/>
                        </a:rPr>
                        <a:t>综合性能</a:t>
                      </a:r>
                      <a:endParaRPr lang="en-US" sz="1800" b="0" kern="1200" dirty="0">
                        <a:solidFill>
                          <a:srgbClr val="111111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等线" pitchFamily="34" charset="0"/>
                      </a:endParaRPr>
                    </a:p>
                  </a:txBody>
                  <a:tcPr marL="36576" marR="36576" marT="36576" marB="36576"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532120" y="7651559"/>
            <a:ext cx="2926080" cy="320040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线上榜单折算总分：2517.449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532120" y="8026463"/>
            <a:ext cx="5303520" cy="274320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1111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本地 RV：17614.19 / 19141    本地 LA：17661.39 / 19168</a:t>
            </a:r>
            <a:endParaRPr lang="en-US" sz="1250" dirty="0"/>
          </a:p>
        </p:txBody>
      </p:sp>
      <p:cxnSp>
        <p:nvCxnSpPr>
          <p:cNvPr id="15" name="直接连接符 14"/>
          <p:cNvCxnSpPr/>
          <p:nvPr/>
        </p:nvCxnSpPr>
        <p:spPr>
          <a:xfrm>
            <a:off x="519545" y="1039091"/>
            <a:ext cx="7813964" cy="0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11641282" y="342901"/>
            <a:ext cx="259773" cy="58189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550718" y="155351"/>
            <a:ext cx="24416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dirty="0">
                <a:latin typeface="华文中宋" panose="02010600040101010101" pitchFamily="2" charset="-122"/>
                <a:ea typeface="华文中宋" panose="02010600040101010101" pitchFamily="2" charset="-122"/>
              </a:rPr>
              <a:t>成果展示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687774" y="1153391"/>
            <a:ext cx="2090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Score</a:t>
            </a:r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581556" y="3273137"/>
            <a:ext cx="232756" cy="412092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575448" y="4026143"/>
            <a:ext cx="232756" cy="412092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577631" y="4833545"/>
            <a:ext cx="232756" cy="412092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571396" y="5702837"/>
            <a:ext cx="232756" cy="412092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Text Box 10"/>
          <p:cNvSpPr txBox="1"/>
          <p:nvPr/>
        </p:nvSpPr>
        <p:spPr>
          <a:xfrm>
            <a:off x="9538335" y="969010"/>
            <a:ext cx="19875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去掉说明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33924" y="5200725"/>
            <a:ext cx="11368883" cy="902481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我们把竞赛相关的测试组选择、marker </a:t>
            </a:r>
            <a:r>
              <a:rPr lang="en-US" sz="2000" dirty="0" err="1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输出和收尾动作放在脚本盘中，内核只负责通用执行环境</a:t>
            </a:r>
            <a:r>
              <a:rPr lang="en-US" sz="2000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en-US" altLang="zh-CN" sz="2000" dirty="0" err="1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这个设计让测试编排可调整、内核语义更干净，也方便评审从脚本盘和日志复查运行路径</a:t>
            </a:r>
            <a:r>
              <a:rPr lang="en-US" altLang="zh-CN" sz="2000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。</a:t>
            </a:r>
            <a:endParaRPr lang="en-US" altLang="zh-CN" sz="20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0" indent="0">
              <a:buNone/>
            </a:pPr>
            <a:endParaRPr 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243336" y="5877689"/>
            <a:ext cx="10247781" cy="1019339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lnSpc>
                <a:spcPct val="150000"/>
              </a:lnSpc>
              <a:buNone/>
            </a:pPr>
            <a:endParaRPr lang="en-US" sz="20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cxnSp>
        <p:nvCxnSpPr>
          <p:cNvPr id="20" name="直接连接符 19"/>
          <p:cNvCxnSpPr/>
          <p:nvPr/>
        </p:nvCxnSpPr>
        <p:spPr>
          <a:xfrm>
            <a:off x="519545" y="1039091"/>
            <a:ext cx="7813964" cy="0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11641282" y="342901"/>
            <a:ext cx="259773" cy="58189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550718" y="155351"/>
            <a:ext cx="24416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dirty="0">
                <a:latin typeface="华文中宋" panose="02010600040101010101" pitchFamily="2" charset="-122"/>
                <a:ea typeface="华文中宋" panose="02010600040101010101" pitchFamily="2" charset="-122"/>
              </a:rPr>
              <a:t>运行模式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687774" y="1153391"/>
            <a:ext cx="2090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Mode</a:t>
            </a:r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pSp>
        <p:nvGrpSpPr>
          <p:cNvPr id="50" name="组合 49"/>
          <p:cNvGrpSpPr/>
          <p:nvPr/>
        </p:nvGrpSpPr>
        <p:grpSpPr>
          <a:xfrm>
            <a:off x="406400" y="1810818"/>
            <a:ext cx="11344723" cy="1544769"/>
            <a:chOff x="325120" y="2433027"/>
            <a:chExt cx="11344723" cy="1544769"/>
          </a:xfrm>
        </p:grpSpPr>
        <p:grpSp>
          <p:nvGrpSpPr>
            <p:cNvPr id="44" name="组合 43"/>
            <p:cNvGrpSpPr/>
            <p:nvPr/>
          </p:nvGrpSpPr>
          <p:grpSpPr>
            <a:xfrm>
              <a:off x="325120" y="2433027"/>
              <a:ext cx="11344723" cy="1544769"/>
              <a:chOff x="325120" y="2433027"/>
              <a:chExt cx="11344723" cy="1544769"/>
            </a:xfrm>
          </p:grpSpPr>
          <p:sp>
            <p:nvSpPr>
              <p:cNvPr id="24" name="平行四边形 23"/>
              <p:cNvSpPr/>
              <p:nvPr/>
            </p:nvSpPr>
            <p:spPr>
              <a:xfrm>
                <a:off x="325120" y="2435670"/>
                <a:ext cx="3648133" cy="1540348"/>
              </a:xfrm>
              <a:prstGeom prst="parallelogram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10800000" algn="r" rotWithShape="0">
                  <a:prstClr val="black">
                    <a:alpha val="22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altLang="zh-CN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  <p:sp>
            <p:nvSpPr>
              <p:cNvPr id="33" name="文本框 32"/>
              <p:cNvSpPr txBox="1"/>
              <p:nvPr/>
            </p:nvSpPr>
            <p:spPr>
              <a:xfrm>
                <a:off x="475354" y="2826965"/>
                <a:ext cx="2227206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11111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  <a:cs typeface="等线" pitchFamily="34" charset="-120"/>
                  </a:rPr>
                  <a:t>make all</a:t>
                </a:r>
                <a:endParaRPr lang="en-US" altLang="zh-CN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 algn="ctr"/>
                <a:r>
                  <a:rPr lang="en-US" altLang="zh-CN" dirty="0" err="1">
                    <a:solidFill>
                      <a:srgbClr val="11111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  <a:cs typeface="等线" pitchFamily="34" charset="-120"/>
                  </a:rPr>
                  <a:t>生成</a:t>
                </a:r>
                <a:r>
                  <a:rPr lang="en-US" altLang="zh-CN" dirty="0">
                    <a:solidFill>
                      <a:srgbClr val="11111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  <a:cs typeface="等线" pitchFamily="34" charset="-120"/>
                  </a:rPr>
                  <a:t> kernel-</a:t>
                </a:r>
                <a:r>
                  <a:rPr lang="en-US" altLang="zh-CN" dirty="0" err="1">
                    <a:solidFill>
                      <a:srgbClr val="11111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  <a:cs typeface="等线" pitchFamily="34" charset="-120"/>
                  </a:rPr>
                  <a:t>rv</a:t>
                </a:r>
                <a:r>
                  <a:rPr lang="en-US" altLang="zh-CN" dirty="0">
                    <a:solidFill>
                      <a:srgbClr val="11111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  <a:cs typeface="等线" pitchFamily="34" charset="-120"/>
                  </a:rPr>
                  <a:t> / kernel-la</a:t>
                </a:r>
                <a:endParaRPr lang="en-US" altLang="zh-CN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  <p:sp>
            <p:nvSpPr>
              <p:cNvPr id="37" name="平行四边形 36"/>
              <p:cNvSpPr/>
              <p:nvPr/>
            </p:nvSpPr>
            <p:spPr>
              <a:xfrm>
                <a:off x="2448560" y="2435670"/>
                <a:ext cx="3788526" cy="1540348"/>
              </a:xfrm>
              <a:prstGeom prst="parallelogram">
                <a:avLst/>
              </a:prstGeom>
              <a:solidFill>
                <a:schemeClr val="bg2">
                  <a:lumMod val="25000"/>
                </a:schemeClr>
              </a:solidFill>
              <a:ln>
                <a:noFill/>
              </a:ln>
              <a:effectLst>
                <a:outerShdw blurRad="50800" dist="38100" dir="10800000" algn="r" rotWithShape="0">
                  <a:prstClr val="black">
                    <a:alpha val="23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altLang="zh-CN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  <p:sp>
            <p:nvSpPr>
              <p:cNvPr id="38" name="平行四边形 37"/>
              <p:cNvSpPr/>
              <p:nvPr/>
            </p:nvSpPr>
            <p:spPr>
              <a:xfrm>
                <a:off x="4575997" y="2435670"/>
                <a:ext cx="4010935" cy="1542126"/>
              </a:xfrm>
              <a:prstGeom prst="parallelogram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10800000" algn="r" rotWithShape="0">
                  <a:prstClr val="black">
                    <a:alpha val="28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altLang="zh-CN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  <p:sp>
            <p:nvSpPr>
              <p:cNvPr id="39" name="平行四边形 38"/>
              <p:cNvSpPr/>
              <p:nvPr/>
            </p:nvSpPr>
            <p:spPr>
              <a:xfrm>
                <a:off x="6593774" y="2433027"/>
                <a:ext cx="3713365" cy="1540348"/>
              </a:xfrm>
              <a:prstGeom prst="parallelogram">
                <a:avLst/>
              </a:prstGeom>
              <a:solidFill>
                <a:schemeClr val="bg2">
                  <a:lumMod val="25000"/>
                </a:schemeClr>
              </a:solidFill>
              <a:ln>
                <a:noFill/>
              </a:ln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altLang="zh-CN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  <p:sp>
            <p:nvSpPr>
              <p:cNvPr id="40" name="平行四边形 39"/>
              <p:cNvSpPr/>
              <p:nvPr/>
            </p:nvSpPr>
            <p:spPr>
              <a:xfrm>
                <a:off x="8804723" y="2433027"/>
                <a:ext cx="2865120" cy="1536538"/>
              </a:xfrm>
              <a:prstGeom prst="parallelogram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16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altLang="zh-CN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  <p:sp>
            <p:nvSpPr>
              <p:cNvPr id="34" name="文本框 33"/>
              <p:cNvSpPr txBox="1"/>
              <p:nvPr/>
            </p:nvSpPr>
            <p:spPr>
              <a:xfrm>
                <a:off x="2574477" y="2909440"/>
                <a:ext cx="222720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chemeClr val="bg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  <a:cs typeface="等线" pitchFamily="34" charset="-120"/>
                  </a:rPr>
                  <a:t>QEMU</a:t>
                </a:r>
                <a:endParaRPr lang="en-US" altLang="zh-CN" dirty="0">
                  <a:solidFill>
                    <a:schemeClr val="bg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 algn="ctr"/>
                <a:r>
                  <a:rPr lang="en-US" altLang="zh-CN" dirty="0" err="1">
                    <a:solidFill>
                      <a:schemeClr val="bg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  <a:cs typeface="等线" pitchFamily="34" charset="-120"/>
                  </a:rPr>
                  <a:t>挂载</a:t>
                </a:r>
                <a:r>
                  <a:rPr lang="en-US" altLang="zh-CN" dirty="0">
                    <a:solidFill>
                      <a:schemeClr val="bg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  <a:cs typeface="等线" pitchFamily="34" charset="-120"/>
                  </a:rPr>
                  <a:t> x0 / x1</a:t>
                </a:r>
                <a:endParaRPr lang="en-US" altLang="zh-CN" dirty="0">
                  <a:solidFill>
                    <a:schemeClr val="bg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  <p:sp>
            <p:nvSpPr>
              <p:cNvPr id="41" name="文本框 40"/>
              <p:cNvSpPr txBox="1"/>
              <p:nvPr/>
            </p:nvSpPr>
            <p:spPr>
              <a:xfrm>
                <a:off x="4691380" y="2846505"/>
                <a:ext cx="2227206" cy="7530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5000"/>
                  </a:lnSpc>
                </a:pPr>
                <a:r>
                  <a:rPr lang="en-US" altLang="zh-CN" dirty="0" err="1">
                    <a:solidFill>
                      <a:srgbClr val="11111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  <a:cs typeface="等线" pitchFamily="34" charset="-120"/>
                  </a:rPr>
                  <a:t>rust_main</a:t>
                </a:r>
                <a:endParaRPr lang="en-US" altLang="zh-CN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 algn="ctr">
                  <a:lnSpc>
                    <a:spcPct val="125000"/>
                  </a:lnSpc>
                </a:pPr>
                <a:r>
                  <a:rPr lang="en-US" altLang="zh-CN" dirty="0" err="1">
                    <a:solidFill>
                      <a:srgbClr val="11111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  <a:cs typeface="等线" pitchFamily="34" charset="-120"/>
                  </a:rPr>
                  <a:t>初始化内核</a:t>
                </a:r>
                <a:endParaRPr lang="en-US" altLang="zh-CN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  <p:sp>
            <p:nvSpPr>
              <p:cNvPr id="42" name="文本框 41"/>
              <p:cNvSpPr txBox="1"/>
              <p:nvPr/>
            </p:nvSpPr>
            <p:spPr>
              <a:xfrm>
                <a:off x="6840055" y="2819525"/>
                <a:ext cx="2215671" cy="1022396"/>
              </a:xfrm>
              <a:prstGeom prst="rect">
                <a:avLst/>
              </a:prstGeom>
              <a:noFill/>
              <a:effectLst>
                <a:outerShdw blurRad="50800" dist="38100" dir="5400000" algn="t" rotWithShape="0">
                  <a:prstClr val="black">
                    <a:alpha val="24000"/>
                  </a:prstClr>
                </a:outerShdw>
              </a:effectLst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25000"/>
                  </a:lnSpc>
                </a:pPr>
                <a:r>
                  <a:rPr lang="en-US" altLang="zh-CN" sz="1600" dirty="0">
                    <a:solidFill>
                      <a:schemeClr val="bg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  <a:cs typeface="等线" pitchFamily="34" charset="-120"/>
                  </a:rPr>
                  <a:t>/</a:t>
                </a:r>
                <a:r>
                  <a:rPr lang="en-US" altLang="zh-CN" sz="1600" dirty="0" err="1">
                    <a:solidFill>
                      <a:schemeClr val="bg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  <a:cs typeface="等线" pitchFamily="34" charset="-120"/>
                  </a:rPr>
                  <a:t>musl</a:t>
                </a:r>
                <a:r>
                  <a:rPr lang="en-US" altLang="zh-CN" sz="1600" dirty="0">
                    <a:solidFill>
                      <a:schemeClr val="bg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  <a:cs typeface="等线" pitchFamily="34" charset="-120"/>
                  </a:rPr>
                  <a:t>/</a:t>
                </a:r>
                <a:r>
                  <a:rPr lang="en-US" altLang="zh-CN" sz="1600" dirty="0" err="1">
                    <a:solidFill>
                      <a:schemeClr val="bg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  <a:cs typeface="等线" pitchFamily="34" charset="-120"/>
                  </a:rPr>
                  <a:t>busybox</a:t>
                </a:r>
                <a:r>
                  <a:rPr lang="en-US" altLang="zh-CN" sz="1600" dirty="0">
                    <a:solidFill>
                      <a:schemeClr val="bg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  <a:cs typeface="等线" pitchFamily="34" charset="-120"/>
                  </a:rPr>
                  <a:t> </a:t>
                </a:r>
                <a:r>
                  <a:rPr lang="en-US" altLang="zh-CN" sz="1600" dirty="0" err="1">
                    <a:solidFill>
                      <a:schemeClr val="bg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  <a:cs typeface="等线" pitchFamily="34" charset="-120"/>
                  </a:rPr>
                  <a:t>sh</a:t>
                </a:r>
                <a:endParaRPr lang="en-US" altLang="zh-CN" sz="1600" dirty="0">
                  <a:solidFill>
                    <a:schemeClr val="bg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 algn="ctr">
                  <a:lnSpc>
                    <a:spcPct val="125000"/>
                  </a:lnSpc>
                </a:pPr>
                <a:r>
                  <a:rPr lang="en-US" altLang="zh-CN" sz="1600" dirty="0" err="1">
                    <a:solidFill>
                      <a:schemeClr val="bg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  <a:cs typeface="等线" pitchFamily="34" charset="-120"/>
                  </a:rPr>
                  <a:t>执行</a:t>
                </a:r>
                <a:r>
                  <a:rPr lang="en-US" altLang="zh-CN" sz="1600" dirty="0">
                    <a:solidFill>
                      <a:schemeClr val="bg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  <a:cs typeface="等线" pitchFamily="34" charset="-120"/>
                  </a:rPr>
                  <a:t> /x1/entry.sh</a:t>
                </a:r>
                <a:endParaRPr lang="en-US" altLang="zh-CN" sz="1600" dirty="0">
                  <a:solidFill>
                    <a:schemeClr val="bg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>
                  <a:lnSpc>
                    <a:spcPct val="125000"/>
                  </a:lnSpc>
                </a:pPr>
                <a:endParaRPr lang="zh-CN" altLang="en-US" dirty="0">
                  <a:solidFill>
                    <a:schemeClr val="bg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  <p:sp>
            <p:nvSpPr>
              <p:cNvPr id="43" name="文本框 42"/>
              <p:cNvSpPr txBox="1"/>
              <p:nvPr/>
            </p:nvSpPr>
            <p:spPr>
              <a:xfrm>
                <a:off x="9123161" y="2961728"/>
                <a:ext cx="236795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1600" dirty="0">
                    <a:solidFill>
                      <a:srgbClr val="11111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START / END marker</a:t>
                </a:r>
              </a:p>
              <a:p>
                <a:pPr algn="ctr"/>
                <a:r>
                  <a:rPr lang="en-US" altLang="zh-CN" sz="1600" dirty="0">
                    <a:solidFill>
                      <a:srgbClr val="11111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sync; reboot -f</a:t>
                </a:r>
              </a:p>
            </p:txBody>
          </p:sp>
        </p:grpSp>
        <p:sp>
          <p:nvSpPr>
            <p:cNvPr id="45" name="箭头: 右 44"/>
            <p:cNvSpPr/>
            <p:nvPr/>
          </p:nvSpPr>
          <p:spPr>
            <a:xfrm>
              <a:off x="2068377" y="2519766"/>
              <a:ext cx="1323642" cy="305579"/>
            </a:xfrm>
            <a:prstGeom prst="rightArrow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箭头: 右 45"/>
            <p:cNvSpPr/>
            <p:nvPr/>
          </p:nvSpPr>
          <p:spPr>
            <a:xfrm>
              <a:off x="4216980" y="2527436"/>
              <a:ext cx="1323642" cy="305579"/>
            </a:xfrm>
            <a:prstGeom prst="rightArrow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箭头: 右 46"/>
            <p:cNvSpPr/>
            <p:nvPr/>
          </p:nvSpPr>
          <p:spPr>
            <a:xfrm>
              <a:off x="6241899" y="2527435"/>
              <a:ext cx="1323642" cy="305579"/>
            </a:xfrm>
            <a:prstGeom prst="rightArrow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箭头: 右 47"/>
            <p:cNvSpPr/>
            <p:nvPr/>
          </p:nvSpPr>
          <p:spPr>
            <a:xfrm>
              <a:off x="8353389" y="2553906"/>
              <a:ext cx="1323642" cy="305579"/>
            </a:xfrm>
            <a:prstGeom prst="rightArrow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195578" y="3818300"/>
            <a:ext cx="3788526" cy="731520"/>
            <a:chOff x="946132" y="4128306"/>
            <a:chExt cx="4391934" cy="731520"/>
          </a:xfrm>
        </p:grpSpPr>
        <p:sp>
          <p:nvSpPr>
            <p:cNvPr id="14" name="Text 12"/>
            <p:cNvSpPr/>
            <p:nvPr/>
          </p:nvSpPr>
          <p:spPr>
            <a:xfrm>
              <a:off x="1327131" y="4128306"/>
              <a:ext cx="4010935" cy="7315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0160">
              <a:noFill/>
            </a:ln>
            <a:effectLst/>
          </p:spPr>
          <p:txBody>
            <a:bodyPr wrap="square" lIns="635" tIns="635" rIns="635" bIns="635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等线" pitchFamily="34" charset="-120"/>
                </a:rPr>
                <a:t>x0: 官方 EXT4 测试盘</a:t>
              </a:r>
              <a:endParaRPr lang="en-US" sz="16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  <a:p>
              <a:pPr marL="0" indent="0" algn="ctr">
                <a:buNone/>
              </a:pPr>
              <a:r>
                <a:rPr lang="en-US" sz="1600" dirty="0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等线" pitchFamily="34" charset="-120"/>
                </a:rPr>
                <a:t>作为根文件系统挂载</a:t>
              </a:r>
              <a:endParaRPr lang="en-US" sz="16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13" name="Text 11"/>
            <p:cNvSpPr/>
            <p:nvPr/>
          </p:nvSpPr>
          <p:spPr>
            <a:xfrm>
              <a:off x="946132" y="4231865"/>
              <a:ext cx="2011680" cy="25603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dirty="0">
                  <a:solidFill>
                    <a:srgbClr val="666666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等线" pitchFamily="34" charset="-120"/>
                </a:rPr>
                <a:t>测试盘</a:t>
              </a:r>
              <a:endParaRPr lang="en-US" sz="24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4108737" y="3818300"/>
            <a:ext cx="3474588" cy="731520"/>
            <a:chOff x="946132" y="5083297"/>
            <a:chExt cx="4391934" cy="731520"/>
          </a:xfrm>
          <a:solidFill>
            <a:schemeClr val="bg1">
              <a:lumMod val="95000"/>
            </a:schemeClr>
          </a:solidFill>
          <a:effectLst/>
        </p:grpSpPr>
        <p:sp>
          <p:nvSpPr>
            <p:cNvPr id="16" name="Text 14"/>
            <p:cNvSpPr/>
            <p:nvPr/>
          </p:nvSpPr>
          <p:spPr>
            <a:xfrm>
              <a:off x="1327132" y="5083297"/>
              <a:ext cx="4010934" cy="731520"/>
            </a:xfrm>
            <a:prstGeom prst="rect">
              <a:avLst/>
            </a:prstGeom>
            <a:grpFill/>
            <a:ln w="10160">
              <a:noFill/>
            </a:ln>
            <a:effectLst/>
          </p:spPr>
          <p:txBody>
            <a:bodyPr wrap="square" lIns="635" tIns="635" rIns="635" bIns="635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等线" pitchFamily="34" charset="-120"/>
                </a:rPr>
                <a:t>x1: 仓库生成脚本盘</a:t>
              </a:r>
              <a:endParaRPr lang="en-US" sz="16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  <a:p>
              <a:pPr marL="0" indent="0" algn="ctr">
                <a:buNone/>
              </a:pPr>
              <a:r>
                <a:rPr lang="en-US" sz="1600" dirty="0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等线" pitchFamily="34" charset="-120"/>
                </a:rPr>
                <a:t>提供 /x1/entry.sh</a:t>
              </a:r>
              <a:endParaRPr lang="en-US" sz="16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15" name="Text 13"/>
            <p:cNvSpPr/>
            <p:nvPr/>
          </p:nvSpPr>
          <p:spPr>
            <a:xfrm>
              <a:off x="946132" y="5171564"/>
              <a:ext cx="2011680" cy="256032"/>
            </a:xfrm>
            <a:prstGeom prst="rect">
              <a:avLst/>
            </a:prstGeom>
            <a:grpFill/>
          </p:spPr>
          <p:txBody>
            <a:bodyPr wrap="square" lIns="0" tIns="0" rIns="0" bIns="0" rtlCol="0" anchor="ctr"/>
            <a:lstStyle/>
            <a:p>
              <a:r>
                <a:rPr lang="en-US" sz="2400" dirty="0" err="1">
                  <a:solidFill>
                    <a:srgbClr val="666666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脚本盘</a:t>
              </a:r>
              <a:endParaRPr lang="en-US" sz="2400" dirty="0">
                <a:solidFill>
                  <a:srgbClr val="666666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7563463" y="3818300"/>
            <a:ext cx="4382442" cy="731520"/>
            <a:chOff x="646758" y="5971129"/>
            <a:chExt cx="4691308" cy="731520"/>
          </a:xfrm>
        </p:grpSpPr>
        <p:sp>
          <p:nvSpPr>
            <p:cNvPr id="18" name="Text 16"/>
            <p:cNvSpPr/>
            <p:nvPr/>
          </p:nvSpPr>
          <p:spPr>
            <a:xfrm>
              <a:off x="1327132" y="5971129"/>
              <a:ext cx="4010934" cy="7315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0160">
              <a:noFill/>
            </a:ln>
            <a:effectLst/>
          </p:spPr>
          <p:txBody>
            <a:bodyPr wrap="square" lIns="635" tIns="635" rIns="635" bIns="635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等线" pitchFamily="34" charset="-120"/>
                </a:rPr>
                <a:t>不识别具体测例</a:t>
              </a:r>
              <a:endParaRPr lang="en-US" sz="16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  <a:p>
              <a:pPr marL="0" indent="0" algn="ctr">
                <a:buNone/>
              </a:pPr>
              <a:r>
                <a:rPr lang="en-US" sz="1600" dirty="0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等线" pitchFamily="34" charset="-120"/>
                </a:rPr>
                <a:t>只提供通用进程、文件和 syscall 语义</a:t>
              </a:r>
              <a:endParaRPr lang="en-US" sz="16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17" name="Text 15"/>
            <p:cNvSpPr/>
            <p:nvPr/>
          </p:nvSpPr>
          <p:spPr>
            <a:xfrm>
              <a:off x="646758" y="6036057"/>
              <a:ext cx="2011680" cy="25603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indent="0">
                <a:buNone/>
              </a:pPr>
              <a:r>
                <a:rPr lang="en-US" sz="2400" dirty="0" err="1">
                  <a:solidFill>
                    <a:srgbClr val="666666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内核边界</a:t>
              </a:r>
              <a:endParaRPr lang="en-US" sz="2400" dirty="0">
                <a:solidFill>
                  <a:srgbClr val="666666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直接连接符 15"/>
          <p:cNvCxnSpPr/>
          <p:nvPr/>
        </p:nvCxnSpPr>
        <p:spPr>
          <a:xfrm>
            <a:off x="519545" y="1039091"/>
            <a:ext cx="7813964" cy="0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11641282" y="342901"/>
            <a:ext cx="259773" cy="58189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550718" y="155351"/>
            <a:ext cx="24416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dirty="0">
                <a:latin typeface="华文中宋" panose="02010600040101010101" pitchFamily="2" charset="-122"/>
                <a:ea typeface="华文中宋" panose="02010600040101010101" pitchFamily="2" charset="-122"/>
              </a:rPr>
              <a:t>总体架构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687774" y="1153391"/>
            <a:ext cx="2090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Arch</a:t>
            </a:r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 t="4356"/>
          <a:stretch>
            <a:fillRect/>
          </a:stretch>
        </p:blipFill>
        <p:spPr>
          <a:xfrm>
            <a:off x="770890" y="1622425"/>
            <a:ext cx="10468610" cy="43262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77240" y="1552956"/>
            <a:ext cx="10424160" cy="320040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zh-CN" altLang="en-US" sz="1520" dirty="0"/>
              <a:t>同一套 </a:t>
            </a:r>
            <a:r>
              <a:rPr lang="en-US" altLang="en-US" sz="1520" dirty="0"/>
              <a:t>Rust </a:t>
            </a:r>
            <a:r>
              <a:rPr lang="zh-CN" altLang="en-US" sz="1520" dirty="0"/>
              <a:t>内核主干同时支持 </a:t>
            </a:r>
            <a:r>
              <a:rPr lang="en-US" altLang="en-US" sz="1520" dirty="0"/>
              <a:t>RISC-V 64 </a:t>
            </a:r>
            <a:r>
              <a:rPr lang="zh-CN" altLang="en-US" sz="1520" dirty="0"/>
              <a:t>和 </a:t>
            </a:r>
            <a:r>
              <a:rPr lang="en-US" altLang="en-US" sz="1520" dirty="0"/>
              <a:t>LoongArch 64，</a:t>
            </a:r>
            <a:r>
              <a:rPr lang="zh-CN" altLang="en-US" sz="1520" dirty="0"/>
              <a:t>架构差异集中在 </a:t>
            </a:r>
            <a:r>
              <a:rPr lang="en-US" altLang="en-US" sz="1520" dirty="0"/>
              <a:t>arch </a:t>
            </a:r>
            <a:r>
              <a:rPr lang="zh-CN" altLang="en-US" sz="1520" dirty="0"/>
              <a:t>层处理。</a:t>
            </a:r>
          </a:p>
        </p:txBody>
      </p:sp>
      <p:sp>
        <p:nvSpPr>
          <p:cNvPr id="4" name="Text 2"/>
          <p:cNvSpPr/>
          <p:nvPr/>
        </p:nvSpPr>
        <p:spPr>
          <a:xfrm>
            <a:off x="1203960" y="2158993"/>
            <a:ext cx="2971800" cy="1874520"/>
          </a:xfrm>
          <a:prstGeom prst="rect">
            <a:avLst/>
          </a:prstGeom>
          <a:solidFill>
            <a:srgbClr val="F2F2F2"/>
          </a:solidFill>
          <a:ln w="10160">
            <a:noFill/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RISC-V 64</a:t>
            </a:r>
            <a:endParaRPr lang="en-US" sz="16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entry.asm</a:t>
            </a:r>
            <a:endParaRPr lang="en-US" sz="16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switch.S</a:t>
            </a:r>
            <a:endParaRPr lang="en-US" sz="16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trap.S</a:t>
            </a:r>
            <a:endParaRPr lang="en-US" sz="16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SBI timer / PLIC</a:t>
            </a:r>
            <a:endParaRPr lang="en-US" sz="16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Sv39/Sv48 页表</a:t>
            </a:r>
            <a:endParaRPr lang="en-US" sz="16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5" name="Text 3"/>
          <p:cNvSpPr/>
          <p:nvPr/>
        </p:nvSpPr>
        <p:spPr>
          <a:xfrm>
            <a:off x="4175760" y="2158994"/>
            <a:ext cx="3429000" cy="1874520"/>
          </a:xfrm>
          <a:prstGeom prst="rect">
            <a:avLst/>
          </a:prstGeom>
          <a:solidFill>
            <a:srgbClr val="FFFFFF"/>
          </a:solidFill>
          <a:ln w="10160">
            <a:noFill/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共享主干</a:t>
            </a:r>
            <a:endParaRPr lang="en-US" sz="16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 task / mm / fs / syscall / drivers / sync</a:t>
            </a:r>
            <a:endParaRPr lang="en-US" sz="16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统一 syscall 语义</a:t>
            </a:r>
            <a:endParaRPr lang="en-US" sz="16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统一 VFS 和进程模型</a:t>
            </a:r>
            <a:endParaRPr lang="en-US" sz="16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6" name="Text 4"/>
          <p:cNvSpPr/>
          <p:nvPr/>
        </p:nvSpPr>
        <p:spPr>
          <a:xfrm>
            <a:off x="7604760" y="2158994"/>
            <a:ext cx="2971800" cy="1874520"/>
          </a:xfrm>
          <a:prstGeom prst="rect">
            <a:avLst/>
          </a:prstGeom>
          <a:solidFill>
            <a:srgbClr val="F2F2F2"/>
          </a:solidFill>
          <a:ln w="10160">
            <a:noFill/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LoongArch 64</a:t>
            </a:r>
            <a:endParaRPr lang="en-US" sz="16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entry.asm</a:t>
            </a:r>
            <a:endParaRPr lang="en-US" sz="16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switch.S</a:t>
            </a:r>
            <a:endParaRPr lang="en-US" sz="16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trap.S</a:t>
            </a:r>
            <a:endParaRPr lang="en-US" sz="16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架构定时器 / PCI</a:t>
            </a:r>
            <a:endParaRPr lang="en-US" sz="16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LoongArch 页表</a:t>
            </a:r>
            <a:endParaRPr lang="en-US" sz="16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1203960" y="4484116"/>
          <a:ext cx="9372600" cy="1874522"/>
        </p:xfrm>
        <a:graphic>
          <a:graphicData uri="http://schemas.openxmlformats.org/drawingml/2006/table">
            <a:tbl>
              <a:tblPr/>
              <a:tblGrid>
                <a:gridCol w="3469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0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748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0" kern="1200" dirty="0">
                          <a:solidFill>
                            <a:srgbClr val="11111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等线" pitchFamily="34" charset="-120"/>
                        </a:rPr>
                        <a:t>适配点</a:t>
                      </a:r>
                      <a:endParaRPr lang="en-US" sz="1600" b="0" kern="1200" dirty="0">
                        <a:solidFill>
                          <a:srgbClr val="111111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等线" pitchFamily="34" charset="0"/>
                      </a:endParaRPr>
                    </a:p>
                  </a:txBody>
                  <a:tcPr marL="36576" marR="36576" marT="36576" marB="36576"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0" kern="1200" dirty="0">
                          <a:solidFill>
                            <a:srgbClr val="11111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等线" pitchFamily="34" charset="-120"/>
                        </a:rPr>
                        <a:t>收敛方式</a:t>
                      </a:r>
                      <a:endParaRPr lang="en-US" sz="1600" b="0" kern="1200" dirty="0">
                        <a:solidFill>
                          <a:srgbClr val="111111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等线" pitchFamily="34" charset="0"/>
                      </a:endParaRPr>
                    </a:p>
                  </a:txBody>
                  <a:tcPr marL="36576" marR="36576" marT="36576" marB="36576"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748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0" kern="1200" dirty="0">
                          <a:solidFill>
                            <a:srgbClr val="11111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等线" pitchFamily="34" charset="-120"/>
                        </a:rPr>
                        <a:t>入口与上下文</a:t>
                      </a:r>
                      <a:endParaRPr lang="en-US" sz="1600" b="0" kern="1200" dirty="0">
                        <a:solidFill>
                          <a:srgbClr val="111111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等线" pitchFamily="34" charset="0"/>
                      </a:endParaRPr>
                    </a:p>
                  </a:txBody>
                  <a:tcPr marL="36576" marR="36576" marT="36576" marB="36576"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0" kern="1200" dirty="0">
                          <a:solidFill>
                            <a:srgbClr val="11111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等线" pitchFamily="34" charset="-120"/>
                        </a:rPr>
                        <a:t>各架构独立 entry / switch / TrapContext</a:t>
                      </a:r>
                      <a:endParaRPr lang="en-US" sz="1600" b="0" kern="1200" dirty="0">
                        <a:solidFill>
                          <a:srgbClr val="111111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等线" pitchFamily="34" charset="0"/>
                      </a:endParaRPr>
                    </a:p>
                  </a:txBody>
                  <a:tcPr marL="36576" marR="36576" marT="36576" marB="36576"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48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0" kern="1200" dirty="0">
                          <a:solidFill>
                            <a:srgbClr val="11111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等线" pitchFamily="34" charset="-120"/>
                        </a:rPr>
                        <a:t>陷阱处理</a:t>
                      </a:r>
                      <a:endParaRPr lang="en-US" sz="1600" b="0" kern="1200" dirty="0">
                        <a:solidFill>
                          <a:srgbClr val="111111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等线" pitchFamily="34" charset="0"/>
                      </a:endParaRPr>
                    </a:p>
                  </a:txBody>
                  <a:tcPr marL="36576" marR="36576" marT="36576" marB="36576"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0" kern="1200" dirty="0">
                          <a:solidFill>
                            <a:srgbClr val="11111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等线" pitchFamily="34" charset="-120"/>
                        </a:rPr>
                        <a:t>最终都调用 syscall_with_current_task</a:t>
                      </a:r>
                      <a:endParaRPr lang="en-US" sz="1600" b="0" kern="1200" dirty="0">
                        <a:solidFill>
                          <a:srgbClr val="111111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等线" pitchFamily="34" charset="0"/>
                      </a:endParaRPr>
                    </a:p>
                  </a:txBody>
                  <a:tcPr marL="36576" marR="36576" marT="36576" marB="36576"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459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0" kern="1200" dirty="0">
                          <a:solidFill>
                            <a:srgbClr val="11111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等线" pitchFamily="34" charset="-120"/>
                        </a:rPr>
                        <a:t>块设备</a:t>
                      </a:r>
                      <a:endParaRPr lang="en-US" sz="1600" b="0" kern="1200" dirty="0">
                        <a:solidFill>
                          <a:srgbClr val="111111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等线" pitchFamily="34" charset="0"/>
                      </a:endParaRPr>
                    </a:p>
                  </a:txBody>
                  <a:tcPr marL="36576" marR="36576" marT="36576" marB="36576"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0" kern="1200" dirty="0">
                          <a:solidFill>
                            <a:srgbClr val="11111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等线" pitchFamily="34" charset="-120"/>
                        </a:rPr>
                        <a:t>RV 用 virtio-mmio，LA 用 virtio-pci，向上统一为 VirtIOBlock</a:t>
                      </a:r>
                      <a:endParaRPr lang="en-US" sz="1600" b="0" kern="1200" dirty="0">
                        <a:solidFill>
                          <a:srgbClr val="111111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等线" pitchFamily="34" charset="0"/>
                      </a:endParaRPr>
                    </a:p>
                  </a:txBody>
                  <a:tcPr marL="36576" marR="36576" marT="36576" marB="36576"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748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0" kern="1200" dirty="0">
                          <a:solidFill>
                            <a:srgbClr val="11111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等线" pitchFamily="34" charset="-120"/>
                        </a:rPr>
                        <a:t>信号返回</a:t>
                      </a:r>
                      <a:endParaRPr lang="en-US" sz="1600" b="0" kern="1200" dirty="0">
                        <a:solidFill>
                          <a:srgbClr val="111111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等线" pitchFamily="34" charset="0"/>
                      </a:endParaRPr>
                    </a:p>
                  </a:txBody>
                  <a:tcPr marL="36576" marR="36576" marT="36576" marB="36576"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0" kern="1200" dirty="0">
                          <a:solidFill>
                            <a:srgbClr val="11111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等线" pitchFamily="34" charset="-120"/>
                        </a:rPr>
                        <a:t>rt_sigreturn 架构相关，syscall 层语义一致</a:t>
                      </a:r>
                      <a:endParaRPr lang="en-US" sz="1600" b="0" kern="1200" dirty="0">
                        <a:solidFill>
                          <a:srgbClr val="111111"/>
                        </a:solidFill>
                        <a:latin typeface="仿宋" panose="02010609060101010101" pitchFamily="49" charset="-122"/>
                        <a:ea typeface="仿宋" panose="02010609060101010101" pitchFamily="49" charset="-122"/>
                        <a:cs typeface="等线" pitchFamily="34" charset="0"/>
                      </a:endParaRPr>
                    </a:p>
                  </a:txBody>
                  <a:tcPr marL="36576" marR="36576" marT="36576" marB="36576"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10" name="直接连接符 9"/>
          <p:cNvCxnSpPr/>
          <p:nvPr/>
        </p:nvCxnSpPr>
        <p:spPr>
          <a:xfrm>
            <a:off x="519545" y="1039091"/>
            <a:ext cx="7813964" cy="0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11641282" y="342901"/>
            <a:ext cx="259773" cy="58189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550718" y="155351"/>
            <a:ext cx="24416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dirty="0">
                <a:latin typeface="华文中宋" panose="02010600040101010101" pitchFamily="2" charset="-122"/>
                <a:ea typeface="华文中宋" panose="02010600040101010101" pitchFamily="2" charset="-122"/>
              </a:rPr>
              <a:t>总体架构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687774" y="1153391"/>
            <a:ext cx="2090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Dual</a:t>
            </a:r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067764" y="463127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双架构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60400" y="2021816"/>
            <a:ext cx="6532880" cy="812819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系统调用是用户态进入内核的唯一接口，我们按 Linux generic syscall ABI </a:t>
            </a:r>
            <a:r>
              <a:rPr lang="en-US" dirty="0" err="1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组织分发</a:t>
            </a:r>
            <a:r>
              <a:rPr lang="zh-CN" altLang="en-US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，同时有如下兼容策略</a:t>
            </a:r>
            <a:endParaRPr 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7589520" y="1907770"/>
            <a:ext cx="3942080" cy="4283729"/>
            <a:chOff x="7589520" y="1907771"/>
            <a:chExt cx="3942080" cy="2927120"/>
          </a:xfrm>
        </p:grpSpPr>
        <p:sp>
          <p:nvSpPr>
            <p:cNvPr id="4" name="Text 2"/>
            <p:cNvSpPr/>
            <p:nvPr/>
          </p:nvSpPr>
          <p:spPr>
            <a:xfrm>
              <a:off x="7589520" y="1907771"/>
              <a:ext cx="3942080" cy="731520"/>
            </a:xfrm>
            <a:prstGeom prst="rect">
              <a:avLst/>
            </a:prstGeom>
            <a:solidFill>
              <a:srgbClr val="F2F2F2"/>
            </a:solidFill>
            <a:ln w="10160">
              <a:noFill/>
            </a:ln>
          </p:spPr>
          <p:txBody>
            <a:bodyPr wrap="square" lIns="635" tIns="635" rIns="635" bIns="635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等线" pitchFamily="34" charset="-120"/>
                </a:rPr>
                <a:t>trap handler</a:t>
              </a:r>
              <a:endParaRPr lang="en-US" sz="16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  <a:p>
              <a:pPr marL="0" indent="0" algn="ctr">
                <a:buNone/>
              </a:pPr>
              <a:r>
                <a:rPr lang="en-US" sz="1600" dirty="0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等线" pitchFamily="34" charset="-120"/>
                </a:rPr>
                <a:t>提取 syscall id 与 6 个参数</a:t>
              </a:r>
              <a:endParaRPr lang="en-US" sz="16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6" name="Text 4"/>
            <p:cNvSpPr/>
            <p:nvPr/>
          </p:nvSpPr>
          <p:spPr>
            <a:xfrm>
              <a:off x="7589520" y="2639291"/>
              <a:ext cx="3942080" cy="731520"/>
            </a:xfrm>
            <a:prstGeom prst="rect">
              <a:avLst/>
            </a:prstGeom>
            <a:solidFill>
              <a:srgbClr val="FFFFFF"/>
            </a:solidFill>
            <a:ln w="10160">
              <a:noFill/>
            </a:ln>
          </p:spPr>
          <p:txBody>
            <a:bodyPr wrap="square" lIns="635" tIns="635" rIns="635" bIns="635" rtlCol="0" anchor="ctr"/>
            <a:lstStyle/>
            <a:p>
              <a:pPr algn="ctr"/>
              <a:r>
                <a:rPr lang="en-US" sz="1600" dirty="0" err="1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syscall_with_current_task</a:t>
              </a:r>
              <a:endParaRPr lang="en-US" sz="1600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  <a:p>
              <a:pPr algn="ctr"/>
              <a:r>
                <a:rPr lang="en-US" sz="1600" dirty="0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exit / seccomp / </a:t>
              </a:r>
              <a:r>
                <a:rPr lang="en-US" sz="1600" dirty="0" err="1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快速路径</a:t>
              </a:r>
              <a:endParaRPr lang="en-US" sz="1600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8" name="Text 6"/>
            <p:cNvSpPr/>
            <p:nvPr/>
          </p:nvSpPr>
          <p:spPr>
            <a:xfrm>
              <a:off x="7589520" y="3371851"/>
              <a:ext cx="3942080" cy="7315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0160">
              <a:noFill/>
            </a:ln>
          </p:spPr>
          <p:txBody>
            <a:bodyPr wrap="square" lIns="635" tIns="635" rIns="635" bIns="635" rtlCol="0" anchor="ctr"/>
            <a:lstStyle/>
            <a:p>
              <a:pPr indent="0" algn="ctr">
                <a:buNone/>
              </a:pPr>
              <a:r>
                <a:rPr lang="en-US" sz="1600" dirty="0" err="1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SyscallContext</a:t>
              </a:r>
              <a:endParaRPr lang="en-US" sz="1600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  <a:p>
              <a:pPr indent="0" algn="ctr">
                <a:buNone/>
              </a:pPr>
              <a:r>
                <a:rPr lang="en-US" sz="1600" dirty="0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current task + process</a:t>
              </a:r>
            </a:p>
          </p:txBody>
        </p:sp>
        <p:sp>
          <p:nvSpPr>
            <p:cNvPr id="10" name="Text 8"/>
            <p:cNvSpPr/>
            <p:nvPr/>
          </p:nvSpPr>
          <p:spPr>
            <a:xfrm>
              <a:off x="7589520" y="4103371"/>
              <a:ext cx="3942080" cy="731520"/>
            </a:xfrm>
            <a:prstGeom prst="rect">
              <a:avLst/>
            </a:prstGeom>
            <a:solidFill>
              <a:schemeClr val="bg1"/>
            </a:solidFill>
            <a:ln w="10160">
              <a:noFill/>
            </a:ln>
          </p:spPr>
          <p:txBody>
            <a:bodyPr wrap="square" lIns="635" tIns="635" rIns="635" bIns="635" rtlCol="0" anchor="ctr"/>
            <a:lstStyle/>
            <a:p>
              <a:pPr algn="ctr"/>
              <a:r>
                <a:rPr lang="en-US" sz="1600" dirty="0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handler</a:t>
              </a:r>
            </a:p>
            <a:p>
              <a:pPr algn="ctr"/>
              <a:r>
                <a:rPr lang="en-US" sz="1600" dirty="0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fs / process / mm / signal / net</a:t>
              </a:r>
            </a:p>
          </p:txBody>
        </p:sp>
      </p:grpSp>
      <p:sp>
        <p:nvSpPr>
          <p:cNvPr id="11" name="Text 9"/>
          <p:cNvSpPr/>
          <p:nvPr/>
        </p:nvSpPr>
        <p:spPr>
          <a:xfrm>
            <a:off x="14587024" y="3350880"/>
            <a:ext cx="2194560" cy="320040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兼容策略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724184" y="3853800"/>
            <a:ext cx="9784080" cy="393192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r>
              <a:rPr lang="en-US" sz="1420" dirty="0">
                <a:solidFill>
                  <a:srgbClr val="111111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ABI 层：寄存器参数、返回值编码、errno 映射与 Linux 保持一致</a:t>
            </a:r>
            <a:endParaRPr lang="en-US" sz="1420" dirty="0"/>
          </a:p>
        </p:txBody>
      </p:sp>
      <p:sp>
        <p:nvSpPr>
          <p:cNvPr id="13" name="Text 11"/>
          <p:cNvSpPr/>
          <p:nvPr/>
        </p:nvSpPr>
        <p:spPr>
          <a:xfrm>
            <a:off x="14724184" y="4384152"/>
            <a:ext cx="9784080" cy="393192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r>
              <a:rPr lang="en-US" sz="1420" dirty="0">
                <a:solidFill>
                  <a:srgbClr val="111111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语义层：对 busybox、musl、glibc、libctest、LTP 的常用路径实现真实资源变化</a:t>
            </a:r>
            <a:endParaRPr lang="en-US" sz="1420" dirty="0"/>
          </a:p>
        </p:txBody>
      </p:sp>
      <p:sp>
        <p:nvSpPr>
          <p:cNvPr id="14" name="Text 12"/>
          <p:cNvSpPr/>
          <p:nvPr/>
        </p:nvSpPr>
        <p:spPr>
          <a:xfrm>
            <a:off x="14724184" y="4914504"/>
            <a:ext cx="9784080" cy="393192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r>
              <a:rPr lang="en-US" sz="1420" dirty="0">
                <a:solidFill>
                  <a:srgbClr val="111111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折中层：对可安全 no-op 的 flag 用 CONTEXT / UNFINISHED 注释标明边界</a:t>
            </a:r>
            <a:endParaRPr lang="en-US" sz="1420" dirty="0"/>
          </a:p>
        </p:txBody>
      </p:sp>
      <p:cxnSp>
        <p:nvCxnSpPr>
          <p:cNvPr id="15" name="直接连接符 14"/>
          <p:cNvCxnSpPr/>
          <p:nvPr/>
        </p:nvCxnSpPr>
        <p:spPr>
          <a:xfrm>
            <a:off x="519545" y="1039091"/>
            <a:ext cx="7813964" cy="0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11641282" y="342901"/>
            <a:ext cx="259773" cy="58189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550718" y="155351"/>
            <a:ext cx="241808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dirty="0">
                <a:latin typeface="华文中宋" panose="02010600040101010101" pitchFamily="2" charset="-122"/>
                <a:ea typeface="华文中宋" panose="02010600040101010101" pitchFamily="2" charset="-122"/>
              </a:rPr>
              <a:t>内核模块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687774" y="1153391"/>
            <a:ext cx="2090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Syscall</a:t>
            </a:r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067764" y="463127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系统调用兼容</a:t>
            </a:r>
          </a:p>
        </p:txBody>
      </p:sp>
      <p:sp>
        <p:nvSpPr>
          <p:cNvPr id="21" name="矩形 20"/>
          <p:cNvSpPr/>
          <p:nvPr/>
        </p:nvSpPr>
        <p:spPr>
          <a:xfrm>
            <a:off x="-708660" y="3108389"/>
            <a:ext cx="2971800" cy="450678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-708660" y="4130070"/>
            <a:ext cx="2971800" cy="450678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-708660" y="5126028"/>
            <a:ext cx="2971800" cy="450678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24" name="文本框 23"/>
          <p:cNvSpPr txBox="1"/>
          <p:nvPr/>
        </p:nvSpPr>
        <p:spPr>
          <a:xfrm>
            <a:off x="984165" y="3141568"/>
            <a:ext cx="1188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ABI </a:t>
            </a:r>
            <a:r>
              <a:rPr lang="zh-CN" altLang="en-US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层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984165" y="4170743"/>
            <a:ext cx="1188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语义层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984165" y="5151751"/>
            <a:ext cx="1188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折中层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2415365" y="3129488"/>
            <a:ext cx="4777915" cy="753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dirty="0" err="1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寄存器参数、返回值编码、errno</a:t>
            </a:r>
            <a:r>
              <a:rPr lang="en-US" altLang="zh-CN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 </a:t>
            </a:r>
            <a:r>
              <a:rPr lang="en-US" altLang="zh-CN" dirty="0" err="1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映射与</a:t>
            </a:r>
            <a:r>
              <a:rPr lang="en-US" altLang="zh-CN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 Linux </a:t>
            </a:r>
            <a:r>
              <a:rPr lang="en-US" altLang="zh-CN" dirty="0" err="1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保持一致</a:t>
            </a:r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2415365" y="4120118"/>
            <a:ext cx="4422316" cy="753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对 </a:t>
            </a:r>
            <a:r>
              <a:rPr lang="en-US" altLang="zh-CN" dirty="0" err="1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busybox、musl、glibc、libctest、LTP</a:t>
            </a:r>
            <a:r>
              <a:rPr lang="en-US" altLang="zh-CN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dirty="0" err="1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的常用路径实现真实资源变化</a:t>
            </a:r>
            <a:endParaRPr lang="zh-CN" altLang="en-US" dirty="0">
              <a:solidFill>
                <a:srgbClr val="11111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2415363" y="5136396"/>
            <a:ext cx="4777915" cy="753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dirty="0" err="1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对可安全</a:t>
            </a:r>
            <a:r>
              <a:rPr lang="en-US" altLang="zh-CN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no-op 的 flag 用 CONTEXT / UNFINISHED </a:t>
            </a:r>
            <a:r>
              <a:rPr lang="en-US" altLang="zh-CN" dirty="0" err="1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注释标明边界</a:t>
            </a:r>
            <a:endParaRPr lang="zh-CN" altLang="en-US" dirty="0">
              <a:solidFill>
                <a:srgbClr val="11111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9"/>
          <p:cNvSpPr/>
          <p:nvPr/>
        </p:nvSpPr>
        <p:spPr>
          <a:xfrm>
            <a:off x="14587024" y="3350880"/>
            <a:ext cx="2194560" cy="320040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兼容策略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724184" y="3853800"/>
            <a:ext cx="9784080" cy="393192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r>
              <a:rPr lang="en-US" sz="1420" dirty="0">
                <a:solidFill>
                  <a:srgbClr val="111111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ABI 层：寄存器参数、返回值编码、errno 映射与 Linux 保持一致</a:t>
            </a:r>
            <a:endParaRPr lang="en-US" sz="1420" dirty="0"/>
          </a:p>
        </p:txBody>
      </p:sp>
      <p:sp>
        <p:nvSpPr>
          <p:cNvPr id="13" name="Text 11"/>
          <p:cNvSpPr/>
          <p:nvPr/>
        </p:nvSpPr>
        <p:spPr>
          <a:xfrm>
            <a:off x="14724184" y="4384152"/>
            <a:ext cx="9784080" cy="393192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r>
              <a:rPr lang="en-US" sz="1420" dirty="0">
                <a:solidFill>
                  <a:srgbClr val="111111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语义层：对 busybox、musl、glibc、libctest、LTP 的常用路径实现真实资源变化</a:t>
            </a:r>
            <a:endParaRPr lang="en-US" sz="1420" dirty="0"/>
          </a:p>
        </p:txBody>
      </p:sp>
      <p:sp>
        <p:nvSpPr>
          <p:cNvPr id="14" name="Text 12"/>
          <p:cNvSpPr/>
          <p:nvPr/>
        </p:nvSpPr>
        <p:spPr>
          <a:xfrm>
            <a:off x="14724184" y="4914504"/>
            <a:ext cx="9784080" cy="393192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r>
              <a:rPr lang="en-US" sz="1420" dirty="0">
                <a:solidFill>
                  <a:srgbClr val="111111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折中层：对可安全 no-op 的 flag 用 CONTEXT / UNFINISHED 注释标明边界</a:t>
            </a:r>
            <a:endParaRPr lang="en-US" sz="1420" dirty="0"/>
          </a:p>
        </p:txBody>
      </p:sp>
      <p:cxnSp>
        <p:nvCxnSpPr>
          <p:cNvPr id="15" name="直接连接符 14"/>
          <p:cNvCxnSpPr/>
          <p:nvPr/>
        </p:nvCxnSpPr>
        <p:spPr>
          <a:xfrm>
            <a:off x="519545" y="1039091"/>
            <a:ext cx="7813964" cy="0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11641282" y="342901"/>
            <a:ext cx="259773" cy="58189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550718" y="155351"/>
            <a:ext cx="241808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dirty="0">
                <a:latin typeface="华文中宋" panose="02010600040101010101" pitchFamily="2" charset="-122"/>
                <a:ea typeface="华文中宋" panose="02010600040101010101" pitchFamily="2" charset="-122"/>
              </a:rPr>
              <a:t>内核模块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687774" y="1153391"/>
            <a:ext cx="2090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Syscall</a:t>
            </a:r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067764" y="463127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系统调用兼容</a:t>
            </a:r>
          </a:p>
        </p:txBody>
      </p:sp>
      <p:graphicFrame>
        <p:nvGraphicFramePr>
          <p:cNvPr id="2" name="Table 0"/>
          <p:cNvGraphicFramePr>
            <a:graphicFrameLocks noGrp="1"/>
          </p:cNvGraphicFramePr>
          <p:nvPr/>
        </p:nvGraphicFramePr>
        <p:xfrm>
          <a:off x="777240" y="1600200"/>
          <a:ext cx="10698480" cy="4114803"/>
        </p:xfrm>
        <a:graphic>
          <a:graphicData uri="http://schemas.openxmlformats.org/drawingml/2006/table">
            <a:tbl>
              <a:tblPr/>
              <a:tblGrid>
                <a:gridCol w="5349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49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782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1111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等线" pitchFamily="34" charset="-120"/>
                        </a:rPr>
                        <a:t>类别</a:t>
                      </a:r>
                      <a:endParaRPr lang="en-US" sz="1600" dirty="0">
                        <a:latin typeface="仿宋" panose="02010609060101010101" pitchFamily="49" charset="-122"/>
                        <a:ea typeface="仿宋" panose="02010609060101010101" pitchFamily="49" charset="-122"/>
                        <a:cs typeface="等线" pitchFamily="34" charset="0"/>
                      </a:endParaRPr>
                    </a:p>
                  </a:txBody>
                  <a:tcPr marL="36576" marR="36576" marT="36576" marB="36576"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1111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等线" pitchFamily="34" charset="-120"/>
                        </a:rPr>
                        <a:t>覆盖重点</a:t>
                      </a:r>
                      <a:endParaRPr lang="en-US" sz="1600" dirty="0">
                        <a:latin typeface="仿宋" panose="02010609060101010101" pitchFamily="49" charset="-122"/>
                        <a:ea typeface="仿宋" panose="02010609060101010101" pitchFamily="49" charset="-122"/>
                        <a:cs typeface="等线" pitchFamily="34" charset="0"/>
                      </a:endParaRPr>
                    </a:p>
                  </a:txBody>
                  <a:tcPr marL="36576" marR="36576" marT="36576" marB="36576"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82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等线" pitchFamily="34" charset="-120"/>
                        </a:rPr>
                        <a:t>进程与线程</a:t>
                      </a:r>
                      <a:endParaRPr lang="en-US" sz="1600" dirty="0">
                        <a:latin typeface="仿宋" panose="02010609060101010101" pitchFamily="49" charset="-122"/>
                        <a:ea typeface="仿宋" panose="02010609060101010101" pitchFamily="49" charset="-122"/>
                        <a:cs typeface="等线" pitchFamily="34" charset="0"/>
                      </a:endParaRPr>
                    </a:p>
                  </a:txBody>
                  <a:tcPr marL="36576" marR="36576" marT="36576" marB="36576"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等线" pitchFamily="34" charset="-120"/>
                        </a:rPr>
                        <a:t>clone / clone3 / execve / execveat / wait4 / waitid / exit_group / set_tid_address</a:t>
                      </a:r>
                      <a:endParaRPr lang="en-US" sz="1200" dirty="0">
                        <a:latin typeface="仿宋" panose="02010609060101010101" pitchFamily="49" charset="-122"/>
                        <a:ea typeface="仿宋" panose="02010609060101010101" pitchFamily="49" charset="-122"/>
                        <a:cs typeface="等线" pitchFamily="34" charset="0"/>
                      </a:endParaRPr>
                    </a:p>
                  </a:txBody>
                  <a:tcPr marL="36576" marR="36576" marT="36576" marB="36576"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82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等线" pitchFamily="34" charset="-120"/>
                        </a:rPr>
                        <a:t>内存</a:t>
                      </a:r>
                      <a:endParaRPr lang="en-US" sz="1600" dirty="0">
                        <a:latin typeface="仿宋" panose="02010609060101010101" pitchFamily="49" charset="-122"/>
                        <a:ea typeface="仿宋" panose="02010609060101010101" pitchFamily="49" charset="-122"/>
                        <a:cs typeface="等线" pitchFamily="34" charset="0"/>
                      </a:endParaRPr>
                    </a:p>
                  </a:txBody>
                  <a:tcPr marL="36576" marR="36576" marT="36576" marB="36576"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等线" pitchFamily="34" charset="-120"/>
                        </a:rPr>
                        <a:t>brk / mmap / munmap / mprotect / mremap / madvise / mlock / msync / SysV shm</a:t>
                      </a:r>
                      <a:endParaRPr lang="en-US" sz="1200" dirty="0">
                        <a:latin typeface="仿宋" panose="02010609060101010101" pitchFamily="49" charset="-122"/>
                        <a:ea typeface="仿宋" panose="02010609060101010101" pitchFamily="49" charset="-122"/>
                        <a:cs typeface="等线" pitchFamily="34" charset="0"/>
                      </a:endParaRPr>
                    </a:p>
                  </a:txBody>
                  <a:tcPr marL="36576" marR="36576" marT="36576" marB="36576"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82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等线" pitchFamily="34" charset="-120"/>
                        </a:rPr>
                        <a:t>文件与路径</a:t>
                      </a:r>
                      <a:endParaRPr lang="en-US" sz="1600" dirty="0">
                        <a:latin typeface="仿宋" panose="02010609060101010101" pitchFamily="49" charset="-122"/>
                        <a:ea typeface="仿宋" panose="02010609060101010101" pitchFamily="49" charset="-122"/>
                        <a:cs typeface="等线" pitchFamily="34" charset="0"/>
                      </a:endParaRPr>
                    </a:p>
                  </a:txBody>
                  <a:tcPr marL="36576" marR="36576" marT="36576" marB="36576"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等线" pitchFamily="34" charset="-120"/>
                        </a:rPr>
                        <a:t>openat / readv / writev / getdents64 / statx / renameat2 / linkat / symlinkat / xattr</a:t>
                      </a:r>
                      <a:endParaRPr lang="en-US" sz="1200" dirty="0">
                        <a:latin typeface="仿宋" panose="02010609060101010101" pitchFamily="49" charset="-122"/>
                        <a:ea typeface="仿宋" panose="02010609060101010101" pitchFamily="49" charset="-122"/>
                        <a:cs typeface="等线" pitchFamily="34" charset="0"/>
                      </a:endParaRPr>
                    </a:p>
                  </a:txBody>
                  <a:tcPr marL="36576" marR="36576" marT="36576" marB="36576"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782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等线" pitchFamily="34" charset="-120"/>
                        </a:rPr>
                        <a:t>同步与事件</a:t>
                      </a:r>
                      <a:endParaRPr lang="en-US" sz="1600" dirty="0">
                        <a:latin typeface="仿宋" panose="02010609060101010101" pitchFamily="49" charset="-122"/>
                        <a:ea typeface="仿宋" panose="02010609060101010101" pitchFamily="49" charset="-122"/>
                        <a:cs typeface="等线" pitchFamily="34" charset="0"/>
                      </a:endParaRPr>
                    </a:p>
                  </a:txBody>
                  <a:tcPr marL="36576" marR="36576" marT="36576" marB="36576"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等线" pitchFamily="34" charset="-120"/>
                        </a:rPr>
                        <a:t>futex / poll / ppoll / pselect6 / epoll / eventfd / timerfd</a:t>
                      </a:r>
                      <a:endParaRPr lang="en-US" sz="1200" dirty="0">
                        <a:latin typeface="仿宋" panose="02010609060101010101" pitchFamily="49" charset="-122"/>
                        <a:ea typeface="仿宋" panose="02010609060101010101" pitchFamily="49" charset="-122"/>
                        <a:cs typeface="等线" pitchFamily="34" charset="0"/>
                      </a:endParaRPr>
                    </a:p>
                  </a:txBody>
                  <a:tcPr marL="36576" marR="36576" marT="36576" marB="36576"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782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等线" pitchFamily="34" charset="-120"/>
                        </a:rPr>
                        <a:t>信号</a:t>
                      </a:r>
                      <a:endParaRPr lang="en-US" sz="1600" dirty="0">
                        <a:latin typeface="仿宋" panose="02010609060101010101" pitchFamily="49" charset="-122"/>
                        <a:ea typeface="仿宋" panose="02010609060101010101" pitchFamily="49" charset="-122"/>
                        <a:cs typeface="等线" pitchFamily="34" charset="0"/>
                      </a:endParaRPr>
                    </a:p>
                  </a:txBody>
                  <a:tcPr marL="36576" marR="36576" marT="36576" marB="36576"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等线" pitchFamily="34" charset="-120"/>
                        </a:rPr>
                        <a:t>rt_sigaction / rt_sigprocmask / rt_sigreturn / rt_sigtimedwait / tgkill / tkill</a:t>
                      </a:r>
                      <a:endParaRPr lang="en-US" sz="1200" dirty="0">
                        <a:latin typeface="仿宋" panose="02010609060101010101" pitchFamily="49" charset="-122"/>
                        <a:ea typeface="仿宋" panose="02010609060101010101" pitchFamily="49" charset="-122"/>
                        <a:cs typeface="等线" pitchFamily="34" charset="0"/>
                      </a:endParaRPr>
                    </a:p>
                  </a:txBody>
                  <a:tcPr marL="36576" marR="36576" marT="36576" marB="36576"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782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等线" pitchFamily="34" charset="-120"/>
                        </a:rPr>
                        <a:t>网络</a:t>
                      </a:r>
                      <a:endParaRPr lang="en-US" sz="1600" dirty="0">
                        <a:latin typeface="仿宋" panose="02010609060101010101" pitchFamily="49" charset="-122"/>
                        <a:ea typeface="仿宋" panose="02010609060101010101" pitchFamily="49" charset="-122"/>
                        <a:cs typeface="等线" pitchFamily="34" charset="0"/>
                      </a:endParaRPr>
                    </a:p>
                  </a:txBody>
                  <a:tcPr marL="36576" marR="36576" marT="36576" marB="36576"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仿宋" panose="02010609060101010101" pitchFamily="49" charset="-122"/>
                          <a:ea typeface="仿宋" panose="02010609060101010101" pitchFamily="49" charset="-122"/>
                          <a:cs typeface="等线" pitchFamily="34" charset="-120"/>
                        </a:rPr>
                        <a:t>socket / socketpair / bind / listen / accept / connect / sendmsg / recvmsg / socket options</a:t>
                      </a:r>
                      <a:endParaRPr lang="en-US" sz="1200" dirty="0">
                        <a:latin typeface="仿宋" panose="02010609060101010101" pitchFamily="49" charset="-122"/>
                        <a:ea typeface="仿宋" panose="02010609060101010101" pitchFamily="49" charset="-122"/>
                        <a:cs typeface="等线" pitchFamily="34" charset="0"/>
                      </a:endParaRPr>
                    </a:p>
                  </a:txBody>
                  <a:tcPr marL="36576" marR="36576" marT="36576" marB="36576" anchor="ctr">
                    <a:lnL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22960" y="5943599"/>
            <a:ext cx="10698480" cy="759049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当前覆盖约 250 个 syscall。</a:t>
            </a:r>
            <a:endParaRPr lang="en-US" sz="16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38200" y="5119454"/>
            <a:ext cx="10515600" cy="740095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文件系统的核心目标是把 EXT4、tmpfs、devfs、procfs、pipe、socket、eventfd、timerfd 等对象统一成 fd 可操作的 File。</a:t>
            </a:r>
            <a:endParaRPr 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1752600" y="1839423"/>
            <a:ext cx="8519159" cy="2606272"/>
            <a:chOff x="2067561" y="2551176"/>
            <a:chExt cx="7660638" cy="2178536"/>
          </a:xfrm>
        </p:grpSpPr>
        <p:sp>
          <p:nvSpPr>
            <p:cNvPr id="4" name="Text 2"/>
            <p:cNvSpPr/>
            <p:nvPr/>
          </p:nvSpPr>
          <p:spPr>
            <a:xfrm>
              <a:off x="2067561" y="2551176"/>
              <a:ext cx="7660638" cy="566928"/>
            </a:xfrm>
            <a:prstGeom prst="rect">
              <a:avLst/>
            </a:prstGeom>
            <a:solidFill>
              <a:srgbClr val="F2F2F2"/>
            </a:solidFill>
            <a:ln w="10160">
              <a:noFill/>
            </a:ln>
          </p:spPr>
          <p:txBody>
            <a:bodyPr wrap="square" lIns="635" tIns="635" rIns="635" bIns="635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等线" pitchFamily="34" charset="-120"/>
                </a:rPr>
                <a:t>syscall 层</a:t>
              </a:r>
              <a:endParaRPr lang="en-US" sz="14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  <a:p>
              <a:pPr marL="0" indent="0" algn="ctr">
                <a:buNone/>
              </a:pPr>
              <a:r>
                <a:rPr lang="en-US" sz="1400" dirty="0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等线" pitchFamily="34" charset="-120"/>
                </a:rPr>
                <a:t>open/read/write/stat/mmap/poll</a:t>
              </a:r>
              <a:endParaRPr lang="en-US" sz="14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6" name="Text 4"/>
            <p:cNvSpPr/>
            <p:nvPr/>
          </p:nvSpPr>
          <p:spPr>
            <a:xfrm>
              <a:off x="2067561" y="3118104"/>
              <a:ext cx="7660638" cy="566928"/>
            </a:xfrm>
            <a:prstGeom prst="rect">
              <a:avLst/>
            </a:prstGeom>
            <a:solidFill>
              <a:srgbClr val="FFFFFF"/>
            </a:solidFill>
            <a:ln w="10160">
              <a:noFill/>
            </a:ln>
          </p:spPr>
          <p:txBody>
            <a:bodyPr wrap="square" lIns="635" tIns="635" rIns="635" bIns="635" rtlCol="0" anchor="ctr"/>
            <a:lstStyle/>
            <a:p>
              <a:pPr algn="ctr"/>
              <a:r>
                <a:rPr lang="en-US" sz="1400" dirty="0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File trait</a:t>
              </a:r>
            </a:p>
            <a:p>
              <a:pPr algn="ctr"/>
              <a:r>
                <a:rPr lang="en-US" sz="1400" dirty="0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read / write / poll / stat / seek / mmap / sync</a:t>
              </a:r>
            </a:p>
          </p:txBody>
        </p:sp>
        <p:sp>
          <p:nvSpPr>
            <p:cNvPr id="8" name="Text 6"/>
            <p:cNvSpPr/>
            <p:nvPr/>
          </p:nvSpPr>
          <p:spPr>
            <a:xfrm>
              <a:off x="2067561" y="3685032"/>
              <a:ext cx="7660638" cy="566928"/>
            </a:xfrm>
            <a:prstGeom prst="rect">
              <a:avLst/>
            </a:prstGeom>
            <a:solidFill>
              <a:srgbClr val="F2F2F2"/>
            </a:solidFill>
            <a:ln w="10160">
              <a:noFill/>
            </a:ln>
          </p:spPr>
          <p:txBody>
            <a:bodyPr wrap="square" lIns="635" tIns="635" rIns="635" bIns="635" rtlCol="0" anchor="ctr"/>
            <a:lstStyle/>
            <a:p>
              <a:pPr indent="0" algn="ctr">
                <a:buNone/>
              </a:pPr>
              <a:r>
                <a:rPr lang="en-US" sz="1400" dirty="0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VFS</a:t>
              </a:r>
            </a:p>
            <a:p>
              <a:pPr indent="0" algn="ctr">
                <a:buNone/>
              </a:pPr>
              <a:r>
                <a:rPr lang="en-US" sz="1400" dirty="0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path resolve / mount / dentry / </a:t>
              </a:r>
              <a:r>
                <a:rPr lang="en-US" sz="1400" dirty="0" err="1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fd</a:t>
              </a:r>
              <a:r>
                <a:rPr lang="en-US" sz="1400" dirty="0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 table</a:t>
              </a:r>
            </a:p>
          </p:txBody>
        </p:sp>
        <p:sp>
          <p:nvSpPr>
            <p:cNvPr id="10" name="Text 8"/>
            <p:cNvSpPr/>
            <p:nvPr/>
          </p:nvSpPr>
          <p:spPr>
            <a:xfrm>
              <a:off x="2067561" y="4251960"/>
              <a:ext cx="960120" cy="475488"/>
            </a:xfrm>
            <a:prstGeom prst="rect">
              <a:avLst/>
            </a:prstGeom>
            <a:solidFill>
              <a:srgbClr val="FFFFFF"/>
            </a:solidFill>
            <a:ln w="10160">
              <a:noFill/>
            </a:ln>
          </p:spPr>
          <p:txBody>
            <a:bodyPr wrap="square" lIns="635" tIns="635" rIns="635" bIns="635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EXT4</a:t>
              </a:r>
            </a:p>
          </p:txBody>
        </p:sp>
        <p:sp>
          <p:nvSpPr>
            <p:cNvPr id="11" name="Text 9"/>
            <p:cNvSpPr/>
            <p:nvPr/>
          </p:nvSpPr>
          <p:spPr>
            <a:xfrm>
              <a:off x="3027681" y="4254224"/>
              <a:ext cx="960120" cy="475488"/>
            </a:xfrm>
            <a:prstGeom prst="rect">
              <a:avLst/>
            </a:prstGeom>
            <a:solidFill>
              <a:srgbClr val="FFFFFF"/>
            </a:solidFill>
            <a:ln w="10160">
              <a:noFill/>
            </a:ln>
          </p:spPr>
          <p:txBody>
            <a:bodyPr wrap="square" lIns="635" tIns="635" rIns="635" bIns="635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FAT</a:t>
              </a:r>
              <a:endParaRPr lang="en-US" sz="102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3987801" y="4251960"/>
              <a:ext cx="960120" cy="475488"/>
            </a:xfrm>
            <a:prstGeom prst="rect">
              <a:avLst/>
            </a:prstGeom>
            <a:solidFill>
              <a:srgbClr val="FFFFFF"/>
            </a:solidFill>
            <a:ln w="10160">
              <a:noFill/>
            </a:ln>
          </p:spPr>
          <p:txBody>
            <a:bodyPr wrap="square" lIns="635" tIns="635" rIns="635" bIns="635" rtlCol="0" anchor="ctr"/>
            <a:lstStyle/>
            <a:p>
              <a:pPr algn="ctr"/>
              <a:r>
                <a:rPr lang="en-US" sz="1400" dirty="0" err="1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tmpfs</a:t>
              </a:r>
              <a:endParaRPr lang="en-US" sz="1400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13" name="Text 11"/>
            <p:cNvSpPr/>
            <p:nvPr/>
          </p:nvSpPr>
          <p:spPr>
            <a:xfrm>
              <a:off x="4937760" y="4251960"/>
              <a:ext cx="960120" cy="475488"/>
            </a:xfrm>
            <a:prstGeom prst="rect">
              <a:avLst/>
            </a:prstGeom>
            <a:solidFill>
              <a:srgbClr val="FFFFFF"/>
            </a:solidFill>
            <a:ln w="10160">
              <a:noFill/>
            </a:ln>
          </p:spPr>
          <p:txBody>
            <a:bodyPr wrap="square" lIns="635" tIns="635" rIns="635" bIns="635" rtlCol="0" anchor="ctr"/>
            <a:lstStyle/>
            <a:p>
              <a:pPr algn="ctr"/>
              <a:r>
                <a:rPr lang="en-US" sz="1400" dirty="0" err="1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devfs</a:t>
              </a:r>
              <a:endParaRPr lang="en-US" sz="1400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14" name="Text 12"/>
            <p:cNvSpPr/>
            <p:nvPr/>
          </p:nvSpPr>
          <p:spPr>
            <a:xfrm>
              <a:off x="5902960" y="4254224"/>
              <a:ext cx="960120" cy="475488"/>
            </a:xfrm>
            <a:prstGeom prst="rect">
              <a:avLst/>
            </a:prstGeom>
            <a:solidFill>
              <a:srgbClr val="FFFFFF"/>
            </a:solidFill>
            <a:ln w="10160">
              <a:noFill/>
            </a:ln>
          </p:spPr>
          <p:txBody>
            <a:bodyPr wrap="square" lIns="635" tIns="635" rIns="635" bIns="635" rtlCol="0" anchor="ctr"/>
            <a:lstStyle/>
            <a:p>
              <a:pPr marL="0" indent="0" algn="ctr">
                <a:buNone/>
              </a:pPr>
              <a:r>
                <a:rPr lang="en-US" sz="1400" dirty="0" err="1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procfs</a:t>
              </a:r>
              <a:endParaRPr lang="en-US" sz="1400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15" name="Text 13"/>
            <p:cNvSpPr/>
            <p:nvPr/>
          </p:nvSpPr>
          <p:spPr>
            <a:xfrm>
              <a:off x="6863080" y="4251960"/>
              <a:ext cx="960120" cy="475488"/>
            </a:xfrm>
            <a:prstGeom prst="rect">
              <a:avLst/>
            </a:prstGeom>
            <a:solidFill>
              <a:srgbClr val="FFFFFF"/>
            </a:solidFill>
            <a:ln w="10160">
              <a:noFill/>
            </a:ln>
          </p:spPr>
          <p:txBody>
            <a:bodyPr wrap="square" lIns="635" tIns="635" rIns="635" bIns="635" rtlCol="0" anchor="ctr"/>
            <a:lstStyle/>
            <a:p>
              <a:pPr marL="0" indent="0" algn="ctr">
                <a:buNone/>
              </a:pPr>
              <a:r>
                <a:rPr lang="en-US" sz="1400" dirty="0" err="1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cgroupfs</a:t>
              </a:r>
              <a:endParaRPr lang="en-US" sz="102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7823200" y="4254224"/>
              <a:ext cx="960120" cy="475488"/>
            </a:xfrm>
            <a:prstGeom prst="rect">
              <a:avLst/>
            </a:prstGeom>
            <a:solidFill>
              <a:srgbClr val="FFFFFF"/>
            </a:solidFill>
            <a:ln w="10160">
              <a:noFill/>
            </a:ln>
          </p:spPr>
          <p:txBody>
            <a:bodyPr wrap="square" lIns="635" tIns="635" rIns="635" bIns="635" rtlCol="0" anchor="ctr"/>
            <a:lstStyle/>
            <a:p>
              <a:pPr marL="0" indent="0" algn="ctr">
                <a:buNone/>
              </a:pPr>
              <a:r>
                <a:rPr lang="en-US" sz="1400" dirty="0" err="1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overlayfs</a:t>
              </a:r>
              <a:endParaRPr lang="en-US" sz="102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8768079" y="4254224"/>
              <a:ext cx="960120" cy="475488"/>
            </a:xfrm>
            <a:prstGeom prst="rect">
              <a:avLst/>
            </a:prstGeom>
            <a:solidFill>
              <a:srgbClr val="FFFFFF"/>
            </a:solidFill>
            <a:ln w="10160">
              <a:noFill/>
            </a:ln>
          </p:spPr>
          <p:txBody>
            <a:bodyPr wrap="square" lIns="635" tIns="635" rIns="635" bIns="635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等线" pitchFamily="34" charset="-120"/>
                </a:rPr>
                <a:t>staticfs</a:t>
              </a:r>
              <a:endParaRPr lang="en-US" sz="14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</p:grpSp>
      <p:cxnSp>
        <p:nvCxnSpPr>
          <p:cNvPr id="19" name="直接连接符 18"/>
          <p:cNvCxnSpPr/>
          <p:nvPr/>
        </p:nvCxnSpPr>
        <p:spPr>
          <a:xfrm>
            <a:off x="519545" y="1039091"/>
            <a:ext cx="7813964" cy="0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11641282" y="342901"/>
            <a:ext cx="259773" cy="58189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550718" y="155351"/>
            <a:ext cx="241808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4400" dirty="0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内核</a:t>
            </a:r>
            <a:r>
              <a:rPr lang="zh-CN" altLang="en-US" sz="4400" dirty="0">
                <a:latin typeface="华文中宋" panose="02010600040101010101" pitchFamily="2" charset="-122"/>
                <a:ea typeface="华文中宋" panose="02010600040101010101" pitchFamily="2" charset="-122"/>
              </a:rPr>
              <a:t>模块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687774" y="1153391"/>
            <a:ext cx="2090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File</a:t>
            </a:r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067764" y="463127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文件系统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组合 19"/>
          <p:cNvGrpSpPr/>
          <p:nvPr/>
        </p:nvGrpSpPr>
        <p:grpSpPr>
          <a:xfrm>
            <a:off x="7299951" y="1833234"/>
            <a:ext cx="4341331" cy="3985670"/>
            <a:chOff x="7299951" y="1833234"/>
            <a:chExt cx="3652529" cy="2568771"/>
          </a:xfrm>
        </p:grpSpPr>
        <p:sp>
          <p:nvSpPr>
            <p:cNvPr id="8" name="Text 6"/>
            <p:cNvSpPr/>
            <p:nvPr/>
          </p:nvSpPr>
          <p:spPr>
            <a:xfrm>
              <a:off x="7299960" y="1833234"/>
              <a:ext cx="3652520" cy="475488"/>
            </a:xfrm>
            <a:prstGeom prst="rect">
              <a:avLst/>
            </a:prstGeom>
            <a:solidFill>
              <a:srgbClr val="F2F2F2"/>
            </a:solidFill>
            <a:ln w="10160">
              <a:noFill/>
            </a:ln>
          </p:spPr>
          <p:txBody>
            <a:bodyPr wrap="square" lIns="635" tIns="635" rIns="635" bIns="635" rtlCol="0" anchor="ctr"/>
            <a:lstStyle/>
            <a:p>
              <a:pPr marL="0" indent="0" algn="ctr">
                <a:buNone/>
              </a:pPr>
              <a:r>
                <a:rPr lang="en-US" dirty="0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Consolas" panose="020B0609020204030204" pitchFamily="34" charset="-120"/>
                </a:rPr>
                <a:t>MemorySet</a:t>
              </a:r>
              <a:endParaRPr lang="en-US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10" name="Text 8"/>
            <p:cNvSpPr/>
            <p:nvPr/>
          </p:nvSpPr>
          <p:spPr>
            <a:xfrm>
              <a:off x="7299959" y="2308722"/>
              <a:ext cx="3652520" cy="777240"/>
            </a:xfrm>
            <a:prstGeom prst="rect">
              <a:avLst/>
            </a:prstGeom>
            <a:solidFill>
              <a:srgbClr val="FFFFFF"/>
            </a:solidFill>
            <a:ln w="10160">
              <a:noFill/>
            </a:ln>
          </p:spPr>
          <p:txBody>
            <a:bodyPr wrap="square" lIns="635" tIns="635" rIns="635" bIns="635" rtlCol="0" anchor="ctr"/>
            <a:lstStyle/>
            <a:p>
              <a:pPr algn="ctr"/>
              <a:r>
                <a:rPr lang="en-US" dirty="0" err="1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MapArea</a:t>
              </a:r>
              <a:r>
                <a:rPr lang="en-US" dirty="0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[]</a:t>
              </a:r>
            </a:p>
            <a:p>
              <a:pPr algn="ctr"/>
              <a:r>
                <a:rPr lang="en-US" dirty="0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code / data / heap / stack / mmap / </a:t>
              </a:r>
              <a:r>
                <a:rPr lang="en-US" dirty="0" err="1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shm</a:t>
              </a:r>
              <a:endParaRPr lang="en-US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12" name="Text 10"/>
            <p:cNvSpPr/>
            <p:nvPr/>
          </p:nvSpPr>
          <p:spPr>
            <a:xfrm>
              <a:off x="7299959" y="3085269"/>
              <a:ext cx="3652513" cy="658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0160">
              <a:noFill/>
            </a:ln>
          </p:spPr>
          <p:txBody>
            <a:bodyPr wrap="square" lIns="635" tIns="635" rIns="635" bIns="635" rtlCol="0" anchor="ctr"/>
            <a:lstStyle/>
            <a:p>
              <a:pPr indent="0" algn="ctr">
                <a:buNone/>
              </a:pPr>
              <a:r>
                <a:rPr lang="en-US" dirty="0" err="1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PageTable</a:t>
              </a:r>
              <a:endParaRPr lang="en-US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  <a:p>
              <a:pPr indent="0" algn="ctr">
                <a:buNone/>
              </a:pPr>
              <a:r>
                <a:rPr lang="en-US" dirty="0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RISC-V / LoongArch trait </a:t>
              </a:r>
              <a:r>
                <a:rPr lang="en-US" dirty="0" err="1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抽象</a:t>
              </a:r>
              <a:endParaRPr lang="en-US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14" name="Text 12"/>
            <p:cNvSpPr/>
            <p:nvPr/>
          </p:nvSpPr>
          <p:spPr>
            <a:xfrm>
              <a:off x="7299951" y="3743637"/>
              <a:ext cx="3652509" cy="658368"/>
            </a:xfrm>
            <a:prstGeom prst="rect">
              <a:avLst/>
            </a:prstGeom>
            <a:solidFill>
              <a:schemeClr val="bg1"/>
            </a:solidFill>
            <a:ln w="10160">
              <a:noFill/>
            </a:ln>
          </p:spPr>
          <p:txBody>
            <a:bodyPr wrap="square" lIns="635" tIns="635" rIns="635" bIns="635" rtlCol="0" anchor="ctr"/>
            <a:lstStyle/>
            <a:p>
              <a:pPr algn="ctr"/>
              <a:r>
                <a:rPr lang="en-US" dirty="0" err="1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FrameTracker</a:t>
              </a:r>
              <a:endParaRPr lang="en-US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  <a:p>
              <a:pPr algn="ctr"/>
              <a:r>
                <a:rPr lang="en-US" dirty="0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RAII </a:t>
              </a:r>
              <a:r>
                <a:rPr lang="en-US" dirty="0" err="1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自动回收物理帧</a:t>
              </a:r>
              <a:endParaRPr lang="en-US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</p:grpSp>
      <p:cxnSp>
        <p:nvCxnSpPr>
          <p:cNvPr id="15" name="直接连接符 14"/>
          <p:cNvCxnSpPr/>
          <p:nvPr/>
        </p:nvCxnSpPr>
        <p:spPr>
          <a:xfrm>
            <a:off x="519545" y="1039091"/>
            <a:ext cx="7813964" cy="0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11641282" y="342901"/>
            <a:ext cx="259773" cy="58189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550718" y="155351"/>
            <a:ext cx="241808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4400" dirty="0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内核</a:t>
            </a:r>
            <a:r>
              <a:rPr lang="zh-CN" altLang="en-US" sz="4400" dirty="0">
                <a:latin typeface="华文中宋" panose="02010600040101010101" pitchFamily="2" charset="-122"/>
                <a:ea typeface="华文中宋" panose="02010600040101010101" pitchFamily="2" charset="-122"/>
              </a:rPr>
              <a:t>模块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687774" y="1153391"/>
            <a:ext cx="2090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Memory </a:t>
            </a:r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067764" y="463127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内存管理</a:t>
            </a: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99A9CEFD-8578-A7A8-B1F1-066FD0F3D5E3}"/>
              </a:ext>
            </a:extLst>
          </p:cNvPr>
          <p:cNvGrpSpPr/>
          <p:nvPr/>
        </p:nvGrpSpPr>
        <p:grpSpPr>
          <a:xfrm>
            <a:off x="687774" y="1682309"/>
            <a:ext cx="5408226" cy="1162491"/>
            <a:chOff x="687774" y="1682309"/>
            <a:chExt cx="5408226" cy="1162491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4F12C686-7CE4-7F3C-BE51-0D7E63D12D5D}"/>
                </a:ext>
              </a:extLst>
            </p:cNvPr>
            <p:cNvSpPr/>
            <p:nvPr/>
          </p:nvSpPr>
          <p:spPr>
            <a:xfrm>
              <a:off x="777240" y="1833236"/>
              <a:ext cx="5318760" cy="101156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18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597E794B-4B05-966D-818D-1844DE51540B}"/>
                </a:ext>
              </a:extLst>
            </p:cNvPr>
            <p:cNvSpPr/>
            <p:nvPr/>
          </p:nvSpPr>
          <p:spPr>
            <a:xfrm>
              <a:off x="687774" y="2171554"/>
              <a:ext cx="368866" cy="605553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DE039611-133F-1EAA-E450-5B5310C07BB4}"/>
                </a:ext>
              </a:extLst>
            </p:cNvPr>
            <p:cNvSpPr txBox="1"/>
            <p:nvPr/>
          </p:nvSpPr>
          <p:spPr>
            <a:xfrm>
              <a:off x="963303" y="1682309"/>
              <a:ext cx="95410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内核堆</a:t>
              </a: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CF2E717E-9DCF-57CE-6104-7EA8EC46E817}"/>
                </a:ext>
              </a:extLst>
            </p:cNvPr>
            <p:cNvSpPr txBox="1"/>
            <p:nvPr/>
          </p:nvSpPr>
          <p:spPr>
            <a:xfrm>
              <a:off x="1300939" y="2130776"/>
              <a:ext cx="455076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err="1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等线" pitchFamily="34" charset="-120"/>
                </a:rPr>
                <a:t>buddy_system_allocator，当前配置</a:t>
              </a:r>
              <a:r>
                <a:rPr lang="en-US" altLang="zh-CN" dirty="0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等线" pitchFamily="34" charset="-120"/>
                </a:rPr>
                <a:t> 128 MiB</a:t>
              </a:r>
              <a:endPara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53DE3545-973C-5621-458C-2D0B94DA7D5A}"/>
              </a:ext>
            </a:extLst>
          </p:cNvPr>
          <p:cNvGrpSpPr/>
          <p:nvPr/>
        </p:nvGrpSpPr>
        <p:grpSpPr>
          <a:xfrm>
            <a:off x="687774" y="3020393"/>
            <a:ext cx="5408226" cy="1162491"/>
            <a:chOff x="687774" y="1682309"/>
            <a:chExt cx="5408226" cy="1162491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4511BD3A-7452-5346-14BE-EA2F4F0B8DD0}"/>
                </a:ext>
              </a:extLst>
            </p:cNvPr>
            <p:cNvSpPr/>
            <p:nvPr/>
          </p:nvSpPr>
          <p:spPr>
            <a:xfrm>
              <a:off x="777240" y="1833236"/>
              <a:ext cx="5318760" cy="101156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18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183D2889-3057-6BFC-B3A4-76ADF379A789}"/>
                </a:ext>
              </a:extLst>
            </p:cNvPr>
            <p:cNvSpPr/>
            <p:nvPr/>
          </p:nvSpPr>
          <p:spPr>
            <a:xfrm>
              <a:off x="687774" y="2171554"/>
              <a:ext cx="368866" cy="605553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E8B85CBE-26B6-EC71-0247-0FA2CB9BFED6}"/>
                </a:ext>
              </a:extLst>
            </p:cNvPr>
            <p:cNvSpPr txBox="1"/>
            <p:nvPr/>
          </p:nvSpPr>
          <p:spPr>
            <a:xfrm>
              <a:off x="963303" y="1682309"/>
              <a:ext cx="95410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物理帧</a:t>
              </a: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489ABA4A-D774-2A12-D92E-E6A8C3BAF8A4}"/>
                </a:ext>
              </a:extLst>
            </p:cNvPr>
            <p:cNvSpPr txBox="1"/>
            <p:nvPr/>
          </p:nvSpPr>
          <p:spPr>
            <a:xfrm>
              <a:off x="1300939" y="2130776"/>
              <a:ext cx="455076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err="1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StackFrameAllocator，bump</a:t>
              </a:r>
              <a:r>
                <a:rPr lang="en-US" altLang="zh-CN" dirty="0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 </a:t>
              </a:r>
              <a:r>
                <a:rPr lang="en-US" altLang="zh-CN" dirty="0" err="1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分配</a:t>
              </a:r>
              <a:r>
                <a:rPr lang="en-US" altLang="zh-CN" dirty="0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 + </a:t>
              </a:r>
              <a:r>
                <a:rPr lang="en-US" altLang="zh-CN" dirty="0" err="1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回收列表</a:t>
              </a:r>
              <a:r>
                <a:rPr lang="en-US" altLang="zh-CN" dirty="0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 + </a:t>
              </a:r>
              <a:r>
                <a:rPr lang="en-US" altLang="zh-CN" dirty="0" err="1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引用计数</a:t>
              </a:r>
              <a:endParaRPr lang="zh-CN" altLang="en-US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BEC963F3-6639-9BBA-AE3D-A0420FA10214}"/>
              </a:ext>
            </a:extLst>
          </p:cNvPr>
          <p:cNvGrpSpPr/>
          <p:nvPr/>
        </p:nvGrpSpPr>
        <p:grpSpPr>
          <a:xfrm>
            <a:off x="687774" y="4412731"/>
            <a:ext cx="5408226" cy="1162491"/>
            <a:chOff x="687774" y="1682309"/>
            <a:chExt cx="5408226" cy="1162491"/>
          </a:xfrm>
        </p:grpSpPr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C76183F4-2789-6741-BF4A-85F21176B5BF}"/>
                </a:ext>
              </a:extLst>
            </p:cNvPr>
            <p:cNvSpPr/>
            <p:nvPr/>
          </p:nvSpPr>
          <p:spPr>
            <a:xfrm>
              <a:off x="777240" y="1833236"/>
              <a:ext cx="5318760" cy="101156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18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74AEC192-C60B-CF92-278D-94DCEBA1FBE5}"/>
                </a:ext>
              </a:extLst>
            </p:cNvPr>
            <p:cNvSpPr/>
            <p:nvPr/>
          </p:nvSpPr>
          <p:spPr>
            <a:xfrm>
              <a:off x="687774" y="2171554"/>
              <a:ext cx="368866" cy="605553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1766A1E0-DEFD-485A-BB10-5AA0D2FFCD44}"/>
                </a:ext>
              </a:extLst>
            </p:cNvPr>
            <p:cNvSpPr txBox="1"/>
            <p:nvPr/>
          </p:nvSpPr>
          <p:spPr>
            <a:xfrm>
              <a:off x="963303" y="1682309"/>
              <a:ext cx="12105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地址空间</a:t>
              </a:r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64623899-75B2-2989-B5FC-7D6B0E9D266D}"/>
                </a:ext>
              </a:extLst>
            </p:cNvPr>
            <p:cNvSpPr txBox="1"/>
            <p:nvPr/>
          </p:nvSpPr>
          <p:spPr>
            <a:xfrm>
              <a:off x="1300939" y="2130776"/>
              <a:ext cx="455076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err="1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MemorySet</a:t>
              </a:r>
              <a:r>
                <a:rPr lang="en-US" altLang="zh-CN" dirty="0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 </a:t>
              </a:r>
              <a:r>
                <a:rPr lang="en-US" altLang="zh-CN" dirty="0" err="1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持有</a:t>
              </a:r>
              <a:r>
                <a:rPr lang="en-US" altLang="zh-CN" dirty="0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 </a:t>
              </a:r>
              <a:r>
                <a:rPr lang="en-US" altLang="zh-CN" dirty="0" err="1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PageTable</a:t>
              </a:r>
              <a:r>
                <a:rPr lang="en-US" altLang="zh-CN" dirty="0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 </a:t>
              </a:r>
              <a:r>
                <a:rPr lang="en-US" altLang="zh-CN" dirty="0" err="1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与按虚拟地址排序的</a:t>
              </a:r>
              <a:r>
                <a:rPr lang="en-US" altLang="zh-CN" dirty="0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 </a:t>
              </a:r>
              <a:r>
                <a:rPr lang="en-US" altLang="zh-CN" dirty="0" err="1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MapArea</a:t>
              </a:r>
              <a:endParaRPr lang="zh-CN" altLang="en-US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B96DA-CC73-A8BC-5549-09BFCEFB2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组合 19">
            <a:extLst>
              <a:ext uri="{FF2B5EF4-FFF2-40B4-BE49-F238E27FC236}">
                <a16:creationId xmlns:a16="http://schemas.microsoft.com/office/drawing/2014/main" id="{B3B5A01A-C8CB-5F21-D1B7-B65BF8775181}"/>
              </a:ext>
            </a:extLst>
          </p:cNvPr>
          <p:cNvGrpSpPr/>
          <p:nvPr/>
        </p:nvGrpSpPr>
        <p:grpSpPr>
          <a:xfrm>
            <a:off x="7299951" y="1833234"/>
            <a:ext cx="4341331" cy="3985670"/>
            <a:chOff x="7299951" y="1833234"/>
            <a:chExt cx="3652529" cy="2568771"/>
          </a:xfrm>
        </p:grpSpPr>
        <p:sp>
          <p:nvSpPr>
            <p:cNvPr id="8" name="Text 6">
              <a:extLst>
                <a:ext uri="{FF2B5EF4-FFF2-40B4-BE49-F238E27FC236}">
                  <a16:creationId xmlns:a16="http://schemas.microsoft.com/office/drawing/2014/main" id="{D4A455F6-9AC4-EDF1-394B-7EB09C987AEA}"/>
                </a:ext>
              </a:extLst>
            </p:cNvPr>
            <p:cNvSpPr/>
            <p:nvPr/>
          </p:nvSpPr>
          <p:spPr>
            <a:xfrm>
              <a:off x="7299960" y="1833234"/>
              <a:ext cx="3652520" cy="475488"/>
            </a:xfrm>
            <a:prstGeom prst="rect">
              <a:avLst/>
            </a:prstGeom>
            <a:solidFill>
              <a:srgbClr val="F2F2F2"/>
            </a:solidFill>
            <a:ln w="10160">
              <a:noFill/>
            </a:ln>
          </p:spPr>
          <p:txBody>
            <a:bodyPr wrap="square" lIns="635" tIns="635" rIns="635" bIns="635" rtlCol="0" anchor="ctr"/>
            <a:lstStyle/>
            <a:p>
              <a:pPr marL="0" indent="0" algn="ctr">
                <a:buNone/>
              </a:pPr>
              <a:r>
                <a:rPr lang="en-US" dirty="0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Consolas" panose="020B0609020204030204" pitchFamily="34" charset="-120"/>
                </a:rPr>
                <a:t>MemorySet</a:t>
              </a:r>
              <a:endParaRPr lang="en-US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10" name="Text 8">
              <a:extLst>
                <a:ext uri="{FF2B5EF4-FFF2-40B4-BE49-F238E27FC236}">
                  <a16:creationId xmlns:a16="http://schemas.microsoft.com/office/drawing/2014/main" id="{7DDD9D6E-05D2-8DEF-5CA5-71563C843075}"/>
                </a:ext>
              </a:extLst>
            </p:cNvPr>
            <p:cNvSpPr/>
            <p:nvPr/>
          </p:nvSpPr>
          <p:spPr>
            <a:xfrm>
              <a:off x="7299959" y="2308722"/>
              <a:ext cx="3652520" cy="777240"/>
            </a:xfrm>
            <a:prstGeom prst="rect">
              <a:avLst/>
            </a:prstGeom>
            <a:solidFill>
              <a:srgbClr val="FFFFFF"/>
            </a:solidFill>
            <a:ln w="10160">
              <a:noFill/>
            </a:ln>
          </p:spPr>
          <p:txBody>
            <a:bodyPr wrap="square" lIns="635" tIns="635" rIns="635" bIns="635" rtlCol="0" anchor="ctr"/>
            <a:lstStyle/>
            <a:p>
              <a:pPr algn="ctr"/>
              <a:r>
                <a:rPr lang="en-US" dirty="0" err="1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MapArea</a:t>
              </a:r>
              <a:r>
                <a:rPr lang="en-US" dirty="0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[]</a:t>
              </a:r>
            </a:p>
            <a:p>
              <a:pPr algn="ctr"/>
              <a:r>
                <a:rPr lang="en-US" dirty="0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code / data / heap / stack / mmap / </a:t>
              </a:r>
              <a:r>
                <a:rPr lang="en-US" dirty="0" err="1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shm</a:t>
              </a:r>
              <a:endParaRPr lang="en-US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12" name="Text 10">
              <a:extLst>
                <a:ext uri="{FF2B5EF4-FFF2-40B4-BE49-F238E27FC236}">
                  <a16:creationId xmlns:a16="http://schemas.microsoft.com/office/drawing/2014/main" id="{9D5F7C93-A358-AFA0-3FBA-8E893C0FA7C5}"/>
                </a:ext>
              </a:extLst>
            </p:cNvPr>
            <p:cNvSpPr/>
            <p:nvPr/>
          </p:nvSpPr>
          <p:spPr>
            <a:xfrm>
              <a:off x="7299959" y="3085269"/>
              <a:ext cx="3652513" cy="658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0160">
              <a:noFill/>
            </a:ln>
          </p:spPr>
          <p:txBody>
            <a:bodyPr wrap="square" lIns="635" tIns="635" rIns="635" bIns="635" rtlCol="0" anchor="ctr"/>
            <a:lstStyle/>
            <a:p>
              <a:pPr indent="0" algn="ctr">
                <a:buNone/>
              </a:pPr>
              <a:r>
                <a:rPr lang="en-US" dirty="0" err="1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PageTable</a:t>
              </a:r>
              <a:endParaRPr lang="en-US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  <a:p>
              <a:pPr indent="0" algn="ctr">
                <a:buNone/>
              </a:pPr>
              <a:r>
                <a:rPr lang="en-US" dirty="0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RISC-V / LoongArch trait </a:t>
              </a:r>
              <a:r>
                <a:rPr lang="en-US" dirty="0" err="1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抽象</a:t>
              </a:r>
              <a:endParaRPr lang="en-US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14" name="Text 12">
              <a:extLst>
                <a:ext uri="{FF2B5EF4-FFF2-40B4-BE49-F238E27FC236}">
                  <a16:creationId xmlns:a16="http://schemas.microsoft.com/office/drawing/2014/main" id="{EB9D0EBB-FADD-5EB0-EF3D-0D8AC3BF379B}"/>
                </a:ext>
              </a:extLst>
            </p:cNvPr>
            <p:cNvSpPr/>
            <p:nvPr/>
          </p:nvSpPr>
          <p:spPr>
            <a:xfrm>
              <a:off x="7299951" y="3743637"/>
              <a:ext cx="3652509" cy="658368"/>
            </a:xfrm>
            <a:prstGeom prst="rect">
              <a:avLst/>
            </a:prstGeom>
            <a:solidFill>
              <a:schemeClr val="bg1"/>
            </a:solidFill>
            <a:ln w="10160">
              <a:noFill/>
            </a:ln>
          </p:spPr>
          <p:txBody>
            <a:bodyPr wrap="square" lIns="635" tIns="635" rIns="635" bIns="635" rtlCol="0" anchor="ctr"/>
            <a:lstStyle/>
            <a:p>
              <a:pPr algn="ctr"/>
              <a:r>
                <a:rPr lang="en-US" dirty="0" err="1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FrameTracker</a:t>
              </a:r>
              <a:endParaRPr lang="en-US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  <a:p>
              <a:pPr algn="ctr"/>
              <a:r>
                <a:rPr lang="en-US" dirty="0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RAII </a:t>
              </a:r>
              <a:r>
                <a:rPr lang="en-US" dirty="0" err="1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自动回收物理帧</a:t>
              </a:r>
              <a:endParaRPr lang="en-US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</p:grp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A58EB8AB-B62C-6880-56C0-2459CFE57052}"/>
              </a:ext>
            </a:extLst>
          </p:cNvPr>
          <p:cNvCxnSpPr/>
          <p:nvPr/>
        </p:nvCxnSpPr>
        <p:spPr>
          <a:xfrm>
            <a:off x="519545" y="1039091"/>
            <a:ext cx="7813964" cy="0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AC998D51-163E-2CF6-8B28-50D0BBFC0A37}"/>
              </a:ext>
            </a:extLst>
          </p:cNvPr>
          <p:cNvSpPr/>
          <p:nvPr/>
        </p:nvSpPr>
        <p:spPr>
          <a:xfrm>
            <a:off x="11641282" y="342901"/>
            <a:ext cx="259773" cy="58189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5179D21-2A91-704C-33EE-6F916202A8B0}"/>
              </a:ext>
            </a:extLst>
          </p:cNvPr>
          <p:cNvSpPr txBox="1"/>
          <p:nvPr/>
        </p:nvSpPr>
        <p:spPr>
          <a:xfrm>
            <a:off x="550718" y="155351"/>
            <a:ext cx="241808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4400" dirty="0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内核</a:t>
            </a:r>
            <a:r>
              <a:rPr lang="zh-CN" altLang="en-US" sz="4400" dirty="0">
                <a:latin typeface="华文中宋" panose="02010600040101010101" pitchFamily="2" charset="-122"/>
                <a:ea typeface="华文中宋" panose="02010600040101010101" pitchFamily="2" charset="-122"/>
              </a:rPr>
              <a:t>模块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64BE04B-629B-18CB-FFE5-111073A4C641}"/>
              </a:ext>
            </a:extLst>
          </p:cNvPr>
          <p:cNvSpPr txBox="1"/>
          <p:nvPr/>
        </p:nvSpPr>
        <p:spPr>
          <a:xfrm>
            <a:off x="687774" y="1153391"/>
            <a:ext cx="2090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Memory </a:t>
            </a:r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2BBB56B-D4A8-467E-66C0-9C6B0B8C22F8}"/>
              </a:ext>
            </a:extLst>
          </p:cNvPr>
          <p:cNvSpPr txBox="1"/>
          <p:nvPr/>
        </p:nvSpPr>
        <p:spPr>
          <a:xfrm>
            <a:off x="3067764" y="463127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内存管理</a:t>
            </a: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F60A4FC0-A88E-B8BB-653E-75E72BB0F6A8}"/>
              </a:ext>
            </a:extLst>
          </p:cNvPr>
          <p:cNvGrpSpPr/>
          <p:nvPr/>
        </p:nvGrpSpPr>
        <p:grpSpPr>
          <a:xfrm>
            <a:off x="732507" y="2216777"/>
            <a:ext cx="5408226" cy="1162491"/>
            <a:chOff x="687774" y="1682309"/>
            <a:chExt cx="5408226" cy="1162491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A8DCF5C6-779E-626E-251A-36DF6218EBD2}"/>
                </a:ext>
              </a:extLst>
            </p:cNvPr>
            <p:cNvSpPr/>
            <p:nvPr/>
          </p:nvSpPr>
          <p:spPr>
            <a:xfrm>
              <a:off x="777240" y="1833236"/>
              <a:ext cx="5318760" cy="101156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18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0E27499C-E16B-77EC-358B-D699A2BFEDF5}"/>
                </a:ext>
              </a:extLst>
            </p:cNvPr>
            <p:cNvSpPr/>
            <p:nvPr/>
          </p:nvSpPr>
          <p:spPr>
            <a:xfrm>
              <a:off x="687774" y="2171554"/>
              <a:ext cx="368866" cy="605553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8FBEBB63-750B-6C5F-A7D8-3AED3527E5DB}"/>
                </a:ext>
              </a:extLst>
            </p:cNvPr>
            <p:cNvSpPr txBox="1"/>
            <p:nvPr/>
          </p:nvSpPr>
          <p:spPr>
            <a:xfrm>
              <a:off x="963303" y="1682309"/>
              <a:ext cx="12105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映射类型</a:t>
              </a: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FED584CF-0E6D-B394-690F-4A59348C2F5F}"/>
                </a:ext>
              </a:extLst>
            </p:cNvPr>
            <p:cNvSpPr txBox="1"/>
            <p:nvPr/>
          </p:nvSpPr>
          <p:spPr>
            <a:xfrm>
              <a:off x="1300939" y="2130776"/>
              <a:ext cx="4550761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 err="1">
                  <a:latin typeface="华文中宋" panose="02010600040101010101" pitchFamily="2" charset="-122"/>
                  <a:ea typeface="华文中宋" panose="02010600040101010101" pitchFamily="2" charset="-122"/>
                </a:rPr>
                <a:t>匿名页、文件页缓存、共享内存、锁定页等统一通过</a:t>
              </a:r>
              <a:r>
                <a:rPr lang="en-US" altLang="zh-CN" sz="2000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 </a:t>
              </a:r>
              <a:r>
                <a:rPr lang="en-US" altLang="zh-CN" sz="2000" dirty="0" err="1">
                  <a:latin typeface="华文中宋" panose="02010600040101010101" pitchFamily="2" charset="-122"/>
                  <a:ea typeface="华文中宋" panose="02010600040101010101" pitchFamily="2" charset="-122"/>
                </a:rPr>
                <a:t>MapArea</a:t>
              </a:r>
              <a:r>
                <a:rPr lang="en-US" altLang="zh-CN" sz="2000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 </a:t>
              </a:r>
              <a:r>
                <a:rPr lang="en-US" altLang="zh-CN" sz="2000" dirty="0" err="1">
                  <a:latin typeface="华文中宋" panose="02010600040101010101" pitchFamily="2" charset="-122"/>
                  <a:ea typeface="华文中宋" panose="02010600040101010101" pitchFamily="2" charset="-122"/>
                </a:rPr>
                <a:t>描述</a:t>
              </a:r>
              <a:endPara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F12FF7E9-9731-4083-6227-E590EE6D3657}"/>
              </a:ext>
            </a:extLst>
          </p:cNvPr>
          <p:cNvGrpSpPr/>
          <p:nvPr/>
        </p:nvGrpSpPr>
        <p:grpSpPr>
          <a:xfrm>
            <a:off x="732507" y="3920776"/>
            <a:ext cx="5450203" cy="1162491"/>
            <a:chOff x="687774" y="1682309"/>
            <a:chExt cx="5450203" cy="1162491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23752EFD-0B06-D07C-17EA-A724EA5CAC64}"/>
                </a:ext>
              </a:extLst>
            </p:cNvPr>
            <p:cNvSpPr/>
            <p:nvPr/>
          </p:nvSpPr>
          <p:spPr>
            <a:xfrm>
              <a:off x="777240" y="1833236"/>
              <a:ext cx="5318760" cy="101156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18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1F72091D-3413-C9E7-05D7-8C9CCC7D2F97}"/>
                </a:ext>
              </a:extLst>
            </p:cNvPr>
            <p:cNvSpPr/>
            <p:nvPr/>
          </p:nvSpPr>
          <p:spPr>
            <a:xfrm>
              <a:off x="687774" y="2171554"/>
              <a:ext cx="368866" cy="605553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A06315D7-673A-F2AA-F132-C60CC4B520E8}"/>
                </a:ext>
              </a:extLst>
            </p:cNvPr>
            <p:cNvSpPr txBox="1"/>
            <p:nvPr/>
          </p:nvSpPr>
          <p:spPr>
            <a:xfrm>
              <a:off x="963303" y="1682309"/>
              <a:ext cx="12105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用户指针</a:t>
              </a: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2D734932-9891-CEDE-9D83-71917B75261F}"/>
                </a:ext>
              </a:extLst>
            </p:cNvPr>
            <p:cNvSpPr txBox="1"/>
            <p:nvPr/>
          </p:nvSpPr>
          <p:spPr>
            <a:xfrm>
              <a:off x="1300939" y="2130776"/>
              <a:ext cx="483703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 err="1">
                  <a:latin typeface="华文中宋" panose="02010600040101010101" pitchFamily="2" charset="-122"/>
                  <a:ea typeface="华文中宋" panose="02010600040101010101" pitchFamily="2" charset="-122"/>
                </a:rPr>
                <a:t>translated_byte_buffer_checked</a:t>
              </a:r>
              <a:r>
                <a:rPr lang="en-US" altLang="zh-CN" sz="2000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 </a:t>
              </a:r>
              <a:r>
                <a:rPr lang="en-US" altLang="zh-CN" sz="2000" dirty="0" err="1">
                  <a:latin typeface="华文中宋" panose="02010600040101010101" pitchFamily="2" charset="-122"/>
                  <a:ea typeface="华文中宋" panose="02010600040101010101" pitchFamily="2" charset="-122"/>
                </a:rPr>
                <a:t>系列在页表失败时返回</a:t>
              </a:r>
              <a:r>
                <a:rPr lang="en-US" altLang="zh-CN" sz="2000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 EFAULT </a:t>
              </a:r>
              <a:r>
                <a:rPr lang="en-US" altLang="zh-CN" sz="2000" dirty="0" err="1">
                  <a:latin typeface="华文中宋" panose="02010600040101010101" pitchFamily="2" charset="-122"/>
                  <a:ea typeface="华文中宋" panose="02010600040101010101" pitchFamily="2" charset="-122"/>
                </a:rPr>
                <a:t>而非</a:t>
              </a:r>
              <a:r>
                <a:rPr lang="en-US" altLang="zh-CN" sz="2000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 panic</a:t>
              </a:r>
              <a:endPara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29383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978429" y="1189251"/>
            <a:ext cx="10515600" cy="320040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520" dirty="0">
                <a:solidFill>
                  <a:srgbClr val="111111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缺页处理把 lazy allocation、COW 和 file-backed mmap </a:t>
            </a:r>
            <a:r>
              <a:rPr lang="en-US" sz="1520" dirty="0" err="1">
                <a:solidFill>
                  <a:srgbClr val="111111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统一到一个路径下</a:t>
            </a:r>
            <a:r>
              <a:rPr lang="en-US" sz="1520" dirty="0">
                <a:solidFill>
                  <a:srgbClr val="111111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。</a:t>
            </a:r>
          </a:p>
          <a:p>
            <a:pPr marL="0" indent="0">
              <a:buNone/>
            </a:pPr>
            <a:endParaRPr lang="en-US" sz="1520" dirty="0">
              <a:solidFill>
                <a:srgbClr val="111111"/>
              </a:solidFill>
              <a:latin typeface="等线" pitchFamily="34" charset="0"/>
              <a:ea typeface="等线" pitchFamily="34" charset="-122"/>
            </a:endParaRPr>
          </a:p>
          <a:p>
            <a:pPr marL="0" indent="0">
              <a:buNone/>
            </a:pPr>
            <a:endParaRPr lang="en-US" sz="1520" dirty="0">
              <a:solidFill>
                <a:srgbClr val="111111"/>
              </a:solidFill>
              <a:latin typeface="等线" pitchFamily="34" charset="0"/>
              <a:ea typeface="等线" pitchFamily="34" charset="-122"/>
            </a:endParaRPr>
          </a:p>
          <a:p>
            <a:pPr marL="0" indent="0">
              <a:buNone/>
            </a:pPr>
            <a:endParaRPr lang="en-US" sz="1520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BEB49E64-332D-413B-90DB-E4C6D81925D3}"/>
              </a:ext>
            </a:extLst>
          </p:cNvPr>
          <p:cNvGrpSpPr/>
          <p:nvPr/>
        </p:nvGrpSpPr>
        <p:grpSpPr>
          <a:xfrm>
            <a:off x="512030" y="1922387"/>
            <a:ext cx="3306343" cy="3754281"/>
            <a:chOff x="512030" y="1922388"/>
            <a:chExt cx="3306343" cy="2628354"/>
          </a:xfrm>
        </p:grpSpPr>
        <p:sp>
          <p:nvSpPr>
            <p:cNvPr id="4" name="Text 2"/>
            <p:cNvSpPr/>
            <p:nvPr/>
          </p:nvSpPr>
          <p:spPr>
            <a:xfrm>
              <a:off x="519544" y="1922388"/>
              <a:ext cx="3298829" cy="658368"/>
            </a:xfrm>
            <a:prstGeom prst="rect">
              <a:avLst/>
            </a:prstGeom>
            <a:solidFill>
              <a:srgbClr val="F2F2F2"/>
            </a:solidFill>
            <a:ln w="10160">
              <a:noFill/>
            </a:ln>
          </p:spPr>
          <p:txBody>
            <a:bodyPr wrap="square" lIns="635" tIns="635" rIns="635" bIns="635" rtlCol="0" anchor="ctr"/>
            <a:lstStyle/>
            <a:p>
              <a:pPr marL="0" indent="0" algn="ctr">
                <a:buNone/>
              </a:pPr>
              <a:r>
                <a:rPr lang="en-US" dirty="0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等线" pitchFamily="34" charset="-120"/>
                </a:rPr>
                <a:t>用户访问</a:t>
              </a:r>
              <a:endParaRPr lang="en-US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  <a:p>
              <a:pPr marL="0" indent="0" algn="ctr">
                <a:buNone/>
              </a:pPr>
              <a:r>
                <a:rPr lang="en-US" dirty="0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等线" pitchFamily="34" charset="-120"/>
                </a:rPr>
                <a:t>未映射 / 只读页</a:t>
              </a:r>
              <a:endParaRPr lang="en-US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6" name="Text 4"/>
            <p:cNvSpPr/>
            <p:nvPr/>
          </p:nvSpPr>
          <p:spPr>
            <a:xfrm>
              <a:off x="512031" y="2593777"/>
              <a:ext cx="3306341" cy="658368"/>
            </a:xfrm>
            <a:prstGeom prst="rect">
              <a:avLst/>
            </a:prstGeom>
            <a:solidFill>
              <a:srgbClr val="FFFFFF"/>
            </a:solidFill>
            <a:ln w="10160">
              <a:noFill/>
            </a:ln>
          </p:spPr>
          <p:txBody>
            <a:bodyPr wrap="square" lIns="635" tIns="635" rIns="635" bIns="635" rtlCol="0" anchor="ctr"/>
            <a:lstStyle/>
            <a:p>
              <a:pPr algn="ctr"/>
              <a:r>
                <a:rPr lang="en-US" dirty="0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trap handler</a:t>
              </a:r>
            </a:p>
            <a:p>
              <a:pPr algn="ctr"/>
              <a:r>
                <a:rPr lang="en-US" dirty="0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识别 fault </a:t>
              </a:r>
              <a:r>
                <a:rPr lang="en-US" dirty="0" err="1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类型</a:t>
              </a:r>
              <a:endParaRPr lang="en-US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8" name="Text 6"/>
            <p:cNvSpPr/>
            <p:nvPr/>
          </p:nvSpPr>
          <p:spPr>
            <a:xfrm>
              <a:off x="512031" y="3252145"/>
              <a:ext cx="3306342" cy="658368"/>
            </a:xfrm>
            <a:prstGeom prst="rect">
              <a:avLst/>
            </a:prstGeom>
            <a:solidFill>
              <a:srgbClr val="F2F2F2"/>
            </a:solidFill>
            <a:ln w="10160">
              <a:noFill/>
            </a:ln>
          </p:spPr>
          <p:txBody>
            <a:bodyPr wrap="square" lIns="635" tIns="635" rIns="635" bIns="635" rtlCol="0" anchor="ctr"/>
            <a:lstStyle/>
            <a:p>
              <a:pPr indent="0" algn="ctr">
                <a:buNone/>
              </a:pPr>
              <a:r>
                <a:rPr lang="en-US" dirty="0" err="1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MemorySet</a:t>
              </a:r>
              <a:endParaRPr lang="en-US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  <a:p>
              <a:pPr indent="0" algn="ctr">
                <a:buNone/>
              </a:pPr>
              <a:r>
                <a:rPr lang="en-US" dirty="0" err="1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查找</a:t>
              </a:r>
              <a:r>
                <a:rPr lang="en-US" dirty="0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 </a:t>
              </a:r>
              <a:r>
                <a:rPr lang="en-US" dirty="0" err="1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MapArea</a:t>
              </a:r>
              <a:endParaRPr lang="en-US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10" name="Text 8"/>
            <p:cNvSpPr/>
            <p:nvPr/>
          </p:nvSpPr>
          <p:spPr>
            <a:xfrm>
              <a:off x="512030" y="3892374"/>
              <a:ext cx="3306341" cy="658368"/>
            </a:xfrm>
            <a:prstGeom prst="rect">
              <a:avLst/>
            </a:prstGeom>
            <a:solidFill>
              <a:srgbClr val="FFFFFF"/>
            </a:solidFill>
            <a:ln w="10160">
              <a:noFill/>
            </a:ln>
          </p:spPr>
          <p:txBody>
            <a:bodyPr wrap="square" lIns="635" tIns="635" rIns="635" bIns="635" rtlCol="0" anchor="ctr"/>
            <a:lstStyle/>
            <a:p>
              <a:pPr algn="ctr"/>
              <a:r>
                <a:rPr lang="en-US" dirty="0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分配/</a:t>
              </a:r>
              <a:r>
                <a:rPr lang="en-US" dirty="0" err="1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复用物理页</a:t>
              </a:r>
              <a:endParaRPr lang="en-US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  <a:p>
              <a:pPr algn="ctr"/>
              <a:r>
                <a:rPr lang="en-US" dirty="0" err="1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安装</a:t>
              </a:r>
              <a:r>
                <a:rPr lang="en-US" dirty="0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 PTE</a:t>
              </a:r>
            </a:p>
          </p:txBody>
        </p:sp>
      </p:grpSp>
      <p:sp>
        <p:nvSpPr>
          <p:cNvPr id="11" name="Text 9"/>
          <p:cNvSpPr/>
          <p:nvPr/>
        </p:nvSpPr>
        <p:spPr>
          <a:xfrm>
            <a:off x="4940069" y="3561258"/>
            <a:ext cx="1907771" cy="2113075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>
            <a:outerShdw blurRad="63500" sx="101000" sy="101000" algn="ctr" rotWithShape="0">
              <a:prstClr val="black">
                <a:alpha val="25000"/>
              </a:prstClr>
            </a:outerShdw>
          </a:effectLst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匿名 mmap / brk</a:t>
            </a:r>
            <a:endParaRPr 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0" indent="0" algn="ctr">
              <a:buNone/>
            </a:pPr>
            <a:r>
              <a:rPr lang="en-US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实际访问时分配帧</a:t>
            </a:r>
            <a:endParaRPr 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519545" y="1039091"/>
            <a:ext cx="7813964" cy="0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11641282" y="342901"/>
            <a:ext cx="259773" cy="58189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550718" y="155351"/>
            <a:ext cx="241808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4400" dirty="0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内核</a:t>
            </a:r>
            <a:r>
              <a:rPr lang="zh-CN" altLang="en-US" sz="4400" dirty="0">
                <a:latin typeface="华文中宋" panose="02010600040101010101" pitchFamily="2" charset="-122"/>
                <a:ea typeface="华文中宋" panose="02010600040101010101" pitchFamily="2" charset="-122"/>
              </a:rPr>
              <a:t>模块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685869" y="1181331"/>
            <a:ext cx="2090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Memory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3067764" y="463127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内存管理</a:t>
            </a:r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586F5938-8634-21A1-D14F-39260E64B8B8}"/>
              </a:ext>
            </a:extLst>
          </p:cNvPr>
          <p:cNvSpPr/>
          <p:nvPr/>
        </p:nvSpPr>
        <p:spPr>
          <a:xfrm>
            <a:off x="7236229" y="3561258"/>
            <a:ext cx="1907771" cy="2113075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>
            <a:outerShdw blurRad="63500" sx="101000" sy="101000" algn="ctr" rotWithShape="0">
              <a:prstClr val="black">
                <a:alpha val="25000"/>
              </a:prstClr>
            </a:outerShdw>
          </a:effectLst>
        </p:spPr>
        <p:txBody>
          <a:bodyPr wrap="square" lIns="635" tIns="635" rIns="635" bIns="635" rtlCol="0" anchor="ctr"/>
          <a:lstStyle/>
          <a:p>
            <a:pPr algn="ctr"/>
            <a:r>
              <a:rPr lang="en-US" altLang="zh-CN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fork COW</a:t>
            </a:r>
          </a:p>
          <a:p>
            <a:pPr algn="ctr"/>
            <a:r>
              <a:rPr lang="en-US" altLang="zh-CN" dirty="0" err="1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写入时复制</a:t>
            </a:r>
            <a:endParaRPr lang="en-US" altLang="zh-CN" dirty="0">
              <a:solidFill>
                <a:srgbClr val="11111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0DFE2A3C-2893-7460-2424-40CA15D76EB1}"/>
              </a:ext>
            </a:extLst>
          </p:cNvPr>
          <p:cNvSpPr/>
          <p:nvPr/>
        </p:nvSpPr>
        <p:spPr>
          <a:xfrm>
            <a:off x="9522229" y="3563593"/>
            <a:ext cx="1907771" cy="2113075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>
            <a:outerShdw blurRad="63500" sx="101000" sy="101000" algn="ctr" rotWithShape="0">
              <a:prstClr val="black">
                <a:alpha val="25000"/>
              </a:prstClr>
            </a:outerShdw>
          </a:effectLst>
        </p:spPr>
        <p:txBody>
          <a:bodyPr wrap="square" lIns="635" tIns="635" rIns="635" bIns="635" rtlCol="0" anchor="ctr"/>
          <a:lstStyle/>
          <a:p>
            <a:pPr algn="ctr"/>
            <a:r>
              <a:rPr lang="en-US" altLang="zh-CN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file-backed </a:t>
            </a:r>
            <a:r>
              <a:rPr lang="en-US" altLang="zh-CN" dirty="0" err="1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mmap</a:t>
            </a:r>
            <a:endParaRPr lang="en-US" altLang="zh-CN" dirty="0">
              <a:solidFill>
                <a:srgbClr val="11111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algn="ctr"/>
            <a:r>
              <a:rPr lang="en-US" altLang="zh-CN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PAGE_CACHE </a:t>
            </a:r>
            <a:r>
              <a:rPr lang="en-US" altLang="zh-CN" dirty="0" err="1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命中复用</a:t>
            </a:r>
            <a:endParaRPr lang="en-US" altLang="zh-CN" dirty="0">
              <a:solidFill>
                <a:srgbClr val="11111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D68A022-3318-A335-4E03-0421D6885608}"/>
              </a:ext>
            </a:extLst>
          </p:cNvPr>
          <p:cNvSpPr/>
          <p:nvPr/>
        </p:nvSpPr>
        <p:spPr>
          <a:xfrm>
            <a:off x="4738255" y="1805699"/>
            <a:ext cx="7829203" cy="1196732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B0F5D34-4384-9496-D53A-C47DAE771FE6}"/>
              </a:ext>
            </a:extLst>
          </p:cNvPr>
          <p:cNvSpPr txBox="1"/>
          <p:nvPr/>
        </p:nvSpPr>
        <p:spPr>
          <a:xfrm>
            <a:off x="5255544" y="1925104"/>
            <a:ext cx="63857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缺页处理把</a:t>
            </a:r>
            <a:r>
              <a:rPr lang="en-US" altLang="zh-CN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 lazy </a:t>
            </a:r>
            <a:r>
              <a:rPr lang="en-US" altLang="zh-CN" dirty="0" err="1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allocation、COW</a:t>
            </a:r>
            <a:r>
              <a:rPr lang="en-US" altLang="zh-CN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 和 file-backed </a:t>
            </a:r>
            <a:r>
              <a:rPr lang="en-US" altLang="zh-CN" dirty="0" err="1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mmap</a:t>
            </a:r>
            <a:r>
              <a:rPr lang="en-US" altLang="zh-CN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 </a:t>
            </a:r>
            <a:r>
              <a:rPr lang="en-US" altLang="zh-CN" dirty="0" err="1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统一到一个路径下</a:t>
            </a:r>
            <a:r>
              <a:rPr lang="zh-CN" altLang="en-US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。</a:t>
            </a:r>
            <a:r>
              <a:rPr lang="en-US" altLang="zh-CN" dirty="0" err="1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这种设计降低</a:t>
            </a:r>
            <a:r>
              <a:rPr lang="en-US" altLang="zh-CN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 fork 和 </a:t>
            </a:r>
            <a:r>
              <a:rPr lang="en-US" altLang="zh-CN" dirty="0" err="1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mmap</a:t>
            </a:r>
            <a:r>
              <a:rPr lang="en-US" altLang="zh-CN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 </a:t>
            </a:r>
            <a:r>
              <a:rPr lang="en-US" altLang="zh-CN" dirty="0" err="1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的初始开销，也为后续页缓存和</a:t>
            </a:r>
            <a:r>
              <a:rPr lang="en-US" altLang="zh-CN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 VMA </a:t>
            </a:r>
            <a:r>
              <a:rPr lang="en-US" altLang="zh-CN" dirty="0" err="1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快速路径优化留下空间</a:t>
            </a:r>
            <a:endParaRPr lang="zh-CN" altLang="en-US" dirty="0">
              <a:solidFill>
                <a:schemeClr val="bg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69855027-3994-4CD2-20EE-10CB337C7AD2}"/>
              </a:ext>
            </a:extLst>
          </p:cNvPr>
          <p:cNvCxnSpPr/>
          <p:nvPr/>
        </p:nvCxnSpPr>
        <p:spPr>
          <a:xfrm>
            <a:off x="904240" y="2499360"/>
            <a:ext cx="0" cy="660400"/>
          </a:xfrm>
          <a:prstGeom prst="straightConnector1">
            <a:avLst/>
          </a:prstGeom>
          <a:ln w="2540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5B9CB48D-9607-1340-C61E-89EB19FD47C7}"/>
              </a:ext>
            </a:extLst>
          </p:cNvPr>
          <p:cNvCxnSpPr/>
          <p:nvPr/>
        </p:nvCxnSpPr>
        <p:spPr>
          <a:xfrm>
            <a:off x="904240" y="3476342"/>
            <a:ext cx="0" cy="660400"/>
          </a:xfrm>
          <a:prstGeom prst="straightConnector1">
            <a:avLst/>
          </a:prstGeom>
          <a:ln w="2540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F32180A9-9951-6EAC-544A-11A8D19D70EF}"/>
              </a:ext>
            </a:extLst>
          </p:cNvPr>
          <p:cNvCxnSpPr/>
          <p:nvPr/>
        </p:nvCxnSpPr>
        <p:spPr>
          <a:xfrm>
            <a:off x="904240" y="4431980"/>
            <a:ext cx="0" cy="660400"/>
          </a:xfrm>
          <a:prstGeom prst="straightConnector1">
            <a:avLst/>
          </a:prstGeom>
          <a:ln w="2540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28419" y="3125574"/>
            <a:ext cx="10955482" cy="482599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我们沿用 Linux task 思路，但把进程级资源和线程级状态拆成 PCB / TCB </a:t>
            </a:r>
            <a:r>
              <a:rPr lang="en-US" sz="2400" dirty="0" err="1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两层</a:t>
            </a:r>
            <a:endParaRPr lang="en-US" sz="24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50D88427-5805-F912-C714-4A5365811484}"/>
              </a:ext>
            </a:extLst>
          </p:cNvPr>
          <p:cNvGrpSpPr/>
          <p:nvPr/>
        </p:nvGrpSpPr>
        <p:grpSpPr>
          <a:xfrm>
            <a:off x="0" y="1738417"/>
            <a:ext cx="12192000" cy="1170432"/>
            <a:chOff x="0" y="2083603"/>
            <a:chExt cx="12192000" cy="1170432"/>
          </a:xfrm>
        </p:grpSpPr>
        <p:sp>
          <p:nvSpPr>
            <p:cNvPr id="4" name="Text 2"/>
            <p:cNvSpPr/>
            <p:nvPr/>
          </p:nvSpPr>
          <p:spPr>
            <a:xfrm>
              <a:off x="0" y="2083603"/>
              <a:ext cx="6014720" cy="117043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10160">
              <a:noFill/>
            </a:ln>
          </p:spPr>
          <p:txBody>
            <a:bodyPr wrap="square" lIns="635" tIns="635" rIns="635" bIns="635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chemeClr val="bg1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Consolas" panose="020B0609020204030204" pitchFamily="34" charset="-120"/>
                </a:rPr>
                <a:t>ProcessControlBlock</a:t>
              </a:r>
              <a:endParaRPr lang="en-US" sz="16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  <a:p>
              <a:pPr marL="0" indent="0" algn="ctr">
                <a:buNone/>
              </a:pPr>
              <a:r>
                <a:rPr lang="en-US" sz="1600" dirty="0">
                  <a:solidFill>
                    <a:schemeClr val="bg1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Consolas" panose="020B0609020204030204" pitchFamily="34" charset="-120"/>
                </a:rPr>
                <a:t>pid / memory_set / fd_table / fs context</a:t>
              </a:r>
              <a:endParaRPr lang="en-US" sz="16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  <a:p>
              <a:pPr marL="0" indent="0" algn="ctr">
                <a:buNone/>
              </a:pPr>
              <a:r>
                <a:rPr lang="en-US" sz="1600" dirty="0">
                  <a:solidFill>
                    <a:schemeClr val="bg1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Consolas" panose="020B0609020204030204" pitchFamily="34" charset="-120"/>
                </a:rPr>
                <a:t>children / credentials / signal actions</a:t>
              </a:r>
              <a:endParaRPr lang="en-US" sz="16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5" name="Text 3"/>
            <p:cNvSpPr/>
            <p:nvPr/>
          </p:nvSpPr>
          <p:spPr>
            <a:xfrm>
              <a:off x="6014720" y="2083603"/>
              <a:ext cx="6177280" cy="11704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0160">
              <a:noFill/>
            </a:ln>
          </p:spPr>
          <p:txBody>
            <a:bodyPr wrap="square" lIns="635" tIns="635" rIns="635" bIns="635" rtlCol="0" anchor="ctr"/>
            <a:lstStyle/>
            <a:p>
              <a:pPr marL="0" indent="0" algn="ctr">
                <a:buNone/>
              </a:pPr>
              <a:r>
                <a:rPr lang="en-US" sz="1600" dirty="0" err="1">
                  <a:latin typeface="华文中宋" panose="02010600040101010101" pitchFamily="2" charset="-122"/>
                  <a:ea typeface="华文中宋" panose="02010600040101010101" pitchFamily="2" charset="-122"/>
                </a:rPr>
                <a:t>TaskControlBlock</a:t>
              </a:r>
              <a:endParaRPr lang="en-US" sz="16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  <a:p>
              <a:pPr marL="0" indent="0" algn="ctr">
                <a:buNone/>
              </a:pPr>
              <a:r>
                <a:rPr lang="en-US" sz="1600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kstack / TrapContext / </a:t>
              </a:r>
              <a:r>
                <a:rPr lang="en-US" sz="1600" dirty="0" err="1">
                  <a:latin typeface="华文中宋" panose="02010600040101010101" pitchFamily="2" charset="-122"/>
                  <a:ea typeface="华文中宋" panose="02010600040101010101" pitchFamily="2" charset="-122"/>
                </a:rPr>
                <a:t>task_cx</a:t>
              </a:r>
              <a:endParaRPr lang="en-US" sz="16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  <a:p>
              <a:pPr marL="0" indent="0" algn="ctr">
                <a:buNone/>
              </a:pPr>
              <a:r>
                <a:rPr lang="en-US" sz="1600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linux_tid / signal mask / sched state</a:t>
              </a:r>
            </a:p>
          </p:txBody>
        </p:sp>
      </p:grpSp>
      <p:cxnSp>
        <p:nvCxnSpPr>
          <p:cNvPr id="11" name="直接连接符 10"/>
          <p:cNvCxnSpPr/>
          <p:nvPr/>
        </p:nvCxnSpPr>
        <p:spPr>
          <a:xfrm>
            <a:off x="519545" y="1039091"/>
            <a:ext cx="7813964" cy="0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11641282" y="342901"/>
            <a:ext cx="259773" cy="58189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550718" y="155351"/>
            <a:ext cx="241808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4400" dirty="0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内核</a:t>
            </a:r>
            <a:r>
              <a:rPr lang="zh-CN" altLang="en-US" sz="4400" dirty="0">
                <a:latin typeface="华文中宋" panose="02010600040101010101" pitchFamily="2" charset="-122"/>
                <a:ea typeface="华文中宋" panose="02010600040101010101" pitchFamily="2" charset="-122"/>
              </a:rPr>
              <a:t>模块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687774" y="1153391"/>
            <a:ext cx="2090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Process</a:t>
            </a:r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067764" y="463127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进程管理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F66A9D57-4FD5-F131-4D05-5CA5F17C518F}"/>
              </a:ext>
            </a:extLst>
          </p:cNvPr>
          <p:cNvGrpSpPr/>
          <p:nvPr/>
        </p:nvGrpSpPr>
        <p:grpSpPr>
          <a:xfrm>
            <a:off x="1225598" y="3708400"/>
            <a:ext cx="6615794" cy="619760"/>
            <a:chOff x="1225598" y="3708400"/>
            <a:chExt cx="6615794" cy="619760"/>
          </a:xfrm>
        </p:grpSpPr>
        <p:sp>
          <p:nvSpPr>
            <p:cNvPr id="19" name="平行四边形 18">
              <a:extLst>
                <a:ext uri="{FF2B5EF4-FFF2-40B4-BE49-F238E27FC236}">
                  <a16:creationId xmlns:a16="http://schemas.microsoft.com/office/drawing/2014/main" id="{CB0D5DCD-995D-6A18-4FB2-05674805818A}"/>
                </a:ext>
              </a:extLst>
            </p:cNvPr>
            <p:cNvSpPr/>
            <p:nvPr/>
          </p:nvSpPr>
          <p:spPr>
            <a:xfrm>
              <a:off x="1818640" y="3708400"/>
              <a:ext cx="538480" cy="619760"/>
            </a:xfrm>
            <a:prstGeom prst="parallelogram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7E555E46-8D35-2EE0-8A5C-DE32A316FD74}"/>
                </a:ext>
              </a:extLst>
            </p:cNvPr>
            <p:cNvSpPr txBox="1"/>
            <p:nvPr/>
          </p:nvSpPr>
          <p:spPr>
            <a:xfrm>
              <a:off x="1225598" y="3792836"/>
              <a:ext cx="17956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等线" pitchFamily="34" charset="-120"/>
                </a:rPr>
                <a:t>clone / clone3</a:t>
              </a:r>
              <a:endPara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A72C88E7-BEF9-C96E-9E2C-221E26EE8D66}"/>
                </a:ext>
              </a:extLst>
            </p:cNvPr>
            <p:cNvSpPr txBox="1"/>
            <p:nvPr/>
          </p:nvSpPr>
          <p:spPr>
            <a:xfrm>
              <a:off x="3169920" y="3840134"/>
              <a:ext cx="46714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err="1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等线" pitchFamily="34" charset="-120"/>
                </a:rPr>
                <a:t>解析</a:t>
              </a:r>
              <a:r>
                <a:rPr lang="en-US" altLang="zh-CN" dirty="0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等线" pitchFamily="34" charset="-120"/>
                </a:rPr>
                <a:t> Linux </a:t>
              </a:r>
              <a:r>
                <a:rPr lang="en-US" altLang="zh-CN" dirty="0" err="1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等线" pitchFamily="34" charset="-120"/>
                </a:rPr>
                <a:t>共享标志，决定资源复制或共享</a:t>
              </a:r>
              <a:endPara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58612E96-9602-67C8-407C-C7F0BE4C6CBB}"/>
              </a:ext>
            </a:extLst>
          </p:cNvPr>
          <p:cNvGrpSpPr/>
          <p:nvPr/>
        </p:nvGrpSpPr>
        <p:grpSpPr>
          <a:xfrm>
            <a:off x="1225598" y="4488180"/>
            <a:ext cx="10094310" cy="619760"/>
            <a:chOff x="1225598" y="3708400"/>
            <a:chExt cx="10094310" cy="619760"/>
          </a:xfrm>
        </p:grpSpPr>
        <p:sp>
          <p:nvSpPr>
            <p:cNvPr id="22" name="平行四边形 21">
              <a:extLst>
                <a:ext uri="{FF2B5EF4-FFF2-40B4-BE49-F238E27FC236}">
                  <a16:creationId xmlns:a16="http://schemas.microsoft.com/office/drawing/2014/main" id="{4154EA2D-FE81-00FC-9156-F3B6032A52B7}"/>
                </a:ext>
              </a:extLst>
            </p:cNvPr>
            <p:cNvSpPr/>
            <p:nvPr/>
          </p:nvSpPr>
          <p:spPr>
            <a:xfrm>
              <a:off x="1818640" y="3708400"/>
              <a:ext cx="538480" cy="619760"/>
            </a:xfrm>
            <a:prstGeom prst="parallelogram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621EFA14-F77A-D80C-C4B2-E608AE86085C}"/>
                </a:ext>
              </a:extLst>
            </p:cNvPr>
            <p:cNvSpPr txBox="1"/>
            <p:nvPr/>
          </p:nvSpPr>
          <p:spPr>
            <a:xfrm>
              <a:off x="1225598" y="3792836"/>
              <a:ext cx="194155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 err="1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等线" pitchFamily="34" charset="-120"/>
                </a:rPr>
                <a:t>execve</a:t>
              </a:r>
              <a:r>
                <a:rPr lang="en-US" altLang="zh-CN" sz="1600" dirty="0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等线" pitchFamily="34" charset="-120"/>
                </a:rPr>
                <a:t> / </a:t>
              </a:r>
              <a:r>
                <a:rPr lang="en-US" altLang="zh-CN" sz="1600" dirty="0" err="1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等线" pitchFamily="34" charset="-120"/>
                </a:rPr>
                <a:t>execveat</a:t>
              </a:r>
              <a:endParaRPr lang="zh-CN" altLang="en-US" sz="16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878D2B79-D629-106B-953F-0054FF67E142}"/>
                </a:ext>
              </a:extLst>
            </p:cNvPr>
            <p:cNvSpPr txBox="1"/>
            <p:nvPr/>
          </p:nvSpPr>
          <p:spPr>
            <a:xfrm>
              <a:off x="3169920" y="3840134"/>
              <a:ext cx="81499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err="1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重建地址空间、用户栈、argv</a:t>
              </a:r>
              <a:r>
                <a:rPr lang="en-US" altLang="zh-CN" dirty="0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/</a:t>
              </a:r>
              <a:r>
                <a:rPr lang="en-US" altLang="zh-CN" dirty="0" err="1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envp</a:t>
              </a:r>
              <a:r>
                <a:rPr lang="en-US" altLang="zh-CN" dirty="0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/</a:t>
              </a:r>
              <a:r>
                <a:rPr lang="en-US" altLang="zh-CN" dirty="0" err="1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auxv，并支持</a:t>
              </a:r>
              <a:r>
                <a:rPr lang="en-US" altLang="zh-CN" dirty="0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 shebang 与 PT_INTERP</a:t>
              </a:r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76B96914-E070-9420-A086-32382A2D33E7}"/>
              </a:ext>
            </a:extLst>
          </p:cNvPr>
          <p:cNvGrpSpPr/>
          <p:nvPr/>
        </p:nvGrpSpPr>
        <p:grpSpPr>
          <a:xfrm>
            <a:off x="1175639" y="5249288"/>
            <a:ext cx="10217741" cy="619760"/>
            <a:chOff x="1225598" y="3708400"/>
            <a:chExt cx="10217741" cy="619760"/>
          </a:xfrm>
        </p:grpSpPr>
        <p:sp>
          <p:nvSpPr>
            <p:cNvPr id="26" name="平行四边形 25">
              <a:extLst>
                <a:ext uri="{FF2B5EF4-FFF2-40B4-BE49-F238E27FC236}">
                  <a16:creationId xmlns:a16="http://schemas.microsoft.com/office/drawing/2014/main" id="{821CE1AD-59AF-B228-E8E6-D9CAD6BA42CE}"/>
                </a:ext>
              </a:extLst>
            </p:cNvPr>
            <p:cNvSpPr/>
            <p:nvPr/>
          </p:nvSpPr>
          <p:spPr>
            <a:xfrm>
              <a:off x="1818640" y="3708400"/>
              <a:ext cx="538480" cy="619760"/>
            </a:xfrm>
            <a:prstGeom prst="parallelogram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B480FAB1-67BB-9C89-5F02-91AA091ACCC0}"/>
                </a:ext>
              </a:extLst>
            </p:cNvPr>
            <p:cNvSpPr txBox="1"/>
            <p:nvPr/>
          </p:nvSpPr>
          <p:spPr>
            <a:xfrm>
              <a:off x="1225598" y="3792836"/>
              <a:ext cx="17668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等线" pitchFamily="34" charset="-120"/>
                </a:rPr>
                <a:t>wait4 / </a:t>
              </a:r>
              <a:r>
                <a:rPr lang="en-US" altLang="zh-CN" dirty="0" err="1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等线" pitchFamily="34" charset="-120"/>
                </a:rPr>
                <a:t>waitid</a:t>
              </a:r>
              <a:endPara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E726B188-839A-04B2-5B45-10681CB813DA}"/>
                </a:ext>
              </a:extLst>
            </p:cNvPr>
            <p:cNvSpPr txBox="1"/>
            <p:nvPr/>
          </p:nvSpPr>
          <p:spPr>
            <a:xfrm>
              <a:off x="3169920" y="3840134"/>
              <a:ext cx="82734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111111"/>
                  </a:solidFill>
                  <a:latin typeface="等线" pitchFamily="34" charset="0"/>
                  <a:ea typeface="等线" pitchFamily="34" charset="-122"/>
                  <a:cs typeface="等线" pitchFamily="34" charset="-120"/>
                </a:rPr>
                <a:t> </a:t>
              </a:r>
              <a:r>
                <a:rPr lang="en-US" altLang="zh-CN" dirty="0" err="1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回收子进程，支持</a:t>
              </a:r>
              <a:r>
                <a:rPr lang="en-US" altLang="zh-CN" dirty="0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 WNOHANG、WUNTRACED、WCONTINUED 和 </a:t>
              </a:r>
              <a:r>
                <a:rPr lang="en-US" altLang="zh-CN" dirty="0" err="1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rusage</a:t>
              </a:r>
              <a:endParaRPr lang="en-US" altLang="zh-CN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FC2D2CB4-A387-F41A-25C6-DA9AB61CD49E}"/>
              </a:ext>
            </a:extLst>
          </p:cNvPr>
          <p:cNvGrpSpPr/>
          <p:nvPr/>
        </p:nvGrpSpPr>
        <p:grpSpPr>
          <a:xfrm>
            <a:off x="1175639" y="5993094"/>
            <a:ext cx="8295741" cy="619760"/>
            <a:chOff x="1225598" y="3708400"/>
            <a:chExt cx="8295741" cy="619760"/>
          </a:xfrm>
        </p:grpSpPr>
        <p:sp>
          <p:nvSpPr>
            <p:cNvPr id="34" name="平行四边形 33">
              <a:extLst>
                <a:ext uri="{FF2B5EF4-FFF2-40B4-BE49-F238E27FC236}">
                  <a16:creationId xmlns:a16="http://schemas.microsoft.com/office/drawing/2014/main" id="{5A7DC3D0-570E-5F9F-44AE-FC974A1D840A}"/>
                </a:ext>
              </a:extLst>
            </p:cNvPr>
            <p:cNvSpPr/>
            <p:nvPr/>
          </p:nvSpPr>
          <p:spPr>
            <a:xfrm>
              <a:off x="1818640" y="3708400"/>
              <a:ext cx="538480" cy="619760"/>
            </a:xfrm>
            <a:prstGeom prst="parallelogram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66B02FDD-10D1-41B4-85C2-36BA222EE81C}"/>
                </a:ext>
              </a:extLst>
            </p:cNvPr>
            <p:cNvSpPr txBox="1"/>
            <p:nvPr/>
          </p:nvSpPr>
          <p:spPr>
            <a:xfrm>
              <a:off x="1225598" y="3792836"/>
              <a:ext cx="184858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等线" pitchFamily="34" charset="-120"/>
                </a:rPr>
                <a:t>exit / </a:t>
              </a:r>
              <a:r>
                <a:rPr lang="en-US" altLang="zh-CN" sz="1600" dirty="0" err="1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等线" pitchFamily="34" charset="-120"/>
                </a:rPr>
                <a:t>exit_group</a:t>
              </a:r>
              <a:endParaRPr lang="zh-CN" altLang="en-US" sz="16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9234509C-EF22-AFB5-2253-26B48D80873A}"/>
                </a:ext>
              </a:extLst>
            </p:cNvPr>
            <p:cNvSpPr txBox="1"/>
            <p:nvPr/>
          </p:nvSpPr>
          <p:spPr>
            <a:xfrm>
              <a:off x="3169920" y="3840134"/>
              <a:ext cx="63514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 </a:t>
              </a:r>
              <a:r>
                <a:rPr lang="en-US" altLang="zh-CN" dirty="0" err="1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处理</a:t>
              </a:r>
              <a:r>
                <a:rPr lang="en-US" altLang="zh-CN" dirty="0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 </a:t>
              </a:r>
              <a:r>
                <a:rPr lang="en-US" altLang="zh-CN" dirty="0" err="1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clear_child_tid、robust</a:t>
              </a:r>
              <a:r>
                <a:rPr lang="en-US" altLang="zh-CN" dirty="0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 </a:t>
              </a:r>
              <a:r>
                <a:rPr lang="en-US" altLang="zh-CN" dirty="0" err="1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list、子进程收养和延迟释放</a:t>
              </a:r>
              <a:endParaRPr lang="zh-CN" altLang="en-US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778548" y="2120897"/>
            <a:ext cx="7109921" cy="536521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调度器同时支持普通任务和实时任务，pthread 兼容依赖 futex 与 robust list。</a:t>
            </a:r>
            <a:endParaRPr lang="en-US" sz="20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2FBA5C7E-9DAB-11D5-163B-AEF3BE06F18F}"/>
              </a:ext>
            </a:extLst>
          </p:cNvPr>
          <p:cNvGrpSpPr/>
          <p:nvPr/>
        </p:nvGrpSpPr>
        <p:grpSpPr>
          <a:xfrm>
            <a:off x="685800" y="2009509"/>
            <a:ext cx="3642360" cy="4076323"/>
            <a:chOff x="685800" y="2009510"/>
            <a:chExt cx="3642360" cy="2115450"/>
          </a:xfrm>
        </p:grpSpPr>
        <p:sp>
          <p:nvSpPr>
            <p:cNvPr id="4" name="Text 2"/>
            <p:cNvSpPr/>
            <p:nvPr/>
          </p:nvSpPr>
          <p:spPr>
            <a:xfrm>
              <a:off x="685800" y="2009510"/>
              <a:ext cx="3642360" cy="502920"/>
            </a:xfrm>
            <a:prstGeom prst="rect">
              <a:avLst/>
            </a:prstGeom>
            <a:solidFill>
              <a:srgbClr val="F2F2F2"/>
            </a:solidFill>
            <a:ln w="10160">
              <a:noFill/>
            </a:ln>
          </p:spPr>
          <p:txBody>
            <a:bodyPr wrap="square" lIns="635" tIns="635" rIns="635" bIns="635" rtlCol="0" anchor="ctr"/>
            <a:lstStyle/>
            <a:p>
              <a:pPr marL="0" indent="0" algn="ctr">
                <a:buNone/>
              </a:pPr>
              <a:r>
                <a:rPr lang="en-US" dirty="0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Consolas" panose="020B0609020204030204" pitchFamily="34" charset="-120"/>
                </a:rPr>
                <a:t>TaskManager</a:t>
              </a:r>
              <a:endParaRPr lang="en-US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6" name="Text 4"/>
            <p:cNvSpPr/>
            <p:nvPr/>
          </p:nvSpPr>
          <p:spPr>
            <a:xfrm>
              <a:off x="685800" y="2518018"/>
              <a:ext cx="3642360" cy="502920"/>
            </a:xfrm>
            <a:prstGeom prst="rect">
              <a:avLst/>
            </a:prstGeom>
            <a:solidFill>
              <a:srgbClr val="FFFFFF"/>
            </a:solidFill>
            <a:ln w="10160">
              <a:noFill/>
            </a:ln>
          </p:spPr>
          <p:txBody>
            <a:bodyPr wrap="square" lIns="635" tIns="635" rIns="635" bIns="635" rtlCol="0" anchor="ctr"/>
            <a:lstStyle/>
            <a:p>
              <a:pPr algn="ctr"/>
              <a:r>
                <a:rPr lang="en-US" sz="1600" dirty="0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RT queues</a:t>
              </a:r>
            </a:p>
            <a:p>
              <a:pPr algn="ctr"/>
              <a:r>
                <a:rPr lang="en-US" sz="1600" dirty="0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100 个优先级桶 + bitmap</a:t>
              </a:r>
            </a:p>
          </p:txBody>
        </p:sp>
        <p:sp>
          <p:nvSpPr>
            <p:cNvPr id="7" name="Text 5"/>
            <p:cNvSpPr/>
            <p:nvPr/>
          </p:nvSpPr>
          <p:spPr>
            <a:xfrm>
              <a:off x="685800" y="3020245"/>
              <a:ext cx="3642360" cy="5029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0160">
              <a:noFill/>
            </a:ln>
          </p:spPr>
          <p:txBody>
            <a:bodyPr wrap="square" lIns="635" tIns="635" rIns="635" bIns="635" rtlCol="0" anchor="ctr"/>
            <a:lstStyle/>
            <a:p>
              <a:pPr indent="0" algn="ctr">
                <a:buNone/>
              </a:pPr>
              <a:r>
                <a:rPr lang="en-US" sz="1600" dirty="0" err="1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normal_queue</a:t>
              </a:r>
              <a:endParaRPr lang="en-US" sz="1600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  <a:p>
              <a:pPr indent="0" algn="ctr">
                <a:buNone/>
              </a:pPr>
              <a:r>
                <a:rPr lang="en-US" sz="1600" dirty="0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BTreeMap(vruntime, seq)</a:t>
              </a:r>
            </a:p>
          </p:txBody>
        </p:sp>
        <p:sp>
          <p:nvSpPr>
            <p:cNvPr id="10" name="Text 8"/>
            <p:cNvSpPr/>
            <p:nvPr/>
          </p:nvSpPr>
          <p:spPr>
            <a:xfrm>
              <a:off x="685800" y="3531616"/>
              <a:ext cx="3642360" cy="593344"/>
            </a:xfrm>
            <a:prstGeom prst="rect">
              <a:avLst/>
            </a:prstGeom>
            <a:solidFill>
              <a:schemeClr val="bg1"/>
            </a:solidFill>
            <a:ln w="10160">
              <a:noFill/>
            </a:ln>
          </p:spPr>
          <p:txBody>
            <a:bodyPr wrap="square" lIns="635" tIns="635" rIns="635" bIns="635" rtlCol="0" anchor="ctr"/>
            <a:lstStyle/>
            <a:p>
              <a:pPr algn="ctr"/>
              <a:r>
                <a:rPr lang="en-US" sz="1600" dirty="0" err="1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fetch_task</a:t>
              </a:r>
              <a:endParaRPr lang="en-US" sz="1600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  <a:p>
              <a:pPr algn="ctr"/>
              <a:r>
                <a:rPr lang="en-US" sz="1600" dirty="0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优先 </a:t>
              </a:r>
              <a:r>
                <a:rPr lang="en-US" sz="1600" dirty="0" err="1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RT，其次最小</a:t>
              </a:r>
              <a:r>
                <a:rPr lang="en-US" sz="1600" dirty="0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 </a:t>
              </a:r>
              <a:r>
                <a:rPr lang="en-US" sz="1600" dirty="0" err="1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vruntime</a:t>
              </a:r>
              <a:endParaRPr lang="en-US" sz="1600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</p:grpSp>
      <p:sp>
        <p:nvSpPr>
          <p:cNvPr id="11" name="Text 9"/>
          <p:cNvSpPr/>
          <p:nvPr/>
        </p:nvSpPr>
        <p:spPr>
          <a:xfrm>
            <a:off x="6370320" y="3313153"/>
            <a:ext cx="4709160" cy="45720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r>
              <a:rPr lang="en-US" sz="1600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set_tid_address：线程退出时清零 clear_child_tid 并唤醒 futex</a:t>
            </a:r>
            <a:endParaRPr lang="en-US" sz="16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365008" y="4033520"/>
            <a:ext cx="4709160" cy="45720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r>
              <a:rPr lang="en-US" sz="1600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futex WAIT / WAKE / REQUEUE：支撑 musl pthread mutex / condvar / join 主路径</a:t>
            </a:r>
            <a:endParaRPr lang="en-US" sz="16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365008" y="4683760"/>
            <a:ext cx="4709160" cy="45720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r>
              <a:rPr lang="en-US" sz="1600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robust list：线程退出时标记 owner-death，兼容 robust mutex 场景</a:t>
            </a:r>
            <a:endParaRPr lang="en-US" sz="16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370320" y="5369560"/>
            <a:ext cx="4709160" cy="45720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r>
              <a:rPr lang="en-US" sz="1600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信号、调度和退出路径共享 TCB 状态，避免进程级资源和线程状态混淆</a:t>
            </a:r>
            <a:endParaRPr lang="en-US" sz="16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519545" y="1039091"/>
            <a:ext cx="7813964" cy="0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11641282" y="342901"/>
            <a:ext cx="259773" cy="58189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550718" y="155351"/>
            <a:ext cx="241808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4400" dirty="0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内核</a:t>
            </a:r>
            <a:r>
              <a:rPr lang="zh-CN" altLang="en-US" sz="4400" dirty="0">
                <a:latin typeface="华文中宋" panose="02010600040101010101" pitchFamily="2" charset="-122"/>
                <a:ea typeface="华文中宋" panose="02010600040101010101" pitchFamily="2" charset="-122"/>
              </a:rPr>
              <a:t>模块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687774" y="1153391"/>
            <a:ext cx="2090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Process</a:t>
            </a:r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067764" y="463127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进程管理</a:t>
            </a:r>
          </a:p>
        </p:txBody>
      </p:sp>
      <p:sp>
        <p:nvSpPr>
          <p:cNvPr id="5" name="Shape 3"/>
          <p:cNvSpPr/>
          <p:nvPr/>
        </p:nvSpPr>
        <p:spPr>
          <a:xfrm>
            <a:off x="909320" y="2809436"/>
            <a:ext cx="0" cy="338328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3">
            <a:extLst>
              <a:ext uri="{FF2B5EF4-FFF2-40B4-BE49-F238E27FC236}">
                <a16:creationId xmlns:a16="http://schemas.microsoft.com/office/drawing/2014/main" id="{6559BB87-E290-A9BB-3266-A555E8232560}"/>
              </a:ext>
            </a:extLst>
          </p:cNvPr>
          <p:cNvSpPr/>
          <p:nvPr/>
        </p:nvSpPr>
        <p:spPr>
          <a:xfrm>
            <a:off x="909320" y="3769360"/>
            <a:ext cx="0" cy="338328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3">
            <a:extLst>
              <a:ext uri="{FF2B5EF4-FFF2-40B4-BE49-F238E27FC236}">
                <a16:creationId xmlns:a16="http://schemas.microsoft.com/office/drawing/2014/main" id="{82CBFFE9-5FFB-3A19-5EC4-A7B930C36050}"/>
              </a:ext>
            </a:extLst>
          </p:cNvPr>
          <p:cNvSpPr/>
          <p:nvPr/>
        </p:nvSpPr>
        <p:spPr>
          <a:xfrm>
            <a:off x="909320" y="4744576"/>
            <a:ext cx="0" cy="338328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F21850D-46E3-243E-67B6-B790BE3ED790}"/>
              </a:ext>
            </a:extLst>
          </p:cNvPr>
          <p:cNvSpPr/>
          <p:nvPr/>
        </p:nvSpPr>
        <p:spPr>
          <a:xfrm>
            <a:off x="5435600" y="3357880"/>
            <a:ext cx="213360" cy="457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5905A75-3F82-EB8F-486D-3CA76B1670C8}"/>
              </a:ext>
            </a:extLst>
          </p:cNvPr>
          <p:cNvSpPr/>
          <p:nvPr/>
        </p:nvSpPr>
        <p:spPr>
          <a:xfrm>
            <a:off x="5435600" y="4023360"/>
            <a:ext cx="213360" cy="457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31A5612-CD8E-9886-853F-2B0AF0E6A0E6}"/>
              </a:ext>
            </a:extLst>
          </p:cNvPr>
          <p:cNvSpPr/>
          <p:nvPr/>
        </p:nvSpPr>
        <p:spPr>
          <a:xfrm>
            <a:off x="5435600" y="4698856"/>
            <a:ext cx="213360" cy="457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7E2AC49-5536-E21C-F2D3-D8BC8CD7B722}"/>
              </a:ext>
            </a:extLst>
          </p:cNvPr>
          <p:cNvSpPr/>
          <p:nvPr/>
        </p:nvSpPr>
        <p:spPr>
          <a:xfrm>
            <a:off x="5435600" y="5369560"/>
            <a:ext cx="213360" cy="457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/>
          <p:nvPr/>
        </p:nvCxnSpPr>
        <p:spPr>
          <a:xfrm>
            <a:off x="519545" y="1039091"/>
            <a:ext cx="7813964" cy="0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11641282" y="342901"/>
            <a:ext cx="259773" cy="58189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550718" y="155351"/>
            <a:ext cx="241808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4400" dirty="0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内核</a:t>
            </a:r>
            <a:r>
              <a:rPr lang="zh-CN" altLang="en-US" sz="4400" dirty="0">
                <a:latin typeface="华文中宋" panose="02010600040101010101" pitchFamily="2" charset="-122"/>
                <a:ea typeface="华文中宋" panose="02010600040101010101" pitchFamily="2" charset="-122"/>
              </a:rPr>
              <a:t>模块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687774" y="1153391"/>
            <a:ext cx="2090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Signal</a:t>
            </a:r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067764" y="463127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信号处理</a:t>
            </a:r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2327E592-1EE7-C6C2-38CC-1494A5D7E822}"/>
              </a:ext>
            </a:extLst>
          </p:cNvPr>
          <p:cNvSpPr/>
          <p:nvPr/>
        </p:nvSpPr>
        <p:spPr>
          <a:xfrm>
            <a:off x="4778548" y="2120897"/>
            <a:ext cx="7109921" cy="536521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>
              <a:lnSpc>
                <a:spcPct val="125000"/>
              </a:lnSpc>
            </a:pPr>
            <a:r>
              <a:rPr lang="en-US" altLang="zh-CN" sz="2000" dirty="0" err="1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信号系统兼容</a:t>
            </a:r>
            <a:r>
              <a:rPr lang="en-US" altLang="zh-CN" sz="2000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Linux </a:t>
            </a:r>
            <a:r>
              <a:rPr lang="en-US" altLang="zh-CN" sz="2000" dirty="0" err="1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rt_sigaction</a:t>
            </a:r>
            <a:r>
              <a:rPr lang="en-US" altLang="zh-CN" sz="2000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/ </a:t>
            </a:r>
            <a:r>
              <a:rPr lang="en-US" altLang="zh-CN" sz="2000" dirty="0" err="1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rt_sigprocmask</a:t>
            </a:r>
            <a:r>
              <a:rPr lang="en-US" altLang="zh-CN" sz="2000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/ </a:t>
            </a:r>
            <a:r>
              <a:rPr lang="en-US" altLang="zh-CN" sz="2000" dirty="0" err="1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rt_sigreturn</a:t>
            </a:r>
            <a:r>
              <a:rPr lang="en-US" altLang="zh-CN" sz="2000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sz="2000" dirty="0" err="1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主路径</a:t>
            </a:r>
            <a:r>
              <a:rPr lang="en-US" altLang="zh-CN" sz="2000" dirty="0">
                <a:solidFill>
                  <a:srgbClr val="111111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。</a:t>
            </a:r>
            <a:endParaRPr lang="en-US" altLang="zh-CN" sz="2000" dirty="0"/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66886195-DD2C-668A-005B-619E841D34FE}"/>
              </a:ext>
            </a:extLst>
          </p:cNvPr>
          <p:cNvGrpSpPr/>
          <p:nvPr/>
        </p:nvGrpSpPr>
        <p:grpSpPr>
          <a:xfrm>
            <a:off x="685800" y="2009509"/>
            <a:ext cx="3642360" cy="4076323"/>
            <a:chOff x="685800" y="2009510"/>
            <a:chExt cx="3642360" cy="2115450"/>
          </a:xfrm>
        </p:grpSpPr>
        <p:sp>
          <p:nvSpPr>
            <p:cNvPr id="21" name="Text 2">
              <a:extLst>
                <a:ext uri="{FF2B5EF4-FFF2-40B4-BE49-F238E27FC236}">
                  <a16:creationId xmlns:a16="http://schemas.microsoft.com/office/drawing/2014/main" id="{A1A986EC-0161-DDCC-217E-09A95DBC1166}"/>
                </a:ext>
              </a:extLst>
            </p:cNvPr>
            <p:cNvSpPr/>
            <p:nvPr/>
          </p:nvSpPr>
          <p:spPr>
            <a:xfrm>
              <a:off x="685800" y="2009510"/>
              <a:ext cx="3642360" cy="502920"/>
            </a:xfrm>
            <a:prstGeom prst="rect">
              <a:avLst/>
            </a:prstGeom>
            <a:solidFill>
              <a:srgbClr val="F2F2F2"/>
            </a:solidFill>
            <a:ln w="10160">
              <a:noFill/>
            </a:ln>
          </p:spPr>
          <p:txBody>
            <a:bodyPr wrap="square" lIns="635" tIns="635" rIns="635" bIns="635" rtlCol="0" anchor="ctr"/>
            <a:lstStyle/>
            <a:p>
              <a:pPr algn="ctr"/>
              <a:r>
                <a:rPr lang="en-US" altLang="zh-CN" sz="1600" dirty="0" err="1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syscall</a:t>
              </a:r>
              <a:r>
                <a:rPr lang="en-US" altLang="zh-CN" sz="1600" dirty="0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 / trap</a:t>
              </a:r>
            </a:p>
            <a:p>
              <a:pPr algn="ctr"/>
              <a:r>
                <a:rPr lang="en-US" altLang="zh-CN" sz="1600" dirty="0" err="1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准备返回用户态</a:t>
              </a:r>
              <a:endParaRPr lang="en-US" altLang="zh-CN" sz="1600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22" name="Text 4">
              <a:extLst>
                <a:ext uri="{FF2B5EF4-FFF2-40B4-BE49-F238E27FC236}">
                  <a16:creationId xmlns:a16="http://schemas.microsoft.com/office/drawing/2014/main" id="{39ABCEF6-AF83-49D6-FA7D-F032450560C5}"/>
                </a:ext>
              </a:extLst>
            </p:cNvPr>
            <p:cNvSpPr/>
            <p:nvPr/>
          </p:nvSpPr>
          <p:spPr>
            <a:xfrm>
              <a:off x="685800" y="2518018"/>
              <a:ext cx="3642360" cy="502920"/>
            </a:xfrm>
            <a:prstGeom prst="rect">
              <a:avLst/>
            </a:prstGeom>
            <a:solidFill>
              <a:srgbClr val="FFFFFF"/>
            </a:solidFill>
            <a:ln w="10160">
              <a:noFill/>
            </a:ln>
          </p:spPr>
          <p:txBody>
            <a:bodyPr wrap="square" lIns="635" tIns="635" rIns="635" bIns="635" rtlCol="0" anchor="ctr"/>
            <a:lstStyle/>
            <a:p>
              <a:pPr algn="ctr"/>
              <a:r>
                <a:rPr lang="en-US" altLang="zh-CN" sz="1600" dirty="0" err="1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check_signals_of_current</a:t>
              </a:r>
              <a:endParaRPr lang="en-US" altLang="zh-CN" sz="1600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  <a:p>
              <a:pPr algn="ctr"/>
              <a:r>
                <a:rPr lang="en-US" altLang="zh-CN" sz="1600" dirty="0" err="1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跳过被</a:t>
              </a:r>
              <a:r>
                <a:rPr lang="en-US" altLang="zh-CN" sz="1600" dirty="0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 mask </a:t>
              </a:r>
              <a:r>
                <a:rPr lang="en-US" altLang="zh-CN" sz="1600" dirty="0" err="1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的信号</a:t>
              </a:r>
              <a:endParaRPr lang="en-US" altLang="zh-CN" sz="1600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23" name="Text 5">
              <a:extLst>
                <a:ext uri="{FF2B5EF4-FFF2-40B4-BE49-F238E27FC236}">
                  <a16:creationId xmlns:a16="http://schemas.microsoft.com/office/drawing/2014/main" id="{92BA2761-79BF-9E85-0D56-8C4779CAA5A1}"/>
                </a:ext>
              </a:extLst>
            </p:cNvPr>
            <p:cNvSpPr/>
            <p:nvPr/>
          </p:nvSpPr>
          <p:spPr>
            <a:xfrm>
              <a:off x="685800" y="3020245"/>
              <a:ext cx="3642360" cy="5029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0160">
              <a:noFill/>
            </a:ln>
          </p:spPr>
          <p:txBody>
            <a:bodyPr wrap="square" lIns="635" tIns="635" rIns="635" bIns="635" rtlCol="0" anchor="ctr"/>
            <a:lstStyle/>
            <a:p>
              <a:pPr algn="ctr"/>
              <a:r>
                <a:rPr lang="en-US" altLang="zh-CN" sz="1600" dirty="0" err="1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构造</a:t>
              </a:r>
              <a:r>
                <a:rPr lang="en-US" altLang="zh-CN" sz="1600" dirty="0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 </a:t>
              </a:r>
              <a:r>
                <a:rPr lang="en-US" altLang="zh-CN" sz="1600" dirty="0" err="1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sigframe</a:t>
              </a:r>
              <a:endParaRPr lang="en-US" altLang="zh-CN" sz="1600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  <a:p>
              <a:pPr algn="ctr"/>
              <a:r>
                <a:rPr lang="en-US" altLang="zh-CN" sz="1600" dirty="0" err="1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修改用户</a:t>
              </a:r>
              <a:r>
                <a:rPr lang="en-US" altLang="zh-CN" sz="1600" dirty="0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 PC/SP</a:t>
              </a:r>
            </a:p>
          </p:txBody>
        </p:sp>
        <p:sp>
          <p:nvSpPr>
            <p:cNvPr id="24" name="Text 8">
              <a:extLst>
                <a:ext uri="{FF2B5EF4-FFF2-40B4-BE49-F238E27FC236}">
                  <a16:creationId xmlns:a16="http://schemas.microsoft.com/office/drawing/2014/main" id="{7ED050EB-1B4A-E844-30FE-76B3C1B99A2D}"/>
                </a:ext>
              </a:extLst>
            </p:cNvPr>
            <p:cNvSpPr/>
            <p:nvPr/>
          </p:nvSpPr>
          <p:spPr>
            <a:xfrm>
              <a:off x="685800" y="3531616"/>
              <a:ext cx="3642360" cy="593344"/>
            </a:xfrm>
            <a:prstGeom prst="rect">
              <a:avLst/>
            </a:prstGeom>
            <a:solidFill>
              <a:schemeClr val="bg1"/>
            </a:solidFill>
            <a:ln w="10160">
              <a:noFill/>
            </a:ln>
          </p:spPr>
          <p:txBody>
            <a:bodyPr wrap="square" lIns="635" tIns="635" rIns="635" bIns="635" rtlCol="0" anchor="ctr"/>
            <a:lstStyle/>
            <a:p>
              <a:pPr algn="ctr"/>
              <a:r>
                <a:rPr lang="en-US" altLang="zh-CN" sz="1600" dirty="0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handler </a:t>
              </a:r>
              <a:r>
                <a:rPr lang="en-US" altLang="zh-CN" sz="1600" dirty="0" err="1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执行</a:t>
              </a:r>
              <a:endParaRPr lang="en-US" altLang="zh-CN" sz="1600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  <a:p>
              <a:pPr algn="ctr"/>
              <a:r>
                <a:rPr lang="en-US" altLang="zh-CN" sz="1600" dirty="0" err="1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rt_sigreturn</a:t>
              </a:r>
              <a:r>
                <a:rPr lang="en-US" altLang="zh-CN" sz="1600" dirty="0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 </a:t>
              </a:r>
              <a:r>
                <a:rPr lang="en-US" altLang="zh-CN" sz="1600" dirty="0" err="1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恢复上下文</a:t>
              </a:r>
              <a:endParaRPr lang="en-US" altLang="zh-CN" sz="1600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</p:grpSp>
      <p:sp>
        <p:nvSpPr>
          <p:cNvPr id="25" name="Text 9">
            <a:extLst>
              <a:ext uri="{FF2B5EF4-FFF2-40B4-BE49-F238E27FC236}">
                <a16:creationId xmlns:a16="http://schemas.microsoft.com/office/drawing/2014/main" id="{B08673F3-136C-6729-AB59-3F6F964254C1}"/>
              </a:ext>
            </a:extLst>
          </p:cNvPr>
          <p:cNvSpPr/>
          <p:nvPr/>
        </p:nvSpPr>
        <p:spPr>
          <a:xfrm>
            <a:off x="6370320" y="3313153"/>
            <a:ext cx="4709160" cy="45720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r>
              <a:rPr lang="en-US" altLang="zh-CN" sz="1600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TCB </a:t>
            </a:r>
            <a:r>
              <a:rPr lang="en-US" altLang="zh-CN" sz="1600" dirty="0" err="1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保存信号掩码、待处理信号位图与附加信息</a:t>
            </a:r>
            <a:endParaRPr lang="en-US" altLang="zh-CN" sz="1600" dirty="0">
              <a:solidFill>
                <a:srgbClr val="11111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C618F5BE-0474-4A63-A7F7-C669658892F0}"/>
              </a:ext>
            </a:extLst>
          </p:cNvPr>
          <p:cNvSpPr/>
          <p:nvPr/>
        </p:nvSpPr>
        <p:spPr>
          <a:xfrm>
            <a:off x="6365008" y="4033520"/>
            <a:ext cx="4709160" cy="45720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r>
              <a:rPr lang="en-US" altLang="zh-CN" sz="1600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PCB </a:t>
            </a:r>
            <a:r>
              <a:rPr lang="en-US" altLang="zh-CN" sz="1600" dirty="0" err="1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保存每个信号的处理动作表</a:t>
            </a:r>
            <a:endParaRPr lang="en-US" altLang="zh-CN" sz="1600" dirty="0">
              <a:solidFill>
                <a:srgbClr val="11111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7CC66989-ED67-1518-D413-69911516D59A}"/>
              </a:ext>
            </a:extLst>
          </p:cNvPr>
          <p:cNvSpPr/>
          <p:nvPr/>
        </p:nvSpPr>
        <p:spPr>
          <a:xfrm>
            <a:off x="6365008" y="4683760"/>
            <a:ext cx="4709160" cy="45720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r>
              <a:rPr lang="en-US" altLang="zh-CN" sz="1600" dirty="0" err="1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vdso</a:t>
            </a:r>
            <a:r>
              <a:rPr lang="en-US" altLang="zh-CN" sz="1600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sz="1600" dirty="0" err="1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中的</a:t>
            </a:r>
            <a:r>
              <a:rPr lang="en-US" altLang="zh-CN" sz="1600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__</a:t>
            </a:r>
            <a:r>
              <a:rPr lang="en-US" altLang="zh-CN" sz="1600" dirty="0" err="1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vdso_rt_sigreturn</a:t>
            </a:r>
            <a:r>
              <a:rPr lang="en-US" altLang="zh-CN" sz="1600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trampoline </a:t>
            </a:r>
            <a:r>
              <a:rPr lang="en-US" altLang="zh-CN" sz="1600" dirty="0" err="1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作为用户态返回入口</a:t>
            </a:r>
            <a:endParaRPr lang="en-US" altLang="zh-CN" sz="1600" dirty="0">
              <a:solidFill>
                <a:srgbClr val="11111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1123597A-E6DA-9444-84A8-BABAD98434C7}"/>
              </a:ext>
            </a:extLst>
          </p:cNvPr>
          <p:cNvSpPr/>
          <p:nvPr/>
        </p:nvSpPr>
        <p:spPr>
          <a:xfrm>
            <a:off x="6370320" y="5369560"/>
            <a:ext cx="4709160" cy="45720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r>
              <a:rPr lang="en-US" altLang="zh-CN" sz="1600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RISC-V 与 </a:t>
            </a:r>
            <a:r>
              <a:rPr lang="en-US" altLang="zh-CN" sz="1600" dirty="0" err="1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LoongArch</a:t>
            </a:r>
            <a:r>
              <a:rPr lang="en-US" altLang="zh-CN" sz="1600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sz="1600" dirty="0" err="1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各自恢复</a:t>
            </a:r>
            <a:r>
              <a:rPr lang="en-US" altLang="zh-CN" sz="1600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sz="1600" dirty="0" err="1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TrapContext，但</a:t>
            </a:r>
            <a:r>
              <a:rPr lang="en-US" altLang="zh-CN" sz="1600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sz="1600" dirty="0" err="1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syscall</a:t>
            </a:r>
            <a:r>
              <a:rPr lang="en-US" altLang="zh-CN" sz="1600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sz="1600" dirty="0" err="1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层语义一致</a:t>
            </a:r>
            <a:endParaRPr lang="en-US" altLang="zh-CN" sz="1600" dirty="0">
              <a:solidFill>
                <a:srgbClr val="11111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9" name="Shape 3">
            <a:extLst>
              <a:ext uri="{FF2B5EF4-FFF2-40B4-BE49-F238E27FC236}">
                <a16:creationId xmlns:a16="http://schemas.microsoft.com/office/drawing/2014/main" id="{59AF2631-E144-5E3B-F3D4-F9E20FF160D8}"/>
              </a:ext>
            </a:extLst>
          </p:cNvPr>
          <p:cNvSpPr/>
          <p:nvPr/>
        </p:nvSpPr>
        <p:spPr>
          <a:xfrm>
            <a:off x="909320" y="2809436"/>
            <a:ext cx="0" cy="338328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3">
            <a:extLst>
              <a:ext uri="{FF2B5EF4-FFF2-40B4-BE49-F238E27FC236}">
                <a16:creationId xmlns:a16="http://schemas.microsoft.com/office/drawing/2014/main" id="{8E2BBDFB-1C1D-E1C4-5682-B53C7D2121EC}"/>
              </a:ext>
            </a:extLst>
          </p:cNvPr>
          <p:cNvSpPr/>
          <p:nvPr/>
        </p:nvSpPr>
        <p:spPr>
          <a:xfrm>
            <a:off x="909320" y="3769360"/>
            <a:ext cx="0" cy="338328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3">
            <a:extLst>
              <a:ext uri="{FF2B5EF4-FFF2-40B4-BE49-F238E27FC236}">
                <a16:creationId xmlns:a16="http://schemas.microsoft.com/office/drawing/2014/main" id="{ED3FB8C6-1AEF-17B8-E925-B9A671C4743C}"/>
              </a:ext>
            </a:extLst>
          </p:cNvPr>
          <p:cNvSpPr/>
          <p:nvPr/>
        </p:nvSpPr>
        <p:spPr>
          <a:xfrm>
            <a:off x="909320" y="4744576"/>
            <a:ext cx="0" cy="338328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E868B418-A362-2835-376C-E01E22251323}"/>
              </a:ext>
            </a:extLst>
          </p:cNvPr>
          <p:cNvSpPr/>
          <p:nvPr/>
        </p:nvSpPr>
        <p:spPr>
          <a:xfrm>
            <a:off x="5435600" y="3357880"/>
            <a:ext cx="213360" cy="457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ECC41E2-50F3-7D0C-C540-B8BC73E6A875}"/>
              </a:ext>
            </a:extLst>
          </p:cNvPr>
          <p:cNvSpPr/>
          <p:nvPr/>
        </p:nvSpPr>
        <p:spPr>
          <a:xfrm>
            <a:off x="5435600" y="4023360"/>
            <a:ext cx="213360" cy="457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7BD069D-AE21-6A36-5E41-9BA443B606E9}"/>
              </a:ext>
            </a:extLst>
          </p:cNvPr>
          <p:cNvSpPr/>
          <p:nvPr/>
        </p:nvSpPr>
        <p:spPr>
          <a:xfrm>
            <a:off x="5435600" y="4698856"/>
            <a:ext cx="213360" cy="457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828112A9-AFC3-EE1B-2125-CEEF22723630}"/>
              </a:ext>
            </a:extLst>
          </p:cNvPr>
          <p:cNvSpPr/>
          <p:nvPr/>
        </p:nvSpPr>
        <p:spPr>
          <a:xfrm>
            <a:off x="5435600" y="5369560"/>
            <a:ext cx="213360" cy="457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E3579860-6AA0-75D5-4708-E92B636F2C19}"/>
              </a:ext>
            </a:extLst>
          </p:cNvPr>
          <p:cNvGrpSpPr/>
          <p:nvPr/>
        </p:nvGrpSpPr>
        <p:grpSpPr>
          <a:xfrm>
            <a:off x="1259840" y="1995424"/>
            <a:ext cx="9281160" cy="1115568"/>
            <a:chOff x="1645920" y="2672080"/>
            <a:chExt cx="8595360" cy="685800"/>
          </a:xfrm>
        </p:grpSpPr>
        <p:sp>
          <p:nvSpPr>
            <p:cNvPr id="4" name="Text 2"/>
            <p:cNvSpPr/>
            <p:nvPr/>
          </p:nvSpPr>
          <p:spPr>
            <a:xfrm>
              <a:off x="1645920" y="2672080"/>
              <a:ext cx="3017520" cy="685800"/>
            </a:xfrm>
            <a:prstGeom prst="rect">
              <a:avLst/>
            </a:prstGeom>
            <a:solidFill>
              <a:srgbClr val="F2F2F2"/>
            </a:solidFill>
            <a:ln w="10160">
              <a:noFill/>
            </a:ln>
          </p:spPr>
          <p:txBody>
            <a:bodyPr wrap="square" lIns="635" tIns="635" rIns="635" bIns="635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等线" pitchFamily="34" charset="-120"/>
                </a:rPr>
                <a:t>socket syscall</a:t>
              </a:r>
              <a:endParaRPr lang="en-US" sz="14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  <a:p>
              <a:pPr marL="0" indent="0" algn="ctr">
                <a:buNone/>
              </a:pPr>
              <a:r>
                <a:rPr lang="en-US" sz="1400" dirty="0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等线" pitchFamily="34" charset="-120"/>
                </a:rPr>
                <a:t>socket / bind / listen / accept / connect</a:t>
              </a:r>
              <a:endParaRPr lang="en-US" sz="14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6" name="Text 4"/>
            <p:cNvSpPr/>
            <p:nvPr/>
          </p:nvSpPr>
          <p:spPr>
            <a:xfrm>
              <a:off x="4663440" y="2672080"/>
              <a:ext cx="2834640" cy="685800"/>
            </a:xfrm>
            <a:prstGeom prst="rect">
              <a:avLst/>
            </a:prstGeom>
            <a:solidFill>
              <a:srgbClr val="FFFFFF"/>
            </a:solidFill>
            <a:ln w="10160">
              <a:noFill/>
            </a:ln>
          </p:spPr>
          <p:txBody>
            <a:bodyPr wrap="square" lIns="635" tIns="635" rIns="635" bIns="635" rtlCol="0" anchor="ctr"/>
            <a:lstStyle/>
            <a:p>
              <a:pPr algn="ctr"/>
              <a:r>
                <a:rPr lang="en-US" sz="1400" dirty="0" err="1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LocalSocket</a:t>
              </a:r>
              <a:endParaRPr lang="en-US" sz="1400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  <a:p>
              <a:pPr algn="ctr"/>
              <a:r>
                <a:rPr lang="en-US" sz="1400" dirty="0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File trait 接入 </a:t>
              </a:r>
              <a:r>
                <a:rPr lang="en-US" sz="1400" dirty="0" err="1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fd</a:t>
              </a:r>
              <a:r>
                <a:rPr lang="en-US" sz="1400" dirty="0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 </a:t>
              </a:r>
              <a:r>
                <a:rPr lang="en-US" sz="1400" dirty="0" err="1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体系</a:t>
              </a:r>
              <a:endParaRPr lang="en-US" sz="1400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8" name="Text 6"/>
            <p:cNvSpPr/>
            <p:nvPr/>
          </p:nvSpPr>
          <p:spPr>
            <a:xfrm>
              <a:off x="7498080" y="2672080"/>
              <a:ext cx="2743200" cy="685800"/>
            </a:xfrm>
            <a:prstGeom prst="rect">
              <a:avLst/>
            </a:prstGeom>
            <a:solidFill>
              <a:srgbClr val="F2F2F2"/>
            </a:solidFill>
            <a:ln w="10160">
              <a:noFill/>
            </a:ln>
          </p:spPr>
          <p:txBody>
            <a:bodyPr wrap="square" lIns="635" tIns="635" rIns="635" bIns="635" rtlCol="0" anchor="ctr"/>
            <a:lstStyle/>
            <a:p>
              <a:pPr indent="0" algn="ctr">
                <a:buNone/>
              </a:pPr>
              <a:r>
                <a:rPr lang="en-US" sz="1400" dirty="0" err="1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LoopbackState</a:t>
              </a:r>
              <a:endParaRPr lang="en-US" sz="1400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  <a:p>
              <a:pPr indent="0" algn="ctr">
                <a:buNone/>
              </a:pPr>
              <a:r>
                <a:rPr lang="en-US" sz="1400" dirty="0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端口/Unix 地址/accept </a:t>
              </a:r>
              <a:r>
                <a:rPr lang="en-US" sz="1400" dirty="0" err="1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队列</a:t>
              </a:r>
              <a:endParaRPr lang="en-US" sz="1400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</p:grpSp>
      <p:sp>
        <p:nvSpPr>
          <p:cNvPr id="9" name="Text 7"/>
          <p:cNvSpPr/>
          <p:nvPr/>
        </p:nvSpPr>
        <p:spPr>
          <a:xfrm>
            <a:off x="1486684" y="3716688"/>
            <a:ext cx="10058400" cy="310896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r>
              <a:rPr lang="en-US" sz="1600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SOCK_STREAM：可靠字节流，send 写入对端 stream_rx，recv 从自身缓冲读取</a:t>
            </a:r>
            <a:endParaRPr lang="en-US" sz="16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486684" y="4254448"/>
            <a:ext cx="10058400" cy="310896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r>
              <a:rPr lang="en-US" sz="1600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SOCK_DGRAM：面向消息，sendto 将 Datagram 推入目标接收队列</a:t>
            </a:r>
            <a:endParaRPr lang="en-US" sz="16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486684" y="4792700"/>
            <a:ext cx="10058400" cy="310896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r>
              <a:rPr lang="en-US" sz="1600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AF_UNIX：支持路径名与抽象地址，复用本地传输</a:t>
            </a:r>
            <a:endParaRPr lang="en-US" sz="16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486684" y="5363504"/>
            <a:ext cx="10058400" cy="310896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r>
              <a:rPr lang="en-US" sz="1600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Netlink：合成 RTM_GETLINK / GETADDR / GETROUTE 响应，兼容 glibc addrconfig</a:t>
            </a:r>
            <a:endParaRPr lang="en-US" sz="16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483707" y="5903828"/>
            <a:ext cx="10058400" cy="310896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r>
              <a:rPr lang="en-US" sz="1600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epoll / poll：socket 通过 PollWaitQueue 通知读写等待者</a:t>
            </a:r>
            <a:endParaRPr lang="en-US" sz="16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519545" y="1039091"/>
            <a:ext cx="7813964" cy="0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11641282" y="342901"/>
            <a:ext cx="259773" cy="58189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550718" y="155351"/>
            <a:ext cx="241808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4400" dirty="0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内核</a:t>
            </a:r>
            <a:r>
              <a:rPr lang="zh-CN" altLang="en-US" sz="4400" dirty="0">
                <a:latin typeface="华文中宋" panose="02010600040101010101" pitchFamily="2" charset="-122"/>
                <a:ea typeface="华文中宋" panose="02010600040101010101" pitchFamily="2" charset="-122"/>
              </a:rPr>
              <a:t>模块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687774" y="1153391"/>
            <a:ext cx="2090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Network</a:t>
            </a:r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067764" y="463127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网络</a:t>
            </a:r>
          </a:p>
        </p:txBody>
      </p:sp>
      <p:sp>
        <p:nvSpPr>
          <p:cNvPr id="5" name="Shape 3"/>
          <p:cNvSpPr/>
          <p:nvPr/>
        </p:nvSpPr>
        <p:spPr>
          <a:xfrm>
            <a:off x="4220940" y="2917952"/>
            <a:ext cx="59436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3">
            <a:extLst>
              <a:ext uri="{FF2B5EF4-FFF2-40B4-BE49-F238E27FC236}">
                <a16:creationId xmlns:a16="http://schemas.microsoft.com/office/drawing/2014/main" id="{B14F1465-C2A6-B542-FB3F-45A4324B8BC7}"/>
              </a:ext>
            </a:extLst>
          </p:cNvPr>
          <p:cNvSpPr/>
          <p:nvPr/>
        </p:nvSpPr>
        <p:spPr>
          <a:xfrm>
            <a:off x="7281748" y="2917952"/>
            <a:ext cx="59436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6B37741-4B6A-BC83-795A-9B4B0EA53367}"/>
              </a:ext>
            </a:extLst>
          </p:cNvPr>
          <p:cNvSpPr/>
          <p:nvPr/>
        </p:nvSpPr>
        <p:spPr>
          <a:xfrm>
            <a:off x="961274" y="3716688"/>
            <a:ext cx="116378" cy="272392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8AAAC77-F801-F482-7EA4-2682D7CF4539}"/>
              </a:ext>
            </a:extLst>
          </p:cNvPr>
          <p:cNvSpPr/>
          <p:nvPr/>
        </p:nvSpPr>
        <p:spPr>
          <a:xfrm>
            <a:off x="959889" y="4273700"/>
            <a:ext cx="116378" cy="272392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076FA0C-AE30-A4CC-6586-6A49CA067041}"/>
              </a:ext>
            </a:extLst>
          </p:cNvPr>
          <p:cNvSpPr/>
          <p:nvPr/>
        </p:nvSpPr>
        <p:spPr>
          <a:xfrm>
            <a:off x="956783" y="4828674"/>
            <a:ext cx="116378" cy="272392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B095545-4D4A-2E18-A6D4-A9EAD591E29A}"/>
              </a:ext>
            </a:extLst>
          </p:cNvPr>
          <p:cNvSpPr/>
          <p:nvPr/>
        </p:nvSpPr>
        <p:spPr>
          <a:xfrm>
            <a:off x="955732" y="5398960"/>
            <a:ext cx="116378" cy="272392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9C67A25-161D-5F04-9DBE-13986F72E506}"/>
              </a:ext>
            </a:extLst>
          </p:cNvPr>
          <p:cNvSpPr/>
          <p:nvPr/>
        </p:nvSpPr>
        <p:spPr>
          <a:xfrm>
            <a:off x="965892" y="5958840"/>
            <a:ext cx="116378" cy="272392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195205" y="5088881"/>
            <a:ext cx="10515600" cy="347472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kperf 是我们自建的内核性能观测框架：默认构建零开销，调试构建输出可解析数据。</a:t>
            </a:r>
            <a:endParaRPr lang="en-US" sz="20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195205" y="5636029"/>
            <a:ext cx="10058400" cy="365760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作用：把“感觉慢”变成可对比的计数和耗时，再用相同场景做 before/after 验证。</a:t>
            </a:r>
            <a:endParaRPr lang="en-US" sz="20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519545" y="1039091"/>
            <a:ext cx="7813964" cy="0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11641282" y="342901"/>
            <a:ext cx="259773" cy="58189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550718" y="155351"/>
            <a:ext cx="24416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dirty="0">
                <a:latin typeface="华文中宋" panose="02010600040101010101" pitchFamily="2" charset="-122"/>
                <a:ea typeface="华文中宋" panose="02010600040101010101" pitchFamily="2" charset="-122"/>
              </a:rPr>
              <a:t>性能评测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687774" y="1153391"/>
            <a:ext cx="2090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Performance</a:t>
            </a:r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A3F046E8-369B-C2DC-8CEE-20A9BBF1852B}"/>
              </a:ext>
            </a:extLst>
          </p:cNvPr>
          <p:cNvGrpSpPr/>
          <p:nvPr/>
        </p:nvGrpSpPr>
        <p:grpSpPr>
          <a:xfrm>
            <a:off x="1259840" y="1995424"/>
            <a:ext cx="9281160" cy="1115568"/>
            <a:chOff x="1645920" y="2672080"/>
            <a:chExt cx="8595360" cy="685800"/>
          </a:xfrm>
        </p:grpSpPr>
        <p:sp>
          <p:nvSpPr>
            <p:cNvPr id="19" name="Text 2">
              <a:extLst>
                <a:ext uri="{FF2B5EF4-FFF2-40B4-BE49-F238E27FC236}">
                  <a16:creationId xmlns:a16="http://schemas.microsoft.com/office/drawing/2014/main" id="{2B0D1F3D-D5AA-340A-C409-1649B8D8930F}"/>
                </a:ext>
              </a:extLst>
            </p:cNvPr>
            <p:cNvSpPr/>
            <p:nvPr/>
          </p:nvSpPr>
          <p:spPr>
            <a:xfrm>
              <a:off x="1645920" y="2672080"/>
              <a:ext cx="3017520" cy="685800"/>
            </a:xfrm>
            <a:prstGeom prst="rect">
              <a:avLst/>
            </a:prstGeom>
            <a:solidFill>
              <a:srgbClr val="F2F2F2"/>
            </a:solidFill>
            <a:ln w="10160">
              <a:noFill/>
            </a:ln>
          </p:spPr>
          <p:txBody>
            <a:bodyPr wrap="square" lIns="635" tIns="635" rIns="635" bIns="635" rtlCol="0" anchor="ctr"/>
            <a:lstStyle/>
            <a:p>
              <a:pPr algn="ctr"/>
              <a:r>
                <a:rPr lang="en-US" altLang="zh-CN" dirty="0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Consolas" panose="020B0609020204030204" pitchFamily="34" charset="-120"/>
                </a:rPr>
                <a:t>PERF_COUNTERS=0</a:t>
              </a:r>
              <a:endPara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  <a:p>
              <a:pPr algn="ctr"/>
              <a:r>
                <a:rPr lang="en-US" altLang="zh-CN" dirty="0" err="1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Consolas" panose="020B0609020204030204" pitchFamily="34" charset="-120"/>
                </a:rPr>
                <a:t>正式运行</a:t>
              </a:r>
              <a:endPara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20" name="Text 4">
              <a:extLst>
                <a:ext uri="{FF2B5EF4-FFF2-40B4-BE49-F238E27FC236}">
                  <a16:creationId xmlns:a16="http://schemas.microsoft.com/office/drawing/2014/main" id="{8A8A5BFC-CF7C-81F8-3A0B-57AF81F26D7C}"/>
                </a:ext>
              </a:extLst>
            </p:cNvPr>
            <p:cNvSpPr/>
            <p:nvPr/>
          </p:nvSpPr>
          <p:spPr>
            <a:xfrm>
              <a:off x="4663440" y="2672080"/>
              <a:ext cx="2834640" cy="685800"/>
            </a:xfrm>
            <a:prstGeom prst="rect">
              <a:avLst/>
            </a:prstGeom>
            <a:solidFill>
              <a:srgbClr val="FFFFFF"/>
            </a:solidFill>
            <a:ln w="10160">
              <a:noFill/>
            </a:ln>
          </p:spPr>
          <p:txBody>
            <a:bodyPr wrap="square" lIns="635" tIns="635" rIns="635" bIns="635" rtlCol="0" anchor="ctr"/>
            <a:lstStyle/>
            <a:p>
              <a:pPr algn="ctr"/>
              <a:r>
                <a:rPr lang="en-US" altLang="zh-CN" dirty="0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Consolas" panose="020B0609020204030204" pitchFamily="34" charset="-120"/>
                </a:rPr>
                <a:t>disabled </a:t>
              </a:r>
              <a:r>
                <a:rPr lang="en-US" altLang="zh-CN" dirty="0" err="1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Consolas" panose="020B0609020204030204" pitchFamily="34" charset="-120"/>
                </a:rPr>
                <a:t>模块</a:t>
              </a:r>
              <a:endPara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  <a:p>
              <a:pPr algn="ctr"/>
              <a:r>
                <a:rPr lang="en-US" altLang="zh-CN" dirty="0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Consolas" panose="020B0609020204030204" pitchFamily="34" charset="-120"/>
                </a:rPr>
                <a:t>inline no-op</a:t>
              </a:r>
              <a:endPara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21" name="Text 6">
              <a:extLst>
                <a:ext uri="{FF2B5EF4-FFF2-40B4-BE49-F238E27FC236}">
                  <a16:creationId xmlns:a16="http://schemas.microsoft.com/office/drawing/2014/main" id="{14DC8487-7ECB-7B1C-3906-669DA0AFC6C2}"/>
                </a:ext>
              </a:extLst>
            </p:cNvPr>
            <p:cNvSpPr/>
            <p:nvPr/>
          </p:nvSpPr>
          <p:spPr>
            <a:xfrm>
              <a:off x="7498080" y="2672080"/>
              <a:ext cx="2743200" cy="685800"/>
            </a:xfrm>
            <a:prstGeom prst="rect">
              <a:avLst/>
            </a:prstGeom>
            <a:solidFill>
              <a:srgbClr val="F2F2F2"/>
            </a:solidFill>
            <a:ln w="10160">
              <a:noFill/>
            </a:ln>
          </p:spPr>
          <p:txBody>
            <a:bodyPr wrap="square" lIns="635" tIns="635" rIns="635" bIns="635" rtlCol="0" anchor="ctr"/>
            <a:lstStyle/>
            <a:p>
              <a:pPr indent="0" algn="ctr">
                <a:buNone/>
              </a:pPr>
              <a:r>
                <a:rPr lang="en-US" sz="1600" dirty="0" err="1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LoopbackState</a:t>
              </a:r>
              <a:endParaRPr lang="en-US" sz="1600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  <a:p>
              <a:pPr indent="0" algn="ctr">
                <a:buNone/>
              </a:pPr>
              <a:r>
                <a:rPr lang="en-US" sz="1600" dirty="0" err="1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端口</a:t>
              </a:r>
              <a:r>
                <a:rPr lang="en-US" sz="1600" dirty="0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/Unix </a:t>
              </a:r>
              <a:r>
                <a:rPr lang="en-US" sz="1600" dirty="0" err="1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地址</a:t>
              </a:r>
              <a:r>
                <a:rPr lang="en-US" sz="1600" dirty="0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/accept </a:t>
              </a:r>
              <a:r>
                <a:rPr lang="en-US" sz="1600" dirty="0" err="1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队列</a:t>
              </a:r>
              <a:endParaRPr lang="en-US" sz="1600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</p:grpSp>
      <p:sp>
        <p:nvSpPr>
          <p:cNvPr id="22" name="Shape 3">
            <a:extLst>
              <a:ext uri="{FF2B5EF4-FFF2-40B4-BE49-F238E27FC236}">
                <a16:creationId xmlns:a16="http://schemas.microsoft.com/office/drawing/2014/main" id="{479B90F0-E8AA-2450-D234-975A245A6B83}"/>
              </a:ext>
            </a:extLst>
          </p:cNvPr>
          <p:cNvSpPr/>
          <p:nvPr/>
        </p:nvSpPr>
        <p:spPr>
          <a:xfrm>
            <a:off x="4220940" y="2917952"/>
            <a:ext cx="59436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3">
            <a:extLst>
              <a:ext uri="{FF2B5EF4-FFF2-40B4-BE49-F238E27FC236}">
                <a16:creationId xmlns:a16="http://schemas.microsoft.com/office/drawing/2014/main" id="{E36CF2F8-1BFF-D6E9-3E41-A6F7C28E56D0}"/>
              </a:ext>
            </a:extLst>
          </p:cNvPr>
          <p:cNvSpPr/>
          <p:nvPr/>
        </p:nvSpPr>
        <p:spPr>
          <a:xfrm>
            <a:off x="7281748" y="2917952"/>
            <a:ext cx="59436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842A3857-A9DE-2C7D-B197-2E22ABFD4153}"/>
              </a:ext>
            </a:extLst>
          </p:cNvPr>
          <p:cNvGrpSpPr/>
          <p:nvPr/>
        </p:nvGrpSpPr>
        <p:grpSpPr>
          <a:xfrm>
            <a:off x="1259840" y="3488690"/>
            <a:ext cx="9281160" cy="1115568"/>
            <a:chOff x="1645920" y="2672080"/>
            <a:chExt cx="8595360" cy="685800"/>
          </a:xfrm>
        </p:grpSpPr>
        <p:sp>
          <p:nvSpPr>
            <p:cNvPr id="25" name="Text 2">
              <a:extLst>
                <a:ext uri="{FF2B5EF4-FFF2-40B4-BE49-F238E27FC236}">
                  <a16:creationId xmlns:a16="http://schemas.microsoft.com/office/drawing/2014/main" id="{92CC01B5-FDC8-6FE9-187A-AA7FBF3FD37E}"/>
                </a:ext>
              </a:extLst>
            </p:cNvPr>
            <p:cNvSpPr/>
            <p:nvPr/>
          </p:nvSpPr>
          <p:spPr>
            <a:xfrm>
              <a:off x="1645920" y="2672080"/>
              <a:ext cx="3017520" cy="685800"/>
            </a:xfrm>
            <a:prstGeom prst="rect">
              <a:avLst/>
            </a:prstGeom>
            <a:solidFill>
              <a:srgbClr val="F2F2F2"/>
            </a:solidFill>
            <a:ln w="10160">
              <a:noFill/>
            </a:ln>
          </p:spPr>
          <p:txBody>
            <a:bodyPr wrap="square" lIns="635" tIns="635" rIns="635" bIns="635" rtlCol="0" anchor="ctr"/>
            <a:lstStyle/>
            <a:p>
              <a:pPr algn="ctr"/>
              <a:r>
                <a:rPr lang="en-US" altLang="zh-CN" dirty="0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Consolas" panose="020B0609020204030204" pitchFamily="34" charset="-120"/>
                </a:rPr>
                <a:t>PERF_COUNTERS=1</a:t>
              </a:r>
              <a:endPara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  <a:p>
              <a:pPr algn="ctr"/>
              <a:r>
                <a:rPr lang="en-US" altLang="zh-CN" dirty="0" err="1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Consolas" panose="020B0609020204030204" pitchFamily="34" charset="-120"/>
                </a:rPr>
                <a:t>调试运行</a:t>
              </a:r>
              <a:endPara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26" name="Text 4">
              <a:extLst>
                <a:ext uri="{FF2B5EF4-FFF2-40B4-BE49-F238E27FC236}">
                  <a16:creationId xmlns:a16="http://schemas.microsoft.com/office/drawing/2014/main" id="{56634575-9719-7A11-2B52-3177508E9819}"/>
                </a:ext>
              </a:extLst>
            </p:cNvPr>
            <p:cNvSpPr/>
            <p:nvPr/>
          </p:nvSpPr>
          <p:spPr>
            <a:xfrm>
              <a:off x="4663440" y="2672080"/>
              <a:ext cx="2834640" cy="685800"/>
            </a:xfrm>
            <a:prstGeom prst="rect">
              <a:avLst/>
            </a:prstGeom>
            <a:solidFill>
              <a:srgbClr val="FFFFFF"/>
            </a:solidFill>
            <a:ln w="10160">
              <a:noFill/>
            </a:ln>
          </p:spPr>
          <p:txBody>
            <a:bodyPr wrap="square" lIns="635" tIns="635" rIns="635" bIns="635" rtlCol="0" anchor="ctr"/>
            <a:lstStyle/>
            <a:p>
              <a:pPr algn="ctr"/>
              <a:r>
                <a:rPr lang="en-US" altLang="zh-CN" sz="1600" dirty="0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Consolas" panose="020B0609020204030204" pitchFamily="34" charset="-120"/>
                </a:rPr>
                <a:t>enabled </a:t>
              </a:r>
              <a:r>
                <a:rPr lang="en-US" altLang="zh-CN" sz="1600" dirty="0" err="1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Consolas" panose="020B0609020204030204" pitchFamily="34" charset="-120"/>
                </a:rPr>
                <a:t>模块</a:t>
              </a:r>
              <a:endParaRPr lang="en-US" altLang="zh-CN" sz="16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  <a:p>
              <a:pPr algn="ctr"/>
              <a:r>
                <a:rPr lang="en-US" altLang="zh-CN" sz="1600" dirty="0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Consolas" panose="020B0609020204030204" pitchFamily="34" charset="-120"/>
                </a:rPr>
                <a:t>250+ </a:t>
              </a:r>
              <a:r>
                <a:rPr lang="en-US" altLang="zh-CN" sz="1600" dirty="0" err="1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Consolas" panose="020B0609020204030204" pitchFamily="34" charset="-120"/>
                </a:rPr>
                <a:t>计数器</a:t>
              </a:r>
              <a:r>
                <a:rPr lang="en-US" altLang="zh-CN" sz="1600" dirty="0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Consolas" panose="020B0609020204030204" pitchFamily="34" charset="-120"/>
                </a:rPr>
                <a:t> / 52 个 </a:t>
              </a:r>
              <a:r>
                <a:rPr lang="en-US" altLang="zh-CN" sz="1600" dirty="0" err="1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Consolas" panose="020B0609020204030204" pitchFamily="34" charset="-120"/>
                </a:rPr>
                <a:t>ProfilePoint</a:t>
              </a:r>
              <a:endParaRPr lang="en-US" altLang="zh-CN" sz="16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27" name="Text 6">
              <a:extLst>
                <a:ext uri="{FF2B5EF4-FFF2-40B4-BE49-F238E27FC236}">
                  <a16:creationId xmlns:a16="http://schemas.microsoft.com/office/drawing/2014/main" id="{AA0FCE61-49A7-7011-02D6-BE7AE13A5E86}"/>
                </a:ext>
              </a:extLst>
            </p:cNvPr>
            <p:cNvSpPr/>
            <p:nvPr/>
          </p:nvSpPr>
          <p:spPr>
            <a:xfrm>
              <a:off x="7498080" y="2672080"/>
              <a:ext cx="2743200" cy="685800"/>
            </a:xfrm>
            <a:prstGeom prst="rect">
              <a:avLst/>
            </a:prstGeom>
            <a:solidFill>
              <a:srgbClr val="F2F2F2"/>
            </a:solidFill>
            <a:ln w="10160">
              <a:noFill/>
            </a:ln>
          </p:spPr>
          <p:txBody>
            <a:bodyPr wrap="square" lIns="635" tIns="635" rIns="635" bIns="635" rtlCol="0" anchor="ctr"/>
            <a:lstStyle/>
            <a:p>
              <a:pPr algn="ctr"/>
              <a:r>
                <a:rPr lang="en-US" altLang="zh-CN" sz="1600" dirty="0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Consolas" panose="020B0609020204030204" pitchFamily="34" charset="-120"/>
                </a:rPr>
                <a:t>/proc/</a:t>
              </a:r>
              <a:r>
                <a:rPr lang="en-US" altLang="zh-CN" sz="1600" dirty="0" err="1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Consolas" panose="020B0609020204030204" pitchFamily="34" charset="-120"/>
                </a:rPr>
                <a:t>oskernel</a:t>
              </a:r>
              <a:r>
                <a:rPr lang="en-US" altLang="zh-CN" sz="1600" dirty="0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Consolas" panose="020B0609020204030204" pitchFamily="34" charset="-120"/>
                </a:rPr>
                <a:t>/perf</a:t>
              </a:r>
              <a:endParaRPr lang="en-US" altLang="zh-CN" sz="16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  <a:p>
              <a:pPr algn="ctr"/>
              <a:r>
                <a:rPr lang="en-US" altLang="zh-CN" sz="1600" dirty="0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Consolas" panose="020B0609020204030204" pitchFamily="34" charset="-120"/>
                </a:rPr>
                <a:t>key-value </a:t>
              </a:r>
              <a:r>
                <a:rPr lang="en-US" altLang="zh-CN" sz="1600" dirty="0" err="1">
                  <a:solidFill>
                    <a:srgbClr val="111111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Consolas" panose="020B0609020204030204" pitchFamily="34" charset="-120"/>
                </a:rPr>
                <a:t>输出</a:t>
              </a:r>
              <a:endParaRPr lang="en-US" altLang="zh-CN" sz="16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</p:grpSp>
      <p:sp>
        <p:nvSpPr>
          <p:cNvPr id="28" name="Shape 3">
            <a:extLst>
              <a:ext uri="{FF2B5EF4-FFF2-40B4-BE49-F238E27FC236}">
                <a16:creationId xmlns:a16="http://schemas.microsoft.com/office/drawing/2014/main" id="{67187D6C-5204-A3A9-C9BA-237573911B5B}"/>
              </a:ext>
            </a:extLst>
          </p:cNvPr>
          <p:cNvSpPr/>
          <p:nvPr/>
        </p:nvSpPr>
        <p:spPr>
          <a:xfrm>
            <a:off x="4220940" y="4411218"/>
            <a:ext cx="59436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3">
            <a:extLst>
              <a:ext uri="{FF2B5EF4-FFF2-40B4-BE49-F238E27FC236}">
                <a16:creationId xmlns:a16="http://schemas.microsoft.com/office/drawing/2014/main" id="{52753865-DD4A-9277-EC91-EFEFBD90BAC0}"/>
              </a:ext>
            </a:extLst>
          </p:cNvPr>
          <p:cNvSpPr/>
          <p:nvPr/>
        </p:nvSpPr>
        <p:spPr>
          <a:xfrm>
            <a:off x="7281748" y="4411218"/>
            <a:ext cx="59436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-152401" y="1637022"/>
            <a:ext cx="12619703" cy="2178418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85800" y="1933754"/>
            <a:ext cx="12197080" cy="457200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endParaRPr lang="en-US" sz="1600" dirty="0">
              <a:solidFill>
                <a:schemeClr val="bg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822960" y="4152000"/>
            <a:ext cx="10708640" cy="420624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r>
              <a:rPr lang="en-US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核心能力</a:t>
            </a:r>
            <a:r>
              <a:rPr lang="en-US" sz="1600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：双架构启动、任务/进程/信号、虚拟内存、EXT4/VFS、VirtIO、socket、futex、约 250 个 syscall</a:t>
            </a:r>
            <a:endParaRPr lang="en-US" sz="16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4718928"/>
            <a:ext cx="10241280" cy="420624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r>
              <a:rPr lang="en-US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工程亮点</a:t>
            </a:r>
            <a:r>
              <a:rPr lang="en-US" sz="1600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：竞赛脚本盘解耦、统一主干、kperf 零开销观测、真实日志驱动的缺陷定位</a:t>
            </a:r>
            <a:endParaRPr lang="en-US" sz="16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5285856"/>
            <a:ext cx="10241280" cy="420624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r>
              <a:rPr lang="en-US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评分表现</a:t>
            </a:r>
            <a:r>
              <a:rPr lang="en-US" sz="1600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：22 个测试组均有计分输出，线上约 36 分钟完成完整初赛评测</a:t>
            </a:r>
            <a:endParaRPr lang="en-US" sz="16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5852784"/>
            <a:ext cx="10241280" cy="420624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r>
              <a:rPr lang="en-US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后续重点</a:t>
            </a:r>
            <a:r>
              <a:rPr lang="en-US" sz="1600" dirty="0">
                <a:solidFill>
                  <a:srgbClr val="11111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等线" pitchFamily="34" charset="-120"/>
              </a:rPr>
              <a:t>：I/O 热路径、VMA 数据结构、页缓存写回、真实硬件一致性、SMP 与更完整网络协议栈</a:t>
            </a:r>
            <a:endParaRPr lang="en-US" sz="16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519545" y="1039091"/>
            <a:ext cx="7813964" cy="0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11641282" y="342901"/>
            <a:ext cx="259773" cy="58189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550718" y="155351"/>
            <a:ext cx="24416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dirty="0">
                <a:latin typeface="华文中宋" panose="02010600040101010101" pitchFamily="2" charset="-122"/>
                <a:ea typeface="华文中宋" panose="02010600040101010101" pitchFamily="2" charset="-122"/>
              </a:rPr>
              <a:t>总结展望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687774" y="1153391"/>
            <a:ext cx="2090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summary </a:t>
            </a:r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492529" y="4269624"/>
            <a:ext cx="116378" cy="272392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492529" y="4822560"/>
            <a:ext cx="116378" cy="272392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489423" y="5375496"/>
            <a:ext cx="116378" cy="272392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488372" y="5928432"/>
            <a:ext cx="116378" cy="272392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 Box 1"/>
          <p:cNvSpPr txBox="1"/>
          <p:nvPr/>
        </p:nvSpPr>
        <p:spPr>
          <a:xfrm>
            <a:off x="837392" y="1868596"/>
            <a:ext cx="10803890" cy="21380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经过本阶段的开发，</a:t>
            </a:r>
            <a:r>
              <a:rPr lang="en-US" altLang="en-US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WHUSP </a:t>
            </a:r>
            <a:r>
              <a:rPr lang="zh-CN" altLang="en-US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已基本完成一个支持 </a:t>
            </a:r>
            <a:r>
              <a:rPr lang="en-US" altLang="en-US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RISC-V 64 </a:t>
            </a:r>
            <a:r>
              <a:rPr lang="zh-CN" altLang="en-US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与 </a:t>
            </a:r>
            <a:r>
              <a:rPr lang="en-US" altLang="en-US" dirty="0" err="1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LoongArch</a:t>
            </a:r>
            <a:r>
              <a:rPr lang="en-US" altLang="en-US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64 </a:t>
            </a:r>
            <a:r>
              <a:rPr lang="zh-CN" altLang="en-US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 </a:t>
            </a:r>
            <a:r>
              <a:rPr lang="en-US" altLang="en-US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Rust </a:t>
            </a:r>
            <a:r>
              <a:rPr lang="zh-CN" altLang="en-US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宏内核，实现了进程调度、虚拟内存、文件系统、网络、信号和 </a:t>
            </a:r>
            <a:r>
              <a:rPr lang="en-US" altLang="en-US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Linux </a:t>
            </a:r>
            <a:r>
              <a:rPr lang="zh-CN" altLang="en-US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系统调用兼容等核心功能，并建立了完整的双架构测试与性能分析链路。未来，我们希望继续完善跨架构一致性和 </a:t>
            </a:r>
            <a:r>
              <a:rPr lang="en-US" altLang="en-US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Linux </a:t>
            </a:r>
            <a:r>
              <a:rPr lang="zh-CN" altLang="en-US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兼容性，优化内存、文件系统及 </a:t>
            </a:r>
            <a:r>
              <a:rPr lang="en-US" altLang="en-US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I/O </a:t>
            </a:r>
            <a:r>
              <a:rPr lang="zh-CN" altLang="en-US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性能，并逐步探索 </a:t>
            </a:r>
            <a:r>
              <a:rPr lang="en-US" altLang="en-US" dirty="0" err="1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SMP、eBPF</a:t>
            </a:r>
            <a:r>
              <a:rPr lang="en-US" altLang="en-US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、</a:t>
            </a:r>
            <a:r>
              <a:rPr lang="zh-CN" altLang="en-US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完整网络协议栈、异步 </a:t>
            </a:r>
            <a:r>
              <a:rPr lang="en-US" altLang="en-US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I/O </a:t>
            </a:r>
            <a:r>
              <a:rPr lang="zh-CN" altLang="en-US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和 </a:t>
            </a:r>
            <a:r>
              <a:rPr lang="en-US" altLang="en-US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USB </a:t>
            </a:r>
            <a:r>
              <a:rPr lang="zh-CN" altLang="en-US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设备支持，让 </a:t>
            </a:r>
            <a:r>
              <a:rPr lang="en-US" altLang="en-US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WHUSP </a:t>
            </a:r>
            <a:r>
              <a:rPr lang="zh-CN" altLang="en-US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从竞赛内核进一步成长为功能更加完整、结构更加成熟的通用操作系统内核。  </a:t>
            </a:r>
          </a:p>
          <a:p>
            <a:pPr>
              <a:lnSpc>
                <a:spcPct val="125000"/>
              </a:lnSpc>
            </a:pPr>
            <a:endParaRPr lang="zh-CN" altLang="en-US" dirty="0">
              <a:solidFill>
                <a:schemeClr val="bg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2621280"/>
            <a:ext cx="12192000" cy="151384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 0"/>
          <p:cNvSpPr/>
          <p:nvPr/>
        </p:nvSpPr>
        <p:spPr>
          <a:xfrm>
            <a:off x="0" y="3046984"/>
            <a:ext cx="12191695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44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感谢聆听</a:t>
            </a:r>
            <a:endParaRPr lang="en-US" sz="4400" dirty="0">
              <a:solidFill>
                <a:schemeClr val="bg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3074</Words>
  <Application>Microsoft Office PowerPoint</Application>
  <PresentationFormat>宽屏</PresentationFormat>
  <Paragraphs>485</Paragraphs>
  <Slides>31</Slides>
  <Notes>31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38" baseType="lpstr">
      <vt:lpstr>等线</vt:lpstr>
      <vt:lpstr>仿宋</vt:lpstr>
      <vt:lpstr>华文中宋</vt:lpstr>
      <vt:lpstr>Arial</vt:lpstr>
      <vt:lpstr>Consolas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Wuhan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WHUSP-OS 初赛汇报</dc:title>
  <dc:subject>WHUSP-OS preliminary presentation</dc:subject>
  <dc:creator>WHUSP</dc:creator>
  <cp:lastModifiedBy>瑞博 石</cp:lastModifiedBy>
  <cp:revision>33</cp:revision>
  <dcterms:created xsi:type="dcterms:W3CDTF">2026-06-30T12:39:32Z</dcterms:created>
  <dcterms:modified xsi:type="dcterms:W3CDTF">2026-06-30T13:43:34Z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FC8138B528C7244F7358436A0FC48E8E_42</vt:lpwstr>
  </property>
  <property fmtid="{D5CDD505-2E9C-101B-9397-08002B2CF9AE}" pid="3" name="KSOProductBuildVer">
    <vt:lpwstr>1033-12.1.2.26885</vt:lpwstr>
  </property>
</Properties>
</file>
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32"/>
  </p:notesMasterIdLst>
  <p:sldIdLst>
    <p:sldId id="256" r:id="rId2"/>
    <p:sldId id="257" r:id="rId3"/>
    <p:sldId id="258" r:id="rId4"/>
    <p:sldId id="281" r:id="rId5"/>
    <p:sldId id="282" r:id="rId6"/>
    <p:sldId id="283" r:id="rId7"/>
    <p:sldId id="284" r:id="rId8"/>
    <p:sldId id="285" r:id="rId9"/>
    <p:sldId id="286" r:id="rId10"/>
    <p:sldId id="287" r:id="rId11"/>
    <p:sldId id="288" r:id="rId12"/>
    <p:sldId id="289" r:id="rId13"/>
    <p:sldId id="290" r:id="rId14"/>
    <p:sldId id="291" r:id="rId15"/>
    <p:sldId id="260" r:id="rId16"/>
    <p:sldId id="261" r:id="rId17"/>
    <p:sldId id="262" r:id="rId18"/>
    <p:sldId id="263" r:id="rId19"/>
    <p:sldId id="265" r:id="rId20"/>
    <p:sldId id="292" r:id="rId21"/>
    <p:sldId id="267" r:id="rId22"/>
    <p:sldId id="269" r:id="rId23"/>
    <p:sldId id="270" r:id="rId24"/>
    <p:sldId id="271" r:id="rId25"/>
    <p:sldId id="272" r:id="rId26"/>
    <p:sldId id="273" r:id="rId27"/>
    <p:sldId id="274" r:id="rId28"/>
    <p:sldId id="275" r:id="rId29"/>
    <p:sldId id="279" r:id="rId30"/>
    <p:sldId id="280" r:id="rId3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117" autoAdjust="0"/>
    <p:restoredTop sz="94610"/>
  </p:normalViewPr>
  <p:slideViewPr>
    <p:cSldViewPr snapToGrid="0" snapToObjects="1">
      <p:cViewPr>
        <p:scale>
          <a:sx n="50" d="100"/>
          <a:sy n="50" d="100"/>
        </p:scale>
        <p:origin x="974" y="6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6-30T06:25:5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24575,'0'0'-8191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6-30T06:26:0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24575,'0'0'-8191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6/30/2026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customXml" Target="../ink/ink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customXml" Target="../ink/ink2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nastem/Project/oscomp/preliminary-report/figures/wh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7139" y="2892949"/>
            <a:ext cx="3439858" cy="1084430"/>
          </a:xfrm>
          <a:prstGeom prst="rect">
            <a:avLst/>
          </a:prstGeom>
        </p:spPr>
      </p:pic>
      <p:grpSp>
        <p:nvGrpSpPr>
          <p:cNvPr id="13" name="组合 12"/>
          <p:cNvGrpSpPr/>
          <p:nvPr/>
        </p:nvGrpSpPr>
        <p:grpSpPr>
          <a:xfrm>
            <a:off x="4904508" y="2481748"/>
            <a:ext cx="6561916" cy="2327883"/>
            <a:chOff x="4873336" y="2402237"/>
            <a:chExt cx="6561916" cy="2327883"/>
          </a:xfrm>
        </p:grpSpPr>
        <p:sp>
          <p:nvSpPr>
            <p:cNvPr id="3" name="Text 0"/>
            <p:cNvSpPr/>
            <p:nvPr/>
          </p:nvSpPr>
          <p:spPr>
            <a:xfrm>
              <a:off x="4873336" y="2402237"/>
              <a:ext cx="5684810" cy="850392"/>
            </a:xfrm>
            <a:prstGeom prst="rect">
              <a:avLst/>
            </a:prstGeom>
            <a:noFill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4800" dirty="0">
                  <a:solidFill>
                    <a:srgbClr val="000000"/>
                  </a:solidFill>
                  <a:latin typeface="Times New Roman" panose="02020603050405020304" pitchFamily="18" charset="0"/>
                  <a:ea typeface="华文中宋" panose="02010600040101010101" pitchFamily="2" charset="-122"/>
                  <a:cs typeface="Times New Roman" panose="02020603050405020304" pitchFamily="18" charset="0"/>
                </a:rPr>
                <a:t>WHUSP</a:t>
              </a:r>
              <a:r>
                <a:rPr lang="en-US" sz="4800" dirty="0">
                  <a:solidFill>
                    <a:srgbClr val="000000"/>
                  </a:solidFill>
                  <a:latin typeface="华文中宋" panose="02010600040101010101" pitchFamily="2" charset="-122"/>
                  <a:ea typeface="华文中宋" panose="02010600040101010101" pitchFamily="2" charset="-122"/>
                  <a:cs typeface="Consolas" panose="020B0609020204030204" pitchFamily="34" charset="-120"/>
                </a:rPr>
                <a:t>  初赛汇报</a:t>
              </a:r>
              <a:endParaRPr lang="en-US" sz="4800" dirty="0">
                <a:latin typeface="华文中宋" panose="02010600040101010101" pitchFamily="2" charset="-122"/>
                <a:ea typeface="华文中宋" panose="02010600040101010101" pitchFamily="2" charset="-122"/>
              </a:endParaRPr>
            </a:p>
          </p:txBody>
        </p:sp>
        <p:sp>
          <p:nvSpPr>
            <p:cNvPr id="4" name="Text 1"/>
            <p:cNvSpPr/>
            <p:nvPr/>
          </p:nvSpPr>
          <p:spPr>
            <a:xfrm>
              <a:off x="4951032" y="3645690"/>
              <a:ext cx="4857985" cy="1084430"/>
            </a:xfrm>
            <a:prstGeom prst="rect">
              <a:avLst/>
            </a:prstGeom>
            <a:noFill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endParaRPr lang="en-US" sz="1600" dirty="0">
                <a:latin typeface="华文中宋" panose="02010600040101010101" pitchFamily="2" charset="-122"/>
                <a:ea typeface="华文中宋" panose="02010600040101010101" pitchFamily="2" charset="-122"/>
              </a:endParaRPr>
            </a:p>
          </p:txBody>
        </p:sp>
        <p:cxnSp>
          <p:nvCxnSpPr>
            <p:cNvPr id="9" name="直接连接符 8"/>
            <p:cNvCxnSpPr/>
            <p:nvPr/>
          </p:nvCxnSpPr>
          <p:spPr>
            <a:xfrm>
              <a:off x="5268191" y="3429000"/>
              <a:ext cx="6167061" cy="0"/>
            </a:xfrm>
            <a:prstGeom prst="line">
              <a:avLst/>
            </a:prstGeom>
            <a:ln w="50800">
              <a:solidFill>
                <a:schemeClr val="bg2">
                  <a:lumMod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文本框 11"/>
            <p:cNvSpPr txBox="1"/>
            <p:nvPr/>
          </p:nvSpPr>
          <p:spPr>
            <a:xfrm>
              <a:off x="5199779" y="3721920"/>
              <a:ext cx="5506636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 err="1">
                  <a:solidFill>
                    <a:srgbClr val="000000"/>
                  </a:solidFill>
                  <a:latin typeface="华文中宋" panose="02010600040101010101" pitchFamily="2" charset="-122"/>
                  <a:ea typeface="华文中宋" panose="02010600040101010101" pitchFamily="2" charset="-122"/>
                  <a:cs typeface="等线" pitchFamily="34" charset="-120"/>
                </a:rPr>
                <a:t>武汉大学</a:t>
              </a:r>
              <a:r>
                <a:rPr lang="en-US" altLang="zh-CN" dirty="0">
                  <a:solidFill>
                    <a:srgbClr val="000000"/>
                  </a:solidFill>
                  <a:latin typeface="华文中宋" panose="02010600040101010101" pitchFamily="2" charset="-122"/>
                  <a:ea typeface="华文中宋" panose="02010600040101010101" pitchFamily="2" charset="-122"/>
                  <a:cs typeface="等线" pitchFamily="34" charset="-120"/>
                </a:rPr>
                <a:t> </a:t>
              </a:r>
              <a:r>
                <a:rPr lang="zh-CN" altLang="en-US" dirty="0">
                  <a:solidFill>
                    <a:srgbClr val="000000"/>
                  </a:solidFill>
                  <a:latin typeface="华文中宋" panose="02010600040101010101" pitchFamily="2" charset="-122"/>
                  <a:ea typeface="华文中宋" panose="02010600040101010101" pitchFamily="2" charset="-122"/>
                  <a:cs typeface="等线" pitchFamily="34" charset="-120"/>
                </a:rPr>
                <a:t>最后一次入门</a:t>
              </a:r>
              <a:r>
                <a:rPr lang="en-US" altLang="zh-CN" dirty="0">
                  <a:solidFill>
                    <a:srgbClr val="000000"/>
                  </a:solidFill>
                  <a:latin typeface="华文中宋" panose="02010600040101010101" pitchFamily="2" charset="-122"/>
                  <a:ea typeface="华文中宋" panose="02010600040101010101" pitchFamily="2" charset="-122"/>
                  <a:cs typeface="等线" pitchFamily="34" charset="-120"/>
                </a:rPr>
                <a:t>RUST 队——</a:t>
              </a:r>
              <a:r>
                <a:rPr lang="en-US" altLang="zh-CN" dirty="0" err="1">
                  <a:solidFill>
                    <a:srgbClr val="000000"/>
                  </a:solidFill>
                  <a:latin typeface="华文中宋" panose="02010600040101010101" pitchFamily="2" charset="-122"/>
                  <a:ea typeface="华文中宋" panose="02010600040101010101" pitchFamily="2" charset="-122"/>
                  <a:cs typeface="等线" pitchFamily="34" charset="-120"/>
                </a:rPr>
                <a:t>彭灵钰</a:t>
              </a:r>
              <a:r>
                <a:rPr lang="en-US" altLang="zh-CN" dirty="0">
                  <a:solidFill>
                    <a:srgbClr val="000000"/>
                  </a:solidFill>
                  <a:latin typeface="华文中宋" panose="02010600040101010101" pitchFamily="2" charset="-122"/>
                  <a:ea typeface="华文中宋" panose="02010600040101010101" pitchFamily="2" charset="-122"/>
                  <a:cs typeface="等线" pitchFamily="34" charset="-120"/>
                </a:rPr>
                <a:t>  </a:t>
              </a:r>
              <a:r>
                <a:rPr lang="en-US" altLang="zh-CN" dirty="0" err="1">
                  <a:solidFill>
                    <a:srgbClr val="000000"/>
                  </a:solidFill>
                  <a:latin typeface="华文中宋" panose="02010600040101010101" pitchFamily="2" charset="-122"/>
                  <a:ea typeface="华文中宋" panose="02010600040101010101" pitchFamily="2" charset="-122"/>
                  <a:cs typeface="等线" pitchFamily="34" charset="-120"/>
                </a:rPr>
                <a:t>石瑞博</a:t>
              </a:r>
              <a:endParaRPr lang="en-US" altLang="zh-CN" dirty="0">
                <a:latin typeface="华文中宋" panose="02010600040101010101" pitchFamily="2" charset="-122"/>
                <a:ea typeface="华文中宋" panose="02010600040101010101" pitchFamily="2" charset="-122"/>
              </a:endParaRPr>
            </a:p>
            <a:p>
              <a:endParaRPr lang="zh-CN" altLang="en-US" dirty="0"/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3"/>
          <p:cNvSpPr/>
          <p:nvPr/>
        </p:nvSpPr>
        <p:spPr>
          <a:xfrm>
            <a:off x="9468196" y="2432304"/>
            <a:ext cx="5852160" cy="256032"/>
          </a:xfrm>
          <a:prstGeom prst="rect">
            <a:avLst/>
          </a:prstGeom>
          <a:noFill/>
        </p:spPr>
        <p:txBody>
          <a:bodyPr wrap="square" lIns="254" tIns="254" rIns="254" bIns="254" rtlCol="0" anchor="ctr"/>
          <a:lstStyle/>
          <a:p>
            <a:endParaRPr lang="en-US" sz="1500" dirty="0"/>
          </a:p>
        </p:txBody>
      </p:sp>
      <p:cxnSp>
        <p:nvCxnSpPr>
          <p:cNvPr id="17" name="直接连接符 16"/>
          <p:cNvCxnSpPr/>
          <p:nvPr/>
        </p:nvCxnSpPr>
        <p:spPr>
          <a:xfrm>
            <a:off x="519545" y="1039091"/>
            <a:ext cx="7813964" cy="0"/>
          </a:xfrm>
          <a:prstGeom prst="line">
            <a:avLst/>
          </a:prstGeom>
          <a:ln w="38100">
            <a:solidFill>
              <a:schemeClr val="bg2">
                <a:lumMod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矩形 17"/>
          <p:cNvSpPr/>
          <p:nvPr/>
        </p:nvSpPr>
        <p:spPr>
          <a:xfrm>
            <a:off x="11641282" y="342901"/>
            <a:ext cx="259773" cy="581891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" name="文本框 18"/>
          <p:cNvSpPr txBox="1"/>
          <p:nvPr/>
        </p:nvSpPr>
        <p:spPr>
          <a:xfrm>
            <a:off x="550718" y="155351"/>
            <a:ext cx="1313180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4400" dirty="0">
                <a:latin typeface="华文中宋" panose="02010600040101010101" pitchFamily="2" charset="-122"/>
                <a:ea typeface="华文中宋" panose="02010600040101010101" pitchFamily="2" charset="-122"/>
              </a:rPr>
              <a:t>目录</a:t>
            </a:r>
          </a:p>
        </p:txBody>
      </p:sp>
      <p:sp>
        <p:nvSpPr>
          <p:cNvPr id="20" name="文本框 19"/>
          <p:cNvSpPr txBox="1"/>
          <p:nvPr/>
        </p:nvSpPr>
        <p:spPr>
          <a:xfrm>
            <a:off x="687774" y="1153391"/>
            <a:ext cx="10390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华文中宋" panose="02010600040101010101" pitchFamily="2" charset="-122"/>
                <a:ea typeface="华文中宋" panose="02010600040101010101" pitchFamily="2" charset="-122"/>
              </a:rPr>
              <a:t>English</a:t>
            </a:r>
            <a:endParaRPr lang="zh-CN" altLang="en-US" dirty="0">
              <a:latin typeface="华文中宋" panose="02010600040101010101" pitchFamily="2" charset="-122"/>
              <a:ea typeface="华文中宋" panose="02010600040101010101" pitchFamily="2" charset="-122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27" name="墨迹 26"/>
              <p14:cNvContentPartPr/>
              <p14:nvPr/>
            </p14:nvContentPartPr>
            <p14:xfrm>
              <a:off x="7669389" y="3745786"/>
              <a:ext cx="360" cy="360"/>
            </p14:xfrm>
          </p:contentPart>
        </mc:Choice>
        <mc:Fallback xmlns="">
          <p:pic>
            <p:nvPicPr>
              <p:cNvPr id="27" name="墨迹 26"/>
            </p:nvPicPr>
            <p:blipFill>
              <a:blip r:embed="rId4"/>
            </p:blipFill>
            <p:spPr>
              <a:xfrm>
                <a:off x="7669389" y="3745786"/>
                <a:ext cx="360" cy="360"/>
              </a:xfrm>
              <a:prstGeom prst="rect"/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28" name="墨迹 27"/>
              <p14:cNvContentPartPr/>
              <p14:nvPr/>
            </p14:nvContentPartPr>
            <p14:xfrm>
              <a:off x="8022909" y="4951426"/>
              <a:ext cx="360" cy="360"/>
            </p14:xfrm>
          </p:contentPart>
        </mc:Choice>
        <mc:Fallback xmlns="">
          <p:pic>
            <p:nvPicPr>
              <p:cNvPr id="28" name="墨迹 27"/>
            </p:nvPicPr>
            <p:blipFill>
              <a:blip r:embed="rId4"/>
            </p:blipFill>
            <p:spPr>
              <a:xfrm>
                <a:off x="8022909" y="4951426"/>
                <a:ext cx="360" cy="360"/>
              </a:xfrm>
              <a:prstGeom prst="rect"/>
            </p:spPr>
          </p:pic>
        </mc:Fallback>
      </mc:AlternateContent>
      <p:grpSp>
        <p:nvGrpSpPr>
          <p:cNvPr id="63" name="组合 62"/>
          <p:cNvGrpSpPr/>
          <p:nvPr/>
        </p:nvGrpSpPr>
        <p:grpSpPr>
          <a:xfrm>
            <a:off x="1911923" y="2591563"/>
            <a:ext cx="4609653" cy="2189979"/>
            <a:chOff x="949483" y="1713494"/>
            <a:chExt cx="4609653" cy="2189979"/>
          </a:xfrm>
        </p:grpSpPr>
        <p:grpSp>
          <p:nvGrpSpPr>
            <p:cNvPr id="30" name="组合 29"/>
            <p:cNvGrpSpPr/>
            <p:nvPr/>
          </p:nvGrpSpPr>
          <p:grpSpPr>
            <a:xfrm>
              <a:off x="949483" y="1713494"/>
              <a:ext cx="1230067" cy="618226"/>
              <a:chOff x="949483" y="1713494"/>
              <a:chExt cx="1230067" cy="618226"/>
            </a:xfrm>
          </p:grpSpPr>
          <p:sp>
            <p:nvSpPr>
              <p:cNvPr id="22" name="矩形 21"/>
              <p:cNvSpPr/>
              <p:nvPr/>
            </p:nvSpPr>
            <p:spPr>
              <a:xfrm>
                <a:off x="949483" y="1880757"/>
                <a:ext cx="648162" cy="356611"/>
              </a:xfrm>
              <a:prstGeom prst="rect">
                <a:avLst/>
              </a:prstGeom>
              <a:solidFill>
                <a:schemeClr val="bg2">
                  <a:lumMod val="50000"/>
                </a:schemeClr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" name="矩形 20"/>
              <p:cNvSpPr/>
              <p:nvPr/>
            </p:nvSpPr>
            <p:spPr>
              <a:xfrm>
                <a:off x="1207307" y="1975109"/>
                <a:ext cx="648162" cy="356611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" name="文本框 22"/>
              <p:cNvSpPr txBox="1"/>
              <p:nvPr/>
            </p:nvSpPr>
            <p:spPr>
              <a:xfrm>
                <a:off x="1531388" y="1713494"/>
                <a:ext cx="648162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2800" b="1" dirty="0">
                    <a:latin typeface="华文中宋" panose="02010600040101010101" pitchFamily="2" charset="-122"/>
                    <a:ea typeface="华文中宋" panose="02010600040101010101" pitchFamily="2" charset="-122"/>
                  </a:rPr>
                  <a:t>1</a:t>
                </a:r>
                <a:endParaRPr lang="zh-CN" altLang="en-US" sz="2800" b="1" dirty="0">
                  <a:latin typeface="华文中宋" panose="02010600040101010101" pitchFamily="2" charset="-122"/>
                  <a:ea typeface="华文中宋" panose="02010600040101010101" pitchFamily="2" charset="-122"/>
                </a:endParaRPr>
              </a:p>
            </p:txBody>
          </p:sp>
        </p:grpSp>
        <p:grpSp>
          <p:nvGrpSpPr>
            <p:cNvPr id="31" name="组合 30"/>
            <p:cNvGrpSpPr/>
            <p:nvPr/>
          </p:nvGrpSpPr>
          <p:grpSpPr>
            <a:xfrm>
              <a:off x="949483" y="2484120"/>
              <a:ext cx="1230067" cy="618226"/>
              <a:chOff x="949483" y="1713494"/>
              <a:chExt cx="1230067" cy="618226"/>
            </a:xfrm>
          </p:grpSpPr>
          <p:sp>
            <p:nvSpPr>
              <p:cNvPr id="32" name="矩形 31"/>
              <p:cNvSpPr/>
              <p:nvPr/>
            </p:nvSpPr>
            <p:spPr>
              <a:xfrm>
                <a:off x="949483" y="1880757"/>
                <a:ext cx="648162" cy="356611"/>
              </a:xfrm>
              <a:prstGeom prst="rect">
                <a:avLst/>
              </a:prstGeom>
              <a:solidFill>
                <a:schemeClr val="bg2">
                  <a:lumMod val="50000"/>
                </a:schemeClr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" name="矩形 32"/>
              <p:cNvSpPr/>
              <p:nvPr/>
            </p:nvSpPr>
            <p:spPr>
              <a:xfrm>
                <a:off x="1207307" y="1975109"/>
                <a:ext cx="648162" cy="356611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" name="文本框 33"/>
              <p:cNvSpPr txBox="1"/>
              <p:nvPr/>
            </p:nvSpPr>
            <p:spPr>
              <a:xfrm>
                <a:off x="1531388" y="1713494"/>
                <a:ext cx="648162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2800" b="1" dirty="0">
                    <a:latin typeface="华文中宋" panose="02010600040101010101" pitchFamily="2" charset="-122"/>
                    <a:ea typeface="华文中宋" panose="02010600040101010101" pitchFamily="2" charset="-122"/>
                  </a:rPr>
                  <a:t>2</a:t>
                </a:r>
                <a:endParaRPr lang="zh-CN" altLang="en-US" sz="2800" b="1" dirty="0">
                  <a:latin typeface="华文中宋" panose="02010600040101010101" pitchFamily="2" charset="-122"/>
                  <a:ea typeface="华文中宋" panose="02010600040101010101" pitchFamily="2" charset="-122"/>
                </a:endParaRPr>
              </a:p>
            </p:txBody>
          </p:sp>
        </p:grpSp>
        <p:grpSp>
          <p:nvGrpSpPr>
            <p:cNvPr id="35" name="组合 34"/>
            <p:cNvGrpSpPr/>
            <p:nvPr/>
          </p:nvGrpSpPr>
          <p:grpSpPr>
            <a:xfrm>
              <a:off x="949483" y="3254746"/>
              <a:ext cx="1230067" cy="618226"/>
              <a:chOff x="949483" y="1713494"/>
              <a:chExt cx="1230067" cy="618226"/>
            </a:xfrm>
          </p:grpSpPr>
          <p:sp>
            <p:nvSpPr>
              <p:cNvPr id="36" name="矩形 35"/>
              <p:cNvSpPr/>
              <p:nvPr/>
            </p:nvSpPr>
            <p:spPr>
              <a:xfrm>
                <a:off x="949483" y="1880757"/>
                <a:ext cx="648162" cy="356611"/>
              </a:xfrm>
              <a:prstGeom prst="rect">
                <a:avLst/>
              </a:prstGeom>
              <a:solidFill>
                <a:schemeClr val="bg2">
                  <a:lumMod val="50000"/>
                </a:schemeClr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" name="矩形 36"/>
              <p:cNvSpPr/>
              <p:nvPr/>
            </p:nvSpPr>
            <p:spPr>
              <a:xfrm>
                <a:off x="1207307" y="1975109"/>
                <a:ext cx="648162" cy="356611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531388" y="1713494"/>
                <a:ext cx="648162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2800" b="1" dirty="0">
                    <a:latin typeface="华文中宋" panose="02010600040101010101" pitchFamily="2" charset="-122"/>
                    <a:ea typeface="华文中宋" panose="02010600040101010101" pitchFamily="2" charset="-122"/>
                  </a:rPr>
                  <a:t>3</a:t>
                </a:r>
                <a:endParaRPr lang="zh-CN" altLang="en-US" sz="2800" b="1" dirty="0">
                  <a:latin typeface="华文中宋" panose="02010600040101010101" pitchFamily="2" charset="-122"/>
                  <a:ea typeface="华文中宋" panose="02010600040101010101" pitchFamily="2" charset="-122"/>
                </a:endParaRPr>
              </a:p>
            </p:txBody>
          </p:sp>
        </p:grpSp>
        <p:sp>
          <p:nvSpPr>
            <p:cNvPr id="55" name="文本框 54"/>
            <p:cNvSpPr txBox="1"/>
            <p:nvPr/>
          </p:nvSpPr>
          <p:spPr>
            <a:xfrm>
              <a:off x="2179550" y="1878566"/>
              <a:ext cx="337958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2800" dirty="0" err="1">
                  <a:solidFill>
                    <a:srgbClr val="111111"/>
                  </a:solidFill>
                  <a:latin typeface="华文中宋" panose="02010600040101010101" pitchFamily="2" charset="-122"/>
                  <a:ea typeface="华文中宋" panose="02010600040101010101" pitchFamily="2" charset="-122"/>
                  <a:cs typeface="等线" pitchFamily="34" charset="-120"/>
                </a:rPr>
                <a:t>项目介绍</a:t>
              </a:r>
              <a:endParaRPr lang="en-US" altLang="zh-CN" sz="2800" dirty="0">
                <a:latin typeface="华文中宋" panose="02010600040101010101" pitchFamily="2" charset="-122"/>
                <a:ea typeface="华文中宋" panose="02010600040101010101" pitchFamily="2" charset="-122"/>
              </a:endParaRPr>
            </a:p>
          </p:txBody>
        </p:sp>
        <p:sp>
          <p:nvSpPr>
            <p:cNvPr id="56" name="文本框 55"/>
            <p:cNvSpPr txBox="1"/>
            <p:nvPr/>
          </p:nvSpPr>
          <p:spPr>
            <a:xfrm>
              <a:off x="2168398" y="2654883"/>
              <a:ext cx="2337954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2800" dirty="0">
                  <a:solidFill>
                    <a:srgbClr val="111111"/>
                  </a:solidFill>
                  <a:latin typeface="华文中宋" panose="02010600040101010101" pitchFamily="2" charset="-122"/>
                  <a:ea typeface="华文中宋" panose="02010600040101010101" pitchFamily="2" charset="-122"/>
                  <a:cs typeface="等线" pitchFamily="34" charset="-120"/>
                </a:rPr>
                <a:t>成果展示</a:t>
              </a:r>
              <a:endParaRPr lang="en-US" altLang="zh-CN" sz="2800" dirty="0">
                <a:latin typeface="华文中宋" panose="02010600040101010101" pitchFamily="2" charset="-122"/>
                <a:ea typeface="华文中宋" panose="02010600040101010101" pitchFamily="2" charset="-122"/>
              </a:endParaRPr>
            </a:p>
          </p:txBody>
        </p:sp>
        <p:sp>
          <p:nvSpPr>
            <p:cNvPr id="57" name="文本框 56"/>
            <p:cNvSpPr txBox="1"/>
            <p:nvPr/>
          </p:nvSpPr>
          <p:spPr>
            <a:xfrm>
              <a:off x="2168399" y="3380253"/>
              <a:ext cx="2337954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2800" dirty="0">
                  <a:solidFill>
                    <a:srgbClr val="111111"/>
                  </a:solidFill>
                  <a:latin typeface="华文中宋" panose="02010600040101010101" pitchFamily="2" charset="-122"/>
                  <a:ea typeface="华文中宋" panose="02010600040101010101" pitchFamily="2" charset="-122"/>
                  <a:cs typeface="等线" pitchFamily="34" charset="-120"/>
                </a:rPr>
                <a:t>总体架构</a:t>
              </a:r>
              <a:endParaRPr lang="en-US" altLang="zh-CN" sz="2800" dirty="0">
                <a:latin typeface="华文中宋" panose="02010600040101010101" pitchFamily="2" charset="-122"/>
                <a:ea typeface="华文中宋" panose="02010600040101010101" pitchFamily="2" charset="-122"/>
              </a:endParaRPr>
            </a:p>
          </p:txBody>
        </p:sp>
      </p:grpSp>
      <p:grpSp>
        <p:nvGrpSpPr>
          <p:cNvPr id="62" name="组合 61"/>
          <p:cNvGrpSpPr/>
          <p:nvPr/>
        </p:nvGrpSpPr>
        <p:grpSpPr>
          <a:xfrm>
            <a:off x="6877101" y="2592333"/>
            <a:ext cx="3543373" cy="2228238"/>
            <a:chOff x="949482" y="4025372"/>
            <a:chExt cx="3543373" cy="2228238"/>
          </a:xfrm>
        </p:grpSpPr>
        <p:grpSp>
          <p:nvGrpSpPr>
            <p:cNvPr id="43" name="组合 42"/>
            <p:cNvGrpSpPr/>
            <p:nvPr/>
          </p:nvGrpSpPr>
          <p:grpSpPr>
            <a:xfrm>
              <a:off x="949482" y="4025372"/>
              <a:ext cx="1230067" cy="618226"/>
              <a:chOff x="949483" y="1713494"/>
              <a:chExt cx="1230067" cy="618226"/>
            </a:xfrm>
          </p:grpSpPr>
          <p:sp>
            <p:nvSpPr>
              <p:cNvPr id="44" name="矩形 43"/>
              <p:cNvSpPr/>
              <p:nvPr/>
            </p:nvSpPr>
            <p:spPr>
              <a:xfrm>
                <a:off x="949483" y="1880757"/>
                <a:ext cx="648162" cy="356611"/>
              </a:xfrm>
              <a:prstGeom prst="rect">
                <a:avLst/>
              </a:prstGeom>
              <a:solidFill>
                <a:schemeClr val="bg2">
                  <a:lumMod val="50000"/>
                </a:schemeClr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5" name="矩形 44"/>
              <p:cNvSpPr/>
              <p:nvPr/>
            </p:nvSpPr>
            <p:spPr>
              <a:xfrm>
                <a:off x="1207307" y="1975109"/>
                <a:ext cx="648162" cy="356611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6" name="文本框 45"/>
              <p:cNvSpPr txBox="1"/>
              <p:nvPr/>
            </p:nvSpPr>
            <p:spPr>
              <a:xfrm>
                <a:off x="1531388" y="1713494"/>
                <a:ext cx="648162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2800" b="1" dirty="0">
                    <a:latin typeface="华文中宋" panose="02010600040101010101" pitchFamily="2" charset="-122"/>
                    <a:ea typeface="华文中宋" panose="02010600040101010101" pitchFamily="2" charset="-122"/>
                  </a:rPr>
                  <a:t>4</a:t>
                </a:r>
                <a:endParaRPr lang="zh-CN" altLang="en-US" sz="2800" b="1" dirty="0">
                  <a:latin typeface="华文中宋" panose="02010600040101010101" pitchFamily="2" charset="-122"/>
                  <a:ea typeface="华文中宋" panose="02010600040101010101" pitchFamily="2" charset="-122"/>
                </a:endParaRPr>
              </a:p>
            </p:txBody>
          </p:sp>
        </p:grpSp>
        <p:grpSp>
          <p:nvGrpSpPr>
            <p:cNvPr id="47" name="组合 46"/>
            <p:cNvGrpSpPr/>
            <p:nvPr/>
          </p:nvGrpSpPr>
          <p:grpSpPr>
            <a:xfrm>
              <a:off x="949482" y="4795998"/>
              <a:ext cx="1230067" cy="618226"/>
              <a:chOff x="949483" y="1713494"/>
              <a:chExt cx="1230067" cy="618226"/>
            </a:xfrm>
          </p:grpSpPr>
          <p:sp>
            <p:nvSpPr>
              <p:cNvPr id="48" name="矩形 47"/>
              <p:cNvSpPr/>
              <p:nvPr/>
            </p:nvSpPr>
            <p:spPr>
              <a:xfrm>
                <a:off x="949483" y="1880757"/>
                <a:ext cx="648162" cy="356611"/>
              </a:xfrm>
              <a:prstGeom prst="rect">
                <a:avLst/>
              </a:prstGeom>
              <a:solidFill>
                <a:schemeClr val="bg2">
                  <a:lumMod val="50000"/>
                </a:schemeClr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9" name="矩形 48"/>
              <p:cNvSpPr/>
              <p:nvPr/>
            </p:nvSpPr>
            <p:spPr>
              <a:xfrm>
                <a:off x="1207307" y="1975109"/>
                <a:ext cx="648162" cy="356611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0" name="文本框 49"/>
              <p:cNvSpPr txBox="1"/>
              <p:nvPr/>
            </p:nvSpPr>
            <p:spPr>
              <a:xfrm>
                <a:off x="1531388" y="1713494"/>
                <a:ext cx="648162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2800" b="1" dirty="0">
                    <a:latin typeface="华文中宋" panose="02010600040101010101" pitchFamily="2" charset="-122"/>
                    <a:ea typeface="华文中宋" panose="02010600040101010101" pitchFamily="2" charset="-122"/>
                  </a:rPr>
                  <a:t>5</a:t>
                </a:r>
                <a:endParaRPr lang="zh-CN" altLang="en-US" sz="2800" b="1" dirty="0">
                  <a:latin typeface="华文中宋" panose="02010600040101010101" pitchFamily="2" charset="-122"/>
                  <a:ea typeface="华文中宋" panose="02010600040101010101" pitchFamily="2" charset="-122"/>
                </a:endParaRPr>
              </a:p>
            </p:txBody>
          </p:sp>
        </p:grpSp>
        <p:grpSp>
          <p:nvGrpSpPr>
            <p:cNvPr id="51" name="组合 50"/>
            <p:cNvGrpSpPr/>
            <p:nvPr/>
          </p:nvGrpSpPr>
          <p:grpSpPr>
            <a:xfrm>
              <a:off x="949482" y="5580833"/>
              <a:ext cx="1230067" cy="618226"/>
              <a:chOff x="949483" y="1713494"/>
              <a:chExt cx="1230067" cy="618226"/>
            </a:xfrm>
          </p:grpSpPr>
          <p:sp>
            <p:nvSpPr>
              <p:cNvPr id="52" name="矩形 51"/>
              <p:cNvSpPr/>
              <p:nvPr/>
            </p:nvSpPr>
            <p:spPr>
              <a:xfrm>
                <a:off x="949483" y="1880757"/>
                <a:ext cx="648162" cy="356611"/>
              </a:xfrm>
              <a:prstGeom prst="rect">
                <a:avLst/>
              </a:prstGeom>
              <a:solidFill>
                <a:schemeClr val="bg2">
                  <a:lumMod val="50000"/>
                </a:schemeClr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3" name="矩形 52"/>
              <p:cNvSpPr/>
              <p:nvPr/>
            </p:nvSpPr>
            <p:spPr>
              <a:xfrm>
                <a:off x="1207307" y="1975109"/>
                <a:ext cx="648162" cy="356611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4" name="文本框 53"/>
              <p:cNvSpPr txBox="1"/>
              <p:nvPr/>
            </p:nvSpPr>
            <p:spPr>
              <a:xfrm>
                <a:off x="1531388" y="1713494"/>
                <a:ext cx="648162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2800" b="1" dirty="0">
                    <a:latin typeface="华文中宋" panose="02010600040101010101" pitchFamily="2" charset="-122"/>
                    <a:ea typeface="华文中宋" panose="02010600040101010101" pitchFamily="2" charset="-122"/>
                  </a:rPr>
                  <a:t>6</a:t>
                </a:r>
                <a:endParaRPr lang="zh-CN" altLang="en-US" sz="2800" b="1" dirty="0">
                  <a:latin typeface="华文中宋" panose="02010600040101010101" pitchFamily="2" charset="-122"/>
                  <a:ea typeface="华文中宋" panose="02010600040101010101" pitchFamily="2" charset="-122"/>
                </a:endParaRPr>
              </a:p>
            </p:txBody>
          </p:sp>
        </p:grpSp>
        <p:sp>
          <p:nvSpPr>
            <p:cNvPr id="58" name="文本框 57"/>
            <p:cNvSpPr txBox="1"/>
            <p:nvPr/>
          </p:nvSpPr>
          <p:spPr>
            <a:xfrm>
              <a:off x="2154901" y="4172529"/>
              <a:ext cx="2337954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2800" dirty="0">
                  <a:solidFill>
                    <a:srgbClr val="111111"/>
                  </a:solidFill>
                  <a:latin typeface="华文中宋" panose="02010600040101010101" pitchFamily="2" charset="-122"/>
                  <a:ea typeface="华文中宋" panose="02010600040101010101" pitchFamily="2" charset="-122"/>
                  <a:cs typeface="等线" pitchFamily="34" charset="-120"/>
                </a:rPr>
                <a:t>内核模块</a:t>
              </a:r>
              <a:endParaRPr lang="en-US" altLang="zh-CN" sz="2800" dirty="0">
                <a:latin typeface="华文中宋" panose="02010600040101010101" pitchFamily="2" charset="-122"/>
                <a:ea typeface="华文中宋" panose="02010600040101010101" pitchFamily="2" charset="-122"/>
              </a:endParaRPr>
            </a:p>
          </p:txBody>
        </p:sp>
        <p:sp>
          <p:nvSpPr>
            <p:cNvPr id="59" name="文本框 58"/>
            <p:cNvSpPr txBox="1"/>
            <p:nvPr/>
          </p:nvSpPr>
          <p:spPr>
            <a:xfrm>
              <a:off x="2154901" y="4953654"/>
              <a:ext cx="2337954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2800" dirty="0">
                  <a:solidFill>
                    <a:srgbClr val="111111"/>
                  </a:solidFill>
                  <a:latin typeface="华文中宋" panose="02010600040101010101" pitchFamily="2" charset="-122"/>
                  <a:ea typeface="华文中宋" panose="02010600040101010101" pitchFamily="2" charset="-122"/>
                  <a:cs typeface="等线" pitchFamily="34" charset="-120"/>
                </a:rPr>
                <a:t>性能评测</a:t>
              </a:r>
              <a:endParaRPr lang="en-US" altLang="zh-CN" sz="2800" dirty="0">
                <a:latin typeface="华文中宋" panose="02010600040101010101" pitchFamily="2" charset="-122"/>
                <a:ea typeface="华文中宋" panose="02010600040101010101" pitchFamily="2" charset="-122"/>
              </a:endParaRPr>
            </a:p>
          </p:txBody>
        </p:sp>
        <p:sp>
          <p:nvSpPr>
            <p:cNvPr id="60" name="文本框 59"/>
            <p:cNvSpPr txBox="1"/>
            <p:nvPr/>
          </p:nvSpPr>
          <p:spPr>
            <a:xfrm>
              <a:off x="2154901" y="5730390"/>
              <a:ext cx="2337954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2800" dirty="0">
                  <a:solidFill>
                    <a:srgbClr val="111111"/>
                  </a:solidFill>
                  <a:latin typeface="华文中宋" panose="02010600040101010101" pitchFamily="2" charset="-122"/>
                  <a:ea typeface="华文中宋" panose="02010600040101010101" pitchFamily="2" charset="-122"/>
                  <a:cs typeface="等线" pitchFamily="34" charset="-120"/>
                </a:rPr>
                <a:t>总结展望</a:t>
              </a:r>
              <a:endParaRPr lang="en-US" altLang="zh-CN" sz="2800" dirty="0">
                <a:latin typeface="华文中宋" panose="02010600040101010101" pitchFamily="2" charset="-122"/>
                <a:ea typeface="华文中宋" panose="02010600040101010101" pitchFamily="2" charset="-122"/>
              </a:endParaRPr>
            </a:p>
          </p:txBody>
        </p:sp>
      </p:grpSp>
      <p:sp>
        <p:nvSpPr>
          <p:cNvPr id="61" name="文本框 60"/>
          <p:cNvSpPr txBox="1"/>
          <p:nvPr/>
        </p:nvSpPr>
        <p:spPr>
          <a:xfrm>
            <a:off x="13274040" y="731520"/>
            <a:ext cx="1800493" cy="29586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dirty="0">
                <a:latin typeface="华文中宋" panose="02010600040101010101" pitchFamily="2" charset="-122"/>
                <a:ea typeface="华文中宋" panose="02010600040101010101" pitchFamily="2" charset="-122"/>
              </a:rPr>
              <a:t>具体模块包括</a:t>
            </a:r>
            <a:endParaRPr lang="en-US" altLang="zh-CN" dirty="0">
              <a:latin typeface="华文中宋" panose="02010600040101010101" pitchFamily="2" charset="-122"/>
              <a:ea typeface="华文中宋" panose="02010600040101010101" pitchFamily="2" charset="-122"/>
            </a:endParaRPr>
          </a:p>
          <a:p>
            <a:pPr algn="ctr">
              <a:lnSpc>
                <a:spcPct val="150000"/>
              </a:lnSpc>
            </a:pPr>
            <a:r>
              <a:rPr lang="zh-CN" altLang="en-US" dirty="0">
                <a:latin typeface="华文中宋" panose="02010600040101010101" pitchFamily="2" charset="-122"/>
                <a:ea typeface="华文中宋" panose="02010600040101010101" pitchFamily="2" charset="-122"/>
              </a:rPr>
              <a:t>系统调用兼容性</a:t>
            </a:r>
            <a:endParaRPr lang="en-US" altLang="zh-CN" dirty="0">
              <a:latin typeface="华文中宋" panose="02010600040101010101" pitchFamily="2" charset="-122"/>
              <a:ea typeface="华文中宋" panose="02010600040101010101" pitchFamily="2" charset="-122"/>
            </a:endParaRPr>
          </a:p>
          <a:p>
            <a:pPr algn="ctr">
              <a:lnSpc>
                <a:spcPct val="150000"/>
              </a:lnSpc>
            </a:pPr>
            <a:r>
              <a:rPr lang="zh-CN" altLang="en-US" dirty="0">
                <a:latin typeface="华文中宋" panose="02010600040101010101" pitchFamily="2" charset="-122"/>
                <a:ea typeface="华文中宋" panose="02010600040101010101" pitchFamily="2" charset="-122"/>
              </a:rPr>
              <a:t>文件系统</a:t>
            </a:r>
            <a:endParaRPr lang="en-US" altLang="zh-CN" dirty="0">
              <a:latin typeface="华文中宋" panose="02010600040101010101" pitchFamily="2" charset="-122"/>
              <a:ea typeface="华文中宋" panose="02010600040101010101" pitchFamily="2" charset="-122"/>
            </a:endParaRPr>
          </a:p>
          <a:p>
            <a:pPr algn="ctr">
              <a:lnSpc>
                <a:spcPct val="150000"/>
              </a:lnSpc>
            </a:pPr>
            <a:r>
              <a:rPr lang="zh-CN" altLang="en-US" dirty="0">
                <a:latin typeface="华文中宋" panose="02010600040101010101" pitchFamily="2" charset="-122"/>
                <a:ea typeface="华文中宋" panose="02010600040101010101" pitchFamily="2" charset="-122"/>
              </a:rPr>
              <a:t>内存管理</a:t>
            </a:r>
            <a:endParaRPr lang="en-US" altLang="zh-CN" dirty="0">
              <a:latin typeface="华文中宋" panose="02010600040101010101" pitchFamily="2" charset="-122"/>
              <a:ea typeface="华文中宋" panose="02010600040101010101" pitchFamily="2" charset="-122"/>
            </a:endParaRPr>
          </a:p>
          <a:p>
            <a:pPr algn="ctr">
              <a:lnSpc>
                <a:spcPct val="150000"/>
              </a:lnSpc>
            </a:pPr>
            <a:r>
              <a:rPr lang="zh-CN" altLang="en-US" dirty="0">
                <a:latin typeface="华文中宋" panose="02010600040101010101" pitchFamily="2" charset="-122"/>
                <a:ea typeface="华文中宋" panose="02010600040101010101" pitchFamily="2" charset="-122"/>
              </a:rPr>
              <a:t>进程管理</a:t>
            </a:r>
            <a:endParaRPr lang="en-US" altLang="zh-CN" dirty="0">
              <a:latin typeface="华文中宋" panose="02010600040101010101" pitchFamily="2" charset="-122"/>
              <a:ea typeface="华文中宋" panose="02010600040101010101" pitchFamily="2" charset="-122"/>
            </a:endParaRPr>
          </a:p>
          <a:p>
            <a:pPr algn="ctr">
              <a:lnSpc>
                <a:spcPct val="150000"/>
              </a:lnSpc>
            </a:pPr>
            <a:r>
              <a:rPr lang="zh-CN" altLang="en-US" dirty="0">
                <a:latin typeface="华文中宋" panose="02010600040101010101" pitchFamily="2" charset="-122"/>
                <a:ea typeface="华文中宋" panose="02010600040101010101" pitchFamily="2" charset="-122"/>
              </a:rPr>
              <a:t>信号处理</a:t>
            </a:r>
            <a:endParaRPr lang="en-US" altLang="zh-CN" dirty="0">
              <a:latin typeface="华文中宋" panose="02010600040101010101" pitchFamily="2" charset="-122"/>
              <a:ea typeface="华文中宋" panose="02010600040101010101" pitchFamily="2" charset="-122"/>
            </a:endParaRPr>
          </a:p>
          <a:p>
            <a:pPr algn="ctr">
              <a:lnSpc>
                <a:spcPct val="150000"/>
              </a:lnSpc>
            </a:pPr>
            <a:r>
              <a:rPr lang="zh-CN" altLang="en-US" dirty="0">
                <a:latin typeface="华文中宋" panose="02010600040101010101" pitchFamily="2" charset="-122"/>
                <a:ea typeface="华文中宋" panose="02010600040101010101" pitchFamily="2" charset="-122"/>
              </a:rPr>
              <a:t>网络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250">
        <p159:morph option="byObject"/>
      </p:transition>
    </mc:Choice>
    <mc:Fallback xmlns="">
      <p:transition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组合 20"/>
          <p:cNvGrpSpPr/>
          <p:nvPr/>
        </p:nvGrpSpPr>
        <p:grpSpPr>
          <a:xfrm rot="10800000">
            <a:off x="550718" y="5306600"/>
            <a:ext cx="847652" cy="850140"/>
            <a:chOff x="4144312" y="1707297"/>
            <a:chExt cx="958000" cy="955510"/>
          </a:xfrm>
        </p:grpSpPr>
        <p:sp>
          <p:nvSpPr>
            <p:cNvPr id="22" name="矩形 21"/>
            <p:cNvSpPr/>
            <p:nvPr/>
          </p:nvSpPr>
          <p:spPr>
            <a:xfrm>
              <a:off x="4199486" y="1707297"/>
              <a:ext cx="902826" cy="902826"/>
            </a:xfrm>
            <a:prstGeom prst="rect">
              <a:avLst/>
            </a:prstGeom>
            <a:solidFill>
              <a:schemeClr val="bg2">
                <a:lumMod val="2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3" name="矩形 22"/>
            <p:cNvSpPr/>
            <p:nvPr/>
          </p:nvSpPr>
          <p:spPr>
            <a:xfrm>
              <a:off x="4144312" y="1759981"/>
              <a:ext cx="902826" cy="90282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20" name="组合 19"/>
          <p:cNvGrpSpPr/>
          <p:nvPr/>
        </p:nvGrpSpPr>
        <p:grpSpPr>
          <a:xfrm>
            <a:off x="4426527" y="1759982"/>
            <a:ext cx="847652" cy="850140"/>
            <a:chOff x="4144312" y="1707297"/>
            <a:chExt cx="958000" cy="955510"/>
          </a:xfrm>
        </p:grpSpPr>
        <p:sp>
          <p:nvSpPr>
            <p:cNvPr id="18" name="矩形 17"/>
            <p:cNvSpPr/>
            <p:nvPr/>
          </p:nvSpPr>
          <p:spPr>
            <a:xfrm>
              <a:off x="4199486" y="1707297"/>
              <a:ext cx="902826" cy="902826"/>
            </a:xfrm>
            <a:prstGeom prst="rect">
              <a:avLst/>
            </a:prstGeom>
            <a:solidFill>
              <a:schemeClr val="bg2">
                <a:lumMod val="2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9" name="矩形 18"/>
            <p:cNvSpPr/>
            <p:nvPr/>
          </p:nvSpPr>
          <p:spPr>
            <a:xfrm>
              <a:off x="4144312" y="1759981"/>
              <a:ext cx="902826" cy="90282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</p:grpSp>
      <p:sp>
        <p:nvSpPr>
          <p:cNvPr id="3" name="Text 1"/>
          <p:cNvSpPr/>
          <p:nvPr/>
        </p:nvSpPr>
        <p:spPr>
          <a:xfrm>
            <a:off x="685800" y="3406556"/>
            <a:ext cx="10789920" cy="658368"/>
          </a:xfrm>
          <a:prstGeom prst="rect">
            <a:avLst/>
          </a:prstGeom>
          <a:noFill/>
        </p:spPr>
        <p:txBody>
          <a:bodyPr wrap="square" lIns="381" tIns="381" rIns="381" bIns="381" rtlCol="0" anchor="t"/>
          <a:lstStyle/>
          <a:p>
            <a:pPr marL="0" indent="0">
              <a:buNone/>
            </a:pPr>
            <a:endParaRPr lang="en-US" sz="1550" dirty="0"/>
          </a:p>
        </p:txBody>
      </p:sp>
      <p:sp>
        <p:nvSpPr>
          <p:cNvPr id="4" name="Text 2"/>
          <p:cNvSpPr/>
          <p:nvPr/>
        </p:nvSpPr>
        <p:spPr>
          <a:xfrm>
            <a:off x="13136880" y="2175979"/>
            <a:ext cx="10789920" cy="658368"/>
          </a:xfrm>
          <a:prstGeom prst="rect">
            <a:avLst/>
          </a:prstGeom>
          <a:noFill/>
        </p:spPr>
        <p:txBody>
          <a:bodyPr wrap="square" lIns="381" tIns="381" rIns="381" bIns="381" rtlCol="0" anchor="t"/>
          <a:lstStyle/>
          <a:p>
            <a:pPr marL="0" indent="0">
              <a:buNone/>
            </a:pPr>
            <a:r>
              <a:rPr lang="en-US" sz="1550" dirty="0">
                <a:solidFill>
                  <a:srgbClr val="111111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项目目标是在 RISC-V 64 和 LoongArch 64 两种指令集上提供可启动、可构建、可复现、可运行官方测试盘中用户程序的通用内核。</a:t>
            </a:r>
            <a:endParaRPr lang="en-US" sz="1550" dirty="0"/>
          </a:p>
        </p:txBody>
      </p:sp>
      <p:sp>
        <p:nvSpPr>
          <p:cNvPr id="5" name="Text 3"/>
          <p:cNvSpPr/>
          <p:nvPr/>
        </p:nvSpPr>
        <p:spPr>
          <a:xfrm>
            <a:off x="13136880" y="2925787"/>
            <a:ext cx="10789920" cy="658368"/>
          </a:xfrm>
          <a:prstGeom prst="rect">
            <a:avLst/>
          </a:prstGeom>
          <a:noFill/>
        </p:spPr>
        <p:txBody>
          <a:bodyPr wrap="square" lIns="381" tIns="381" rIns="381" bIns="381" rtlCol="0" anchor="t"/>
          <a:lstStyle/>
          <a:p>
            <a:pPr marL="0" indent="0">
              <a:buNone/>
            </a:pPr>
            <a:r>
              <a:rPr lang="en-US" sz="1550" dirty="0">
                <a:solidFill>
                  <a:srgbClr val="111111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当前内核覆盖启动、Trap、上下文切换、任务调度、虚拟内存、EXT4/VFS、设备驱动、信号、futex、socket 与 Linux generic syscall ABI。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13136880" y="3675595"/>
            <a:ext cx="10789920" cy="658368"/>
          </a:xfrm>
          <a:prstGeom prst="rect">
            <a:avLst/>
          </a:prstGeom>
          <a:noFill/>
        </p:spPr>
        <p:txBody>
          <a:bodyPr wrap="square" lIns="381" tIns="381" rIns="381" bIns="381" rtlCol="0" anchor="t"/>
          <a:lstStyle/>
          <a:p>
            <a:pPr marL="0" indent="0">
              <a:buNone/>
            </a:pPr>
            <a:r>
              <a:rPr lang="en-US" sz="1550" dirty="0">
                <a:solidFill>
                  <a:srgbClr val="111111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我们把竞赛脚本编排放在 host 侧生成的脚本盘中，内核只提供通用对象和通用语义，避免识别测例、文件名或字符串后返回伪造结果。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13136880" y="4535131"/>
            <a:ext cx="10424160" cy="475488"/>
          </a:xfrm>
          <a:prstGeom prst="rect">
            <a:avLst/>
          </a:prstGeom>
          <a:noFill/>
        </p:spPr>
        <p:txBody>
          <a:bodyPr wrap="square" lIns="381" tIns="381" rIns="381" bIns="381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111111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核心判断标准：能否用同一套内核机制稳定跑完公开测试，能否从日志、源码和构建入口复现结果。</a:t>
            </a:r>
            <a:endParaRPr lang="en-US" sz="1550" dirty="0"/>
          </a:p>
        </p:txBody>
      </p:sp>
      <p:cxnSp>
        <p:nvCxnSpPr>
          <p:cNvPr id="8" name="直接连接符 7"/>
          <p:cNvCxnSpPr/>
          <p:nvPr/>
        </p:nvCxnSpPr>
        <p:spPr>
          <a:xfrm>
            <a:off x="519545" y="1039091"/>
            <a:ext cx="7813964" cy="0"/>
          </a:xfrm>
          <a:prstGeom prst="line">
            <a:avLst/>
          </a:prstGeom>
          <a:ln w="38100">
            <a:solidFill>
              <a:schemeClr val="bg2">
                <a:lumMod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 8"/>
          <p:cNvSpPr/>
          <p:nvPr/>
        </p:nvSpPr>
        <p:spPr>
          <a:xfrm>
            <a:off x="11641282" y="342901"/>
            <a:ext cx="259773" cy="581891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文本框 9"/>
          <p:cNvSpPr txBox="1"/>
          <p:nvPr/>
        </p:nvSpPr>
        <p:spPr>
          <a:xfrm>
            <a:off x="550718" y="155351"/>
            <a:ext cx="2441694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4400" dirty="0">
                <a:latin typeface="华文中宋" panose="02010600040101010101" pitchFamily="2" charset="-122"/>
                <a:ea typeface="华文中宋" panose="02010600040101010101" pitchFamily="2" charset="-122"/>
              </a:rPr>
              <a:t>项目介绍</a:t>
            </a:r>
          </a:p>
        </p:txBody>
      </p:sp>
      <p:sp>
        <p:nvSpPr>
          <p:cNvPr id="11" name="文本框 10"/>
          <p:cNvSpPr txBox="1"/>
          <p:nvPr/>
        </p:nvSpPr>
        <p:spPr>
          <a:xfrm>
            <a:off x="687774" y="1153391"/>
            <a:ext cx="20901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华文中宋" panose="02010600040101010101" pitchFamily="2" charset="-122"/>
                <a:ea typeface="华文中宋" panose="02010600040101010101" pitchFamily="2" charset="-122"/>
              </a:rPr>
              <a:t>Introduction </a:t>
            </a:r>
            <a:endParaRPr lang="zh-CN" altLang="en-US" dirty="0">
              <a:latin typeface="华文中宋" panose="02010600040101010101" pitchFamily="2" charset="-122"/>
              <a:ea typeface="华文中宋" panose="02010600040101010101" pitchFamily="2" charset="-122"/>
            </a:endParaRPr>
          </a:p>
        </p:txBody>
      </p:sp>
      <p:sp>
        <p:nvSpPr>
          <p:cNvPr id="13" name="矩形 12"/>
          <p:cNvSpPr/>
          <p:nvPr/>
        </p:nvSpPr>
        <p:spPr>
          <a:xfrm>
            <a:off x="5932893" y="4121189"/>
            <a:ext cx="5527587" cy="2020408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63500" sx="102000" sy="102000" algn="ctr" rotWithShape="0">
              <a:prstClr val="black">
                <a:alpha val="17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2" name="文本框 11"/>
          <p:cNvSpPr txBox="1"/>
          <p:nvPr/>
        </p:nvSpPr>
        <p:spPr>
          <a:xfrm>
            <a:off x="818282" y="2425431"/>
            <a:ext cx="4463517" cy="32694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en-US" sz="2000" dirty="0">
                <a:solidFill>
                  <a:schemeClr val="bg2">
                    <a:lumMod val="10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WHUSP </a:t>
            </a:r>
            <a:r>
              <a:rPr lang="zh-CN" altLang="en-US" sz="2000" dirty="0">
                <a:solidFill>
                  <a:schemeClr val="bg2">
                    <a:lumMod val="10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是武汉大学 最后一次入门</a:t>
            </a:r>
            <a:r>
              <a:rPr lang="en-US" altLang="zh-CN" sz="2000" dirty="0">
                <a:solidFill>
                  <a:schemeClr val="bg2">
                    <a:lumMod val="10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RUST </a:t>
            </a:r>
            <a:r>
              <a:rPr lang="zh-CN" altLang="en-US" sz="2000" dirty="0">
                <a:solidFill>
                  <a:schemeClr val="bg2">
                    <a:lumMod val="10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队开发的 </a:t>
            </a:r>
            <a:r>
              <a:rPr lang="en-US" altLang="en-US" sz="2000" dirty="0">
                <a:solidFill>
                  <a:schemeClr val="bg2">
                    <a:lumMod val="50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Rust </a:t>
            </a:r>
            <a:r>
              <a:rPr lang="zh-CN" altLang="en-US" sz="2000" dirty="0">
                <a:solidFill>
                  <a:schemeClr val="bg2">
                    <a:lumMod val="50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宏内核</a:t>
            </a:r>
            <a:r>
              <a:rPr lang="zh-CN" altLang="en-US" sz="2000" dirty="0">
                <a:solidFill>
                  <a:schemeClr val="bg2">
                    <a:lumMod val="10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，支持 </a:t>
            </a:r>
            <a:r>
              <a:rPr lang="en-US" altLang="en-US" sz="2000" dirty="0">
                <a:solidFill>
                  <a:schemeClr val="bg2">
                    <a:lumMod val="10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RISC-V 64 </a:t>
            </a:r>
            <a:r>
              <a:rPr lang="zh-CN" altLang="en-US" sz="2000" dirty="0">
                <a:solidFill>
                  <a:schemeClr val="bg2">
                    <a:lumMod val="10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与 </a:t>
            </a:r>
            <a:r>
              <a:rPr lang="en-US" altLang="en-US" sz="2000" dirty="0">
                <a:solidFill>
                  <a:schemeClr val="bg2">
                    <a:lumMod val="10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LoongArch 64 </a:t>
            </a:r>
            <a:r>
              <a:rPr lang="zh-CN" altLang="en-US" sz="2000" dirty="0">
                <a:solidFill>
                  <a:schemeClr val="bg2">
                    <a:lumMod val="50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双架构</a:t>
            </a:r>
            <a:r>
              <a:rPr lang="zh-CN" altLang="en-US" sz="2000" dirty="0">
                <a:solidFill>
                  <a:schemeClr val="bg2">
                    <a:lumMod val="10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，能够运行基于 </a:t>
            </a:r>
            <a:r>
              <a:rPr lang="en-US" altLang="en-US" sz="2000" dirty="0">
                <a:solidFill>
                  <a:schemeClr val="bg2">
                    <a:lumMod val="10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Linux ABI </a:t>
            </a:r>
            <a:r>
              <a:rPr lang="zh-CN" altLang="en-US" sz="2000" dirty="0">
                <a:solidFill>
                  <a:schemeClr val="bg2">
                    <a:lumMod val="10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的真实用户程序，并具备进程调度、虚拟内存、文件系统、网络与信号处理等核心能力。</a:t>
            </a:r>
          </a:p>
        </p:txBody>
      </p:sp>
      <p:sp>
        <p:nvSpPr>
          <p:cNvPr id="15" name="文本框 14"/>
          <p:cNvSpPr txBox="1"/>
          <p:nvPr/>
        </p:nvSpPr>
        <p:spPr>
          <a:xfrm>
            <a:off x="6080760" y="4333963"/>
            <a:ext cx="203132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400" dirty="0">
                <a:solidFill>
                  <a:schemeClr val="bg2">
                    <a:lumMod val="25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涵盖内容包括</a:t>
            </a:r>
          </a:p>
        </p:txBody>
      </p:sp>
      <p:sp>
        <p:nvSpPr>
          <p:cNvPr id="16" name="文本框 15"/>
          <p:cNvSpPr txBox="1"/>
          <p:nvPr/>
        </p:nvSpPr>
        <p:spPr>
          <a:xfrm>
            <a:off x="8202090" y="5118599"/>
            <a:ext cx="114589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dirty="0" err="1">
                <a:solidFill>
                  <a:srgbClr val="111111"/>
                </a:solidFill>
                <a:latin typeface="华文中宋" panose="02010600040101010101" pitchFamily="2" charset="-122"/>
                <a:ea typeface="华文中宋" panose="02010600040101010101" pitchFamily="2" charset="-122"/>
                <a:cs typeface="等线" pitchFamily="34" charset="-120"/>
              </a:rPr>
              <a:t>启动</a:t>
            </a:r>
            <a:endParaRPr lang="zh-CN" altLang="en-US" sz="3200" dirty="0">
              <a:latin typeface="华文中宋" panose="02010600040101010101" pitchFamily="2" charset="-122"/>
              <a:ea typeface="华文中宋" panose="02010600040101010101" pitchFamily="2" charset="-122"/>
            </a:endParaRPr>
          </a:p>
        </p:txBody>
      </p:sp>
      <p:sp>
        <p:nvSpPr>
          <p:cNvPr id="17" name="矩形 16"/>
          <p:cNvSpPr/>
          <p:nvPr/>
        </p:nvSpPr>
        <p:spPr>
          <a:xfrm>
            <a:off x="5932892" y="1707297"/>
            <a:ext cx="5527587" cy="2020408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63500" sx="102000" sy="102000" algn="ctr" rotWithShape="0">
              <a:prstClr val="black">
                <a:alpha val="18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0" name="文本框 29"/>
          <p:cNvSpPr txBox="1"/>
          <p:nvPr/>
        </p:nvSpPr>
        <p:spPr>
          <a:xfrm>
            <a:off x="6313360" y="2155631"/>
            <a:ext cx="4766649" cy="10993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5000"/>
              </a:lnSpc>
            </a:pPr>
            <a:r>
              <a:rPr lang="en-US" altLang="zh-CN" dirty="0" err="1">
                <a:solidFill>
                  <a:schemeClr val="bg2">
                    <a:lumMod val="50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  <a:cs typeface="等线" pitchFamily="34" charset="-120"/>
              </a:rPr>
              <a:t>项目目标</a:t>
            </a:r>
            <a:r>
              <a:rPr lang="en-US" altLang="zh-CN" dirty="0" err="1">
                <a:solidFill>
                  <a:srgbClr val="111111"/>
                </a:solidFill>
                <a:latin typeface="华文中宋" panose="02010600040101010101" pitchFamily="2" charset="-122"/>
                <a:ea typeface="华文中宋" panose="02010600040101010101" pitchFamily="2" charset="-122"/>
                <a:cs typeface="等线" pitchFamily="34" charset="-120"/>
              </a:rPr>
              <a:t>是在</a:t>
            </a:r>
            <a:r>
              <a:rPr lang="en-US" altLang="zh-CN" dirty="0">
                <a:solidFill>
                  <a:srgbClr val="111111"/>
                </a:solidFill>
                <a:latin typeface="华文中宋" panose="02010600040101010101" pitchFamily="2" charset="-122"/>
                <a:ea typeface="华文中宋" panose="02010600040101010101" pitchFamily="2" charset="-122"/>
                <a:cs typeface="等线" pitchFamily="34" charset="-120"/>
              </a:rPr>
              <a:t> </a:t>
            </a:r>
            <a:r>
              <a:rPr lang="en-US" altLang="zh-CN" dirty="0">
                <a:solidFill>
                  <a:schemeClr val="bg2">
                    <a:lumMod val="50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  <a:cs typeface="等线" pitchFamily="34" charset="-120"/>
              </a:rPr>
              <a:t>RISC-V 64 </a:t>
            </a:r>
            <a:r>
              <a:rPr lang="en-US" altLang="zh-CN" dirty="0">
                <a:solidFill>
                  <a:srgbClr val="111111"/>
                </a:solidFill>
                <a:latin typeface="华文中宋" panose="02010600040101010101" pitchFamily="2" charset="-122"/>
                <a:ea typeface="华文中宋" panose="02010600040101010101" pitchFamily="2" charset="-122"/>
                <a:cs typeface="等线" pitchFamily="34" charset="-120"/>
              </a:rPr>
              <a:t>和 </a:t>
            </a:r>
            <a:r>
              <a:rPr lang="en-US" altLang="zh-CN" dirty="0" err="1">
                <a:solidFill>
                  <a:schemeClr val="bg2">
                    <a:lumMod val="50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  <a:cs typeface="等线" pitchFamily="34" charset="-120"/>
              </a:rPr>
              <a:t>LoongArch</a:t>
            </a:r>
            <a:r>
              <a:rPr lang="en-US" altLang="zh-CN" dirty="0">
                <a:solidFill>
                  <a:schemeClr val="bg2">
                    <a:lumMod val="50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  <a:cs typeface="等线" pitchFamily="34" charset="-120"/>
              </a:rPr>
              <a:t> 64 </a:t>
            </a:r>
            <a:r>
              <a:rPr lang="en-US" altLang="zh-CN" dirty="0" err="1">
                <a:solidFill>
                  <a:srgbClr val="111111"/>
                </a:solidFill>
                <a:latin typeface="华文中宋" panose="02010600040101010101" pitchFamily="2" charset="-122"/>
                <a:ea typeface="华文中宋" panose="02010600040101010101" pitchFamily="2" charset="-122"/>
                <a:cs typeface="等线" pitchFamily="34" charset="-120"/>
              </a:rPr>
              <a:t>两种指令集上提供可启动、可构建、可复现、可运行官方测试盘中用户程序的</a:t>
            </a:r>
            <a:r>
              <a:rPr lang="en-US" altLang="zh-CN" dirty="0" err="1">
                <a:solidFill>
                  <a:schemeClr val="bg2">
                    <a:lumMod val="50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  <a:cs typeface="等线" pitchFamily="34" charset="-120"/>
              </a:rPr>
              <a:t>通用内核</a:t>
            </a:r>
            <a:endParaRPr lang="zh-CN" altLang="en-US" dirty="0">
              <a:solidFill>
                <a:schemeClr val="bg2">
                  <a:lumMod val="50000"/>
                </a:schemeClr>
              </a:solidFill>
              <a:latin typeface="华文中宋" panose="02010600040101010101" pitchFamily="2" charset="-122"/>
              <a:ea typeface="华文中宋" panose="02010600040101010101" pitchFamily="2" charset="-122"/>
            </a:endParaRPr>
          </a:p>
        </p:txBody>
      </p:sp>
      <p:sp>
        <p:nvSpPr>
          <p:cNvPr id="31" name="文本框 30"/>
          <p:cNvSpPr txBox="1"/>
          <p:nvPr/>
        </p:nvSpPr>
        <p:spPr>
          <a:xfrm>
            <a:off x="10079311" y="5150703"/>
            <a:ext cx="87876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dirty="0">
                <a:solidFill>
                  <a:schemeClr val="bg2">
                    <a:lumMod val="75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  <a:cs typeface="Times New Roman" panose="02020603050405020304" pitchFamily="18" charset="0"/>
              </a:rPr>
              <a:t>Trap</a:t>
            </a:r>
            <a:endParaRPr lang="zh-CN" altLang="en-US" sz="2400" dirty="0">
              <a:solidFill>
                <a:schemeClr val="bg2">
                  <a:lumMod val="75000"/>
                </a:schemeClr>
              </a:solidFill>
              <a:latin typeface="华文中宋" panose="02010600040101010101" pitchFamily="2" charset="-122"/>
              <a:ea typeface="华文中宋" panose="02010600040101010101" pitchFamily="2" charset="-122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250">
        <p159:morph option="byObject"/>
      </p:transition>
    </mc:Choice>
    <mc:Fallback xmlns="">
      <p:transition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组合 19"/>
          <p:cNvGrpSpPr/>
          <p:nvPr/>
        </p:nvGrpSpPr>
        <p:grpSpPr>
          <a:xfrm>
            <a:off x="4426527" y="1759982"/>
            <a:ext cx="847652" cy="850140"/>
            <a:chOff x="4144312" y="1707297"/>
            <a:chExt cx="958000" cy="955510"/>
          </a:xfrm>
        </p:grpSpPr>
        <p:sp>
          <p:nvSpPr>
            <p:cNvPr id="18" name="矩形 17"/>
            <p:cNvSpPr/>
            <p:nvPr/>
          </p:nvSpPr>
          <p:spPr>
            <a:xfrm>
              <a:off x="4199486" y="1707297"/>
              <a:ext cx="902826" cy="902826"/>
            </a:xfrm>
            <a:prstGeom prst="rect">
              <a:avLst/>
            </a:prstGeom>
            <a:solidFill>
              <a:schemeClr val="bg2">
                <a:lumMod val="2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9" name="矩形 18"/>
            <p:cNvSpPr/>
            <p:nvPr/>
          </p:nvSpPr>
          <p:spPr>
            <a:xfrm>
              <a:off x="4144312" y="1759981"/>
              <a:ext cx="902826" cy="90282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</p:grpSp>
      <p:sp>
        <p:nvSpPr>
          <p:cNvPr id="3" name="Text 1"/>
          <p:cNvSpPr/>
          <p:nvPr/>
        </p:nvSpPr>
        <p:spPr>
          <a:xfrm>
            <a:off x="685800" y="3406556"/>
            <a:ext cx="10789920" cy="658368"/>
          </a:xfrm>
          <a:prstGeom prst="rect">
            <a:avLst/>
          </a:prstGeom>
          <a:noFill/>
        </p:spPr>
        <p:txBody>
          <a:bodyPr wrap="square" lIns="381" tIns="381" rIns="381" bIns="381" rtlCol="0" anchor="t"/>
          <a:lstStyle/>
          <a:p>
            <a:pPr marL="0" indent="0">
              <a:buNone/>
            </a:pPr>
            <a:endParaRPr lang="en-US" sz="1550" dirty="0"/>
          </a:p>
        </p:txBody>
      </p:sp>
      <p:sp>
        <p:nvSpPr>
          <p:cNvPr id="4" name="Text 2"/>
          <p:cNvSpPr/>
          <p:nvPr/>
        </p:nvSpPr>
        <p:spPr>
          <a:xfrm>
            <a:off x="13136880" y="2175979"/>
            <a:ext cx="10789920" cy="658368"/>
          </a:xfrm>
          <a:prstGeom prst="rect">
            <a:avLst/>
          </a:prstGeom>
          <a:noFill/>
        </p:spPr>
        <p:txBody>
          <a:bodyPr wrap="square" lIns="381" tIns="381" rIns="381" bIns="381" rtlCol="0" anchor="t"/>
          <a:lstStyle/>
          <a:p>
            <a:pPr marL="0" indent="0">
              <a:buNone/>
            </a:pPr>
            <a:r>
              <a:rPr lang="en-US" sz="1550" dirty="0">
                <a:solidFill>
                  <a:srgbClr val="111111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项目目标是在 RISC-V 64 和 LoongArch 64 两种指令集上提供可启动、可构建、可复现、可运行官方测试盘中用户程序的通用内核。</a:t>
            </a:r>
            <a:endParaRPr lang="en-US" sz="1550" dirty="0"/>
          </a:p>
        </p:txBody>
      </p:sp>
      <p:sp>
        <p:nvSpPr>
          <p:cNvPr id="5" name="Text 3"/>
          <p:cNvSpPr/>
          <p:nvPr/>
        </p:nvSpPr>
        <p:spPr>
          <a:xfrm>
            <a:off x="13136880" y="2925787"/>
            <a:ext cx="10789920" cy="658368"/>
          </a:xfrm>
          <a:prstGeom prst="rect">
            <a:avLst/>
          </a:prstGeom>
          <a:noFill/>
        </p:spPr>
        <p:txBody>
          <a:bodyPr wrap="square" lIns="381" tIns="381" rIns="381" bIns="381" rtlCol="0" anchor="t"/>
          <a:lstStyle/>
          <a:p>
            <a:pPr marL="0" indent="0">
              <a:buNone/>
            </a:pPr>
            <a:r>
              <a:rPr lang="en-US" sz="1550" dirty="0">
                <a:solidFill>
                  <a:srgbClr val="111111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当前内核覆盖启动、Trap、上下文切换、任务调度、虚拟内存、EXT4/VFS、设备驱动、信号、futex、socket 与 Linux generic syscall ABI。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13136880" y="3675595"/>
            <a:ext cx="10789920" cy="658368"/>
          </a:xfrm>
          <a:prstGeom prst="rect">
            <a:avLst/>
          </a:prstGeom>
          <a:noFill/>
        </p:spPr>
        <p:txBody>
          <a:bodyPr wrap="square" lIns="381" tIns="381" rIns="381" bIns="381" rtlCol="0" anchor="t"/>
          <a:lstStyle/>
          <a:p>
            <a:pPr marL="0" indent="0">
              <a:buNone/>
            </a:pPr>
            <a:r>
              <a:rPr lang="en-US" sz="1550" dirty="0">
                <a:solidFill>
                  <a:srgbClr val="111111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我们把竞赛脚本编排放在 host 侧生成的脚本盘中，内核只提供通用对象和通用语义，避免识别测例、文件名或字符串后返回伪造结果。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13136880" y="4535131"/>
            <a:ext cx="10424160" cy="475488"/>
          </a:xfrm>
          <a:prstGeom prst="rect">
            <a:avLst/>
          </a:prstGeom>
          <a:noFill/>
        </p:spPr>
        <p:txBody>
          <a:bodyPr wrap="square" lIns="381" tIns="381" rIns="381" bIns="381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111111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核心判断标准：能否用同一套内核机制稳定跑完公开测试，能否从日志、源码和构建入口复现结果。</a:t>
            </a:r>
            <a:endParaRPr lang="en-US" sz="1550" dirty="0"/>
          </a:p>
        </p:txBody>
      </p:sp>
      <p:cxnSp>
        <p:nvCxnSpPr>
          <p:cNvPr id="8" name="直接连接符 7"/>
          <p:cNvCxnSpPr/>
          <p:nvPr/>
        </p:nvCxnSpPr>
        <p:spPr>
          <a:xfrm>
            <a:off x="519545" y="1039091"/>
            <a:ext cx="7813964" cy="0"/>
          </a:xfrm>
          <a:prstGeom prst="line">
            <a:avLst/>
          </a:prstGeom>
          <a:ln w="38100">
            <a:solidFill>
              <a:schemeClr val="bg2">
                <a:lumMod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 8"/>
          <p:cNvSpPr/>
          <p:nvPr/>
        </p:nvSpPr>
        <p:spPr>
          <a:xfrm>
            <a:off x="11641282" y="342901"/>
            <a:ext cx="259773" cy="581891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文本框 9"/>
          <p:cNvSpPr txBox="1"/>
          <p:nvPr/>
        </p:nvSpPr>
        <p:spPr>
          <a:xfrm>
            <a:off x="550718" y="155351"/>
            <a:ext cx="2441694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4400" dirty="0">
                <a:latin typeface="华文中宋" panose="02010600040101010101" pitchFamily="2" charset="-122"/>
                <a:ea typeface="华文中宋" panose="02010600040101010101" pitchFamily="2" charset="-122"/>
              </a:rPr>
              <a:t>项目介绍</a:t>
            </a:r>
          </a:p>
        </p:txBody>
      </p:sp>
      <p:sp>
        <p:nvSpPr>
          <p:cNvPr id="11" name="文本框 10"/>
          <p:cNvSpPr txBox="1"/>
          <p:nvPr/>
        </p:nvSpPr>
        <p:spPr>
          <a:xfrm>
            <a:off x="687774" y="1153391"/>
            <a:ext cx="20901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华文中宋" panose="02010600040101010101" pitchFamily="2" charset="-122"/>
                <a:ea typeface="华文中宋" panose="02010600040101010101" pitchFamily="2" charset="-122"/>
              </a:rPr>
              <a:t>Introduction </a:t>
            </a:r>
            <a:endParaRPr lang="zh-CN" altLang="en-US" dirty="0">
              <a:latin typeface="华文中宋" panose="02010600040101010101" pitchFamily="2" charset="-122"/>
              <a:ea typeface="华文中宋" panose="02010600040101010101" pitchFamily="2" charset="-122"/>
            </a:endParaRPr>
          </a:p>
        </p:txBody>
      </p:sp>
      <p:sp>
        <p:nvSpPr>
          <p:cNvPr id="13" name="矩形 12"/>
          <p:cNvSpPr/>
          <p:nvPr/>
        </p:nvSpPr>
        <p:spPr>
          <a:xfrm>
            <a:off x="5932893" y="4121189"/>
            <a:ext cx="5527587" cy="2020408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63500" sx="102000" sy="102000" algn="ctr" rotWithShape="0">
              <a:prstClr val="black">
                <a:alpha val="18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5" name="文本框 14"/>
          <p:cNvSpPr txBox="1"/>
          <p:nvPr/>
        </p:nvSpPr>
        <p:spPr>
          <a:xfrm>
            <a:off x="6080760" y="4333963"/>
            <a:ext cx="203132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400" dirty="0">
                <a:solidFill>
                  <a:schemeClr val="bg2">
                    <a:lumMod val="25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涵盖内容包括</a:t>
            </a:r>
          </a:p>
        </p:txBody>
      </p:sp>
      <p:sp>
        <p:nvSpPr>
          <p:cNvPr id="17" name="矩形 16"/>
          <p:cNvSpPr/>
          <p:nvPr/>
        </p:nvSpPr>
        <p:spPr>
          <a:xfrm>
            <a:off x="5932892" y="1707297"/>
            <a:ext cx="5527587" cy="2020408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63500" sx="102000" sy="102000" algn="ctr" rotWithShape="0">
              <a:prstClr val="black">
                <a:alpha val="18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pSp>
        <p:nvGrpSpPr>
          <p:cNvPr id="21" name="组合 20"/>
          <p:cNvGrpSpPr/>
          <p:nvPr/>
        </p:nvGrpSpPr>
        <p:grpSpPr>
          <a:xfrm rot="10800000">
            <a:off x="550718" y="5306600"/>
            <a:ext cx="847652" cy="850140"/>
            <a:chOff x="4144312" y="1707297"/>
            <a:chExt cx="958000" cy="955510"/>
          </a:xfrm>
        </p:grpSpPr>
        <p:sp>
          <p:nvSpPr>
            <p:cNvPr id="22" name="矩形 21"/>
            <p:cNvSpPr/>
            <p:nvPr/>
          </p:nvSpPr>
          <p:spPr>
            <a:xfrm>
              <a:off x="4199486" y="1707297"/>
              <a:ext cx="902826" cy="902826"/>
            </a:xfrm>
            <a:prstGeom prst="rect">
              <a:avLst/>
            </a:prstGeom>
            <a:solidFill>
              <a:schemeClr val="bg2">
                <a:lumMod val="2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3" name="矩形 22"/>
            <p:cNvSpPr/>
            <p:nvPr/>
          </p:nvSpPr>
          <p:spPr>
            <a:xfrm>
              <a:off x="4144312" y="1759981"/>
              <a:ext cx="902826" cy="90282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30" name="文本框 29"/>
          <p:cNvSpPr txBox="1"/>
          <p:nvPr/>
        </p:nvSpPr>
        <p:spPr>
          <a:xfrm>
            <a:off x="6313360" y="2155631"/>
            <a:ext cx="4766649" cy="10993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5000"/>
              </a:lnSpc>
            </a:pPr>
            <a:r>
              <a:rPr lang="en-US" altLang="zh-CN" dirty="0" err="1">
                <a:solidFill>
                  <a:schemeClr val="bg2">
                    <a:lumMod val="50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  <a:cs typeface="等线" pitchFamily="34" charset="-120"/>
              </a:rPr>
              <a:t>项目目标</a:t>
            </a:r>
            <a:r>
              <a:rPr lang="en-US" altLang="zh-CN" dirty="0" err="1">
                <a:solidFill>
                  <a:srgbClr val="111111"/>
                </a:solidFill>
                <a:latin typeface="华文中宋" panose="02010600040101010101" pitchFamily="2" charset="-122"/>
                <a:ea typeface="华文中宋" panose="02010600040101010101" pitchFamily="2" charset="-122"/>
                <a:cs typeface="等线" pitchFamily="34" charset="-120"/>
              </a:rPr>
              <a:t>是在</a:t>
            </a:r>
            <a:r>
              <a:rPr lang="en-US" altLang="zh-CN" dirty="0">
                <a:solidFill>
                  <a:srgbClr val="111111"/>
                </a:solidFill>
                <a:latin typeface="华文中宋" panose="02010600040101010101" pitchFamily="2" charset="-122"/>
                <a:ea typeface="华文中宋" panose="02010600040101010101" pitchFamily="2" charset="-122"/>
                <a:cs typeface="等线" pitchFamily="34" charset="-120"/>
              </a:rPr>
              <a:t> </a:t>
            </a:r>
            <a:r>
              <a:rPr lang="en-US" altLang="zh-CN" dirty="0">
                <a:solidFill>
                  <a:schemeClr val="bg2">
                    <a:lumMod val="50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  <a:cs typeface="等线" pitchFamily="34" charset="-120"/>
              </a:rPr>
              <a:t>RISC-V 64 </a:t>
            </a:r>
            <a:r>
              <a:rPr lang="en-US" altLang="zh-CN" dirty="0">
                <a:solidFill>
                  <a:srgbClr val="111111"/>
                </a:solidFill>
                <a:latin typeface="华文中宋" panose="02010600040101010101" pitchFamily="2" charset="-122"/>
                <a:ea typeface="华文中宋" panose="02010600040101010101" pitchFamily="2" charset="-122"/>
                <a:cs typeface="等线" pitchFamily="34" charset="-120"/>
              </a:rPr>
              <a:t>和 </a:t>
            </a:r>
            <a:r>
              <a:rPr lang="en-US" altLang="zh-CN" dirty="0" err="1">
                <a:solidFill>
                  <a:schemeClr val="bg2">
                    <a:lumMod val="50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  <a:cs typeface="等线" pitchFamily="34" charset="-120"/>
              </a:rPr>
              <a:t>LoongArch</a:t>
            </a:r>
            <a:r>
              <a:rPr lang="en-US" altLang="zh-CN" dirty="0">
                <a:solidFill>
                  <a:schemeClr val="bg2">
                    <a:lumMod val="50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  <a:cs typeface="等线" pitchFamily="34" charset="-120"/>
              </a:rPr>
              <a:t> 64 </a:t>
            </a:r>
            <a:r>
              <a:rPr lang="en-US" altLang="zh-CN" dirty="0" err="1">
                <a:solidFill>
                  <a:srgbClr val="111111"/>
                </a:solidFill>
                <a:latin typeface="华文中宋" panose="02010600040101010101" pitchFamily="2" charset="-122"/>
                <a:ea typeface="华文中宋" panose="02010600040101010101" pitchFamily="2" charset="-122"/>
                <a:cs typeface="等线" pitchFamily="34" charset="-120"/>
              </a:rPr>
              <a:t>两种指令集上提供可启动、可构建、可复现、可运行官方测试盘中用户程序的</a:t>
            </a:r>
            <a:r>
              <a:rPr lang="en-US" altLang="zh-CN" dirty="0" err="1">
                <a:solidFill>
                  <a:schemeClr val="bg2">
                    <a:lumMod val="50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  <a:cs typeface="等线" pitchFamily="34" charset="-120"/>
              </a:rPr>
              <a:t>通用内核</a:t>
            </a:r>
            <a:endParaRPr lang="zh-CN" altLang="en-US" dirty="0">
              <a:solidFill>
                <a:schemeClr val="bg2">
                  <a:lumMod val="50000"/>
                </a:schemeClr>
              </a:solidFill>
              <a:latin typeface="华文中宋" panose="02010600040101010101" pitchFamily="2" charset="-122"/>
              <a:ea typeface="华文中宋" panose="02010600040101010101" pitchFamily="2" charset="-122"/>
            </a:endParaRPr>
          </a:p>
        </p:txBody>
      </p:sp>
      <p:sp>
        <p:nvSpPr>
          <p:cNvPr id="25" name="文本框 24"/>
          <p:cNvSpPr txBox="1"/>
          <p:nvPr/>
        </p:nvSpPr>
        <p:spPr>
          <a:xfrm>
            <a:off x="8202090" y="5118599"/>
            <a:ext cx="114589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dirty="0">
                <a:solidFill>
                  <a:srgbClr val="111111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Trap</a:t>
            </a:r>
            <a:endParaRPr lang="zh-CN" altLang="en-US" sz="3200" dirty="0">
              <a:latin typeface="华文中宋" panose="02010600040101010101" pitchFamily="2" charset="-122"/>
              <a:ea typeface="华文中宋" panose="02010600040101010101" pitchFamily="2" charset="-122"/>
            </a:endParaRPr>
          </a:p>
        </p:txBody>
      </p:sp>
      <p:sp>
        <p:nvSpPr>
          <p:cNvPr id="26" name="文本框 25"/>
          <p:cNvSpPr txBox="1"/>
          <p:nvPr/>
        </p:nvSpPr>
        <p:spPr>
          <a:xfrm>
            <a:off x="9746802" y="5150703"/>
            <a:ext cx="172354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400" dirty="0">
                <a:solidFill>
                  <a:schemeClr val="bg2">
                    <a:lumMod val="75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  <a:cs typeface="Times New Roman" panose="02020603050405020304" pitchFamily="18" charset="0"/>
              </a:rPr>
              <a:t>上下文切换</a:t>
            </a:r>
          </a:p>
        </p:txBody>
      </p:sp>
      <p:sp>
        <p:nvSpPr>
          <p:cNvPr id="27" name="文本框 26"/>
          <p:cNvSpPr txBox="1"/>
          <p:nvPr/>
        </p:nvSpPr>
        <p:spPr>
          <a:xfrm>
            <a:off x="6563669" y="5175389"/>
            <a:ext cx="80021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400" dirty="0">
                <a:solidFill>
                  <a:schemeClr val="bg2">
                    <a:lumMod val="75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启动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6E4EFB6D-C19B-17D7-EEED-E9AAE642C916}"/>
              </a:ext>
            </a:extLst>
          </p:cNvPr>
          <p:cNvSpPr txBox="1"/>
          <p:nvPr/>
        </p:nvSpPr>
        <p:spPr>
          <a:xfrm>
            <a:off x="818282" y="2425431"/>
            <a:ext cx="4463517" cy="32694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en-US" sz="2000" dirty="0">
                <a:solidFill>
                  <a:schemeClr val="bg2">
                    <a:lumMod val="10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WHUSP </a:t>
            </a:r>
            <a:r>
              <a:rPr lang="zh-CN" altLang="en-US" sz="2000" dirty="0">
                <a:solidFill>
                  <a:schemeClr val="bg2">
                    <a:lumMod val="10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是武汉大学 最后一次入门</a:t>
            </a:r>
            <a:r>
              <a:rPr lang="en-US" altLang="zh-CN" sz="2000" dirty="0">
                <a:solidFill>
                  <a:schemeClr val="bg2">
                    <a:lumMod val="10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RUST </a:t>
            </a:r>
            <a:r>
              <a:rPr lang="zh-CN" altLang="en-US" sz="2000" dirty="0">
                <a:solidFill>
                  <a:schemeClr val="bg2">
                    <a:lumMod val="10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队开发的 </a:t>
            </a:r>
            <a:r>
              <a:rPr lang="en-US" altLang="en-US" sz="2000" dirty="0">
                <a:solidFill>
                  <a:schemeClr val="bg2">
                    <a:lumMod val="50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Rust </a:t>
            </a:r>
            <a:r>
              <a:rPr lang="zh-CN" altLang="en-US" sz="2000" dirty="0">
                <a:solidFill>
                  <a:schemeClr val="bg2">
                    <a:lumMod val="50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宏内核</a:t>
            </a:r>
            <a:r>
              <a:rPr lang="zh-CN" altLang="en-US" sz="2000" dirty="0">
                <a:solidFill>
                  <a:schemeClr val="bg2">
                    <a:lumMod val="10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，支持 </a:t>
            </a:r>
            <a:r>
              <a:rPr lang="en-US" altLang="en-US" sz="2000" dirty="0">
                <a:solidFill>
                  <a:schemeClr val="bg2">
                    <a:lumMod val="10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RISC-V 64 </a:t>
            </a:r>
            <a:r>
              <a:rPr lang="zh-CN" altLang="en-US" sz="2000" dirty="0">
                <a:solidFill>
                  <a:schemeClr val="bg2">
                    <a:lumMod val="10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与 </a:t>
            </a:r>
            <a:r>
              <a:rPr lang="en-US" altLang="en-US" sz="2000" dirty="0">
                <a:solidFill>
                  <a:schemeClr val="bg2">
                    <a:lumMod val="10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LoongArch 64 </a:t>
            </a:r>
            <a:r>
              <a:rPr lang="zh-CN" altLang="en-US" sz="2000" dirty="0">
                <a:solidFill>
                  <a:schemeClr val="bg2">
                    <a:lumMod val="50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双架构</a:t>
            </a:r>
            <a:r>
              <a:rPr lang="zh-CN" altLang="en-US" sz="2000" dirty="0">
                <a:solidFill>
                  <a:schemeClr val="bg2">
                    <a:lumMod val="10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，能够运行基于 </a:t>
            </a:r>
            <a:r>
              <a:rPr lang="en-US" altLang="en-US" sz="2000" dirty="0">
                <a:solidFill>
                  <a:schemeClr val="bg2">
                    <a:lumMod val="10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Linux ABI </a:t>
            </a:r>
            <a:r>
              <a:rPr lang="zh-CN" altLang="en-US" sz="2000" dirty="0">
                <a:solidFill>
                  <a:schemeClr val="bg2">
                    <a:lumMod val="10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的真实用户程序，并具备进程调度、虚拟内存、文件系统、网络与信号处理等核心能力。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250">
        <p159:morph option="byObject"/>
      </p:transition>
    </mc:Choice>
    <mc:Fallback xmlns="">
      <p:transition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组合 19"/>
          <p:cNvGrpSpPr/>
          <p:nvPr/>
        </p:nvGrpSpPr>
        <p:grpSpPr>
          <a:xfrm>
            <a:off x="4426527" y="1759982"/>
            <a:ext cx="847652" cy="850140"/>
            <a:chOff x="4144312" y="1707297"/>
            <a:chExt cx="958000" cy="955510"/>
          </a:xfrm>
        </p:grpSpPr>
        <p:sp>
          <p:nvSpPr>
            <p:cNvPr id="18" name="矩形 17"/>
            <p:cNvSpPr/>
            <p:nvPr/>
          </p:nvSpPr>
          <p:spPr>
            <a:xfrm>
              <a:off x="4199486" y="1707297"/>
              <a:ext cx="902826" cy="902826"/>
            </a:xfrm>
            <a:prstGeom prst="rect">
              <a:avLst/>
            </a:prstGeom>
            <a:solidFill>
              <a:schemeClr val="bg2">
                <a:lumMod val="2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9" name="矩形 18"/>
            <p:cNvSpPr/>
            <p:nvPr/>
          </p:nvSpPr>
          <p:spPr>
            <a:xfrm>
              <a:off x="4144312" y="1759981"/>
              <a:ext cx="902826" cy="90282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</p:grpSp>
      <p:sp>
        <p:nvSpPr>
          <p:cNvPr id="3" name="Text 1"/>
          <p:cNvSpPr/>
          <p:nvPr/>
        </p:nvSpPr>
        <p:spPr>
          <a:xfrm>
            <a:off x="685800" y="3406556"/>
            <a:ext cx="10789920" cy="658368"/>
          </a:xfrm>
          <a:prstGeom prst="rect">
            <a:avLst/>
          </a:prstGeom>
          <a:noFill/>
        </p:spPr>
        <p:txBody>
          <a:bodyPr wrap="square" lIns="381" tIns="381" rIns="381" bIns="381" rtlCol="0" anchor="t"/>
          <a:lstStyle/>
          <a:p>
            <a:pPr marL="0" indent="0">
              <a:buNone/>
            </a:pPr>
            <a:endParaRPr lang="en-US" sz="1550" dirty="0"/>
          </a:p>
        </p:txBody>
      </p:sp>
      <p:sp>
        <p:nvSpPr>
          <p:cNvPr id="4" name="Text 2"/>
          <p:cNvSpPr/>
          <p:nvPr/>
        </p:nvSpPr>
        <p:spPr>
          <a:xfrm>
            <a:off x="13136880" y="2175979"/>
            <a:ext cx="10789920" cy="658368"/>
          </a:xfrm>
          <a:prstGeom prst="rect">
            <a:avLst/>
          </a:prstGeom>
          <a:noFill/>
        </p:spPr>
        <p:txBody>
          <a:bodyPr wrap="square" lIns="381" tIns="381" rIns="381" bIns="381" rtlCol="0" anchor="t"/>
          <a:lstStyle/>
          <a:p>
            <a:pPr marL="0" indent="0">
              <a:buNone/>
            </a:pPr>
            <a:r>
              <a:rPr lang="en-US" sz="1550" dirty="0">
                <a:solidFill>
                  <a:srgbClr val="111111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项目目标是在 RISC-V 64 和 LoongArch 64 两种指令集上提供可启动、可构建、可复现、可运行官方测试盘中用户程序的通用内核。</a:t>
            </a:r>
            <a:endParaRPr lang="en-US" sz="1550" dirty="0"/>
          </a:p>
        </p:txBody>
      </p:sp>
      <p:sp>
        <p:nvSpPr>
          <p:cNvPr id="5" name="Text 3"/>
          <p:cNvSpPr/>
          <p:nvPr/>
        </p:nvSpPr>
        <p:spPr>
          <a:xfrm>
            <a:off x="13136880" y="2925787"/>
            <a:ext cx="10789920" cy="658368"/>
          </a:xfrm>
          <a:prstGeom prst="rect">
            <a:avLst/>
          </a:prstGeom>
          <a:noFill/>
        </p:spPr>
        <p:txBody>
          <a:bodyPr wrap="square" lIns="381" tIns="381" rIns="381" bIns="381" rtlCol="0" anchor="t"/>
          <a:lstStyle/>
          <a:p>
            <a:pPr marL="0" indent="0">
              <a:buNone/>
            </a:pPr>
            <a:r>
              <a:rPr lang="en-US" sz="1550" dirty="0">
                <a:solidFill>
                  <a:srgbClr val="111111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当前内核覆盖启动、Trap、上下文切换、任务调度、虚拟内存、EXT4/VFS、设备驱动、信号、futex、socket 与 Linux generic syscall ABI。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13136880" y="3675595"/>
            <a:ext cx="10789920" cy="658368"/>
          </a:xfrm>
          <a:prstGeom prst="rect">
            <a:avLst/>
          </a:prstGeom>
          <a:noFill/>
        </p:spPr>
        <p:txBody>
          <a:bodyPr wrap="square" lIns="381" tIns="381" rIns="381" bIns="381" rtlCol="0" anchor="t"/>
          <a:lstStyle/>
          <a:p>
            <a:pPr marL="0" indent="0">
              <a:buNone/>
            </a:pPr>
            <a:r>
              <a:rPr lang="en-US" sz="1550" dirty="0">
                <a:solidFill>
                  <a:srgbClr val="111111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我们把竞赛脚本编排放在 host 侧生成的脚本盘中，内核只提供通用对象和通用语义，避免识别测例、文件名或字符串后返回伪造结果。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13136880" y="4535131"/>
            <a:ext cx="10424160" cy="475488"/>
          </a:xfrm>
          <a:prstGeom prst="rect">
            <a:avLst/>
          </a:prstGeom>
          <a:noFill/>
        </p:spPr>
        <p:txBody>
          <a:bodyPr wrap="square" lIns="381" tIns="381" rIns="381" bIns="381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111111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核心判断标准：能否用同一套内核机制稳定跑完公开测试，能否从日志、源码和构建入口复现结果。</a:t>
            </a:r>
            <a:endParaRPr lang="en-US" sz="1550" dirty="0"/>
          </a:p>
        </p:txBody>
      </p:sp>
      <p:cxnSp>
        <p:nvCxnSpPr>
          <p:cNvPr id="8" name="直接连接符 7"/>
          <p:cNvCxnSpPr/>
          <p:nvPr/>
        </p:nvCxnSpPr>
        <p:spPr>
          <a:xfrm>
            <a:off x="519545" y="1039091"/>
            <a:ext cx="7813964" cy="0"/>
          </a:xfrm>
          <a:prstGeom prst="line">
            <a:avLst/>
          </a:prstGeom>
          <a:ln w="38100">
            <a:solidFill>
              <a:schemeClr val="bg2">
                <a:lumMod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 8"/>
          <p:cNvSpPr/>
          <p:nvPr/>
        </p:nvSpPr>
        <p:spPr>
          <a:xfrm>
            <a:off x="11641282" y="342901"/>
            <a:ext cx="259773" cy="581891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文本框 9"/>
          <p:cNvSpPr txBox="1"/>
          <p:nvPr/>
        </p:nvSpPr>
        <p:spPr>
          <a:xfrm>
            <a:off x="550718" y="155351"/>
            <a:ext cx="2441694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4400" dirty="0">
                <a:latin typeface="华文中宋" panose="02010600040101010101" pitchFamily="2" charset="-122"/>
                <a:ea typeface="华文中宋" panose="02010600040101010101" pitchFamily="2" charset="-122"/>
              </a:rPr>
              <a:t>项目介绍</a:t>
            </a:r>
          </a:p>
        </p:txBody>
      </p:sp>
      <p:sp>
        <p:nvSpPr>
          <p:cNvPr id="11" name="文本框 10"/>
          <p:cNvSpPr txBox="1"/>
          <p:nvPr/>
        </p:nvSpPr>
        <p:spPr>
          <a:xfrm>
            <a:off x="687774" y="1153391"/>
            <a:ext cx="20901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华文中宋" panose="02010600040101010101" pitchFamily="2" charset="-122"/>
                <a:ea typeface="华文中宋" panose="02010600040101010101" pitchFamily="2" charset="-122"/>
              </a:rPr>
              <a:t>Introduction </a:t>
            </a:r>
            <a:endParaRPr lang="zh-CN" altLang="en-US" dirty="0">
              <a:latin typeface="华文中宋" panose="02010600040101010101" pitchFamily="2" charset="-122"/>
              <a:ea typeface="华文中宋" panose="02010600040101010101" pitchFamily="2" charset="-122"/>
            </a:endParaRPr>
          </a:p>
        </p:txBody>
      </p:sp>
      <p:sp>
        <p:nvSpPr>
          <p:cNvPr id="13" name="矩形 12"/>
          <p:cNvSpPr/>
          <p:nvPr/>
        </p:nvSpPr>
        <p:spPr>
          <a:xfrm>
            <a:off x="5932893" y="4121189"/>
            <a:ext cx="5527587" cy="2020408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63500" sx="102000" sy="102000" algn="ctr" rotWithShape="0">
              <a:prstClr val="black">
                <a:alpha val="18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5" name="文本框 14"/>
          <p:cNvSpPr txBox="1"/>
          <p:nvPr/>
        </p:nvSpPr>
        <p:spPr>
          <a:xfrm>
            <a:off x="6080760" y="4333963"/>
            <a:ext cx="203132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400" dirty="0">
                <a:solidFill>
                  <a:schemeClr val="bg2">
                    <a:lumMod val="25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涵盖内容包括</a:t>
            </a:r>
          </a:p>
        </p:txBody>
      </p:sp>
      <p:sp>
        <p:nvSpPr>
          <p:cNvPr id="17" name="矩形 16"/>
          <p:cNvSpPr/>
          <p:nvPr/>
        </p:nvSpPr>
        <p:spPr>
          <a:xfrm>
            <a:off x="5932892" y="1707297"/>
            <a:ext cx="5527587" cy="2020408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63500" sx="102000" sy="102000" algn="ctr" rotWithShape="0">
              <a:prstClr val="black">
                <a:alpha val="18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pSp>
        <p:nvGrpSpPr>
          <p:cNvPr id="21" name="组合 20"/>
          <p:cNvGrpSpPr/>
          <p:nvPr/>
        </p:nvGrpSpPr>
        <p:grpSpPr>
          <a:xfrm rot="10800000">
            <a:off x="550718" y="5306600"/>
            <a:ext cx="847652" cy="850140"/>
            <a:chOff x="4144312" y="1707297"/>
            <a:chExt cx="958000" cy="955510"/>
          </a:xfrm>
        </p:grpSpPr>
        <p:sp>
          <p:nvSpPr>
            <p:cNvPr id="22" name="矩形 21"/>
            <p:cNvSpPr/>
            <p:nvPr/>
          </p:nvSpPr>
          <p:spPr>
            <a:xfrm>
              <a:off x="4199486" y="1707297"/>
              <a:ext cx="902826" cy="902826"/>
            </a:xfrm>
            <a:prstGeom prst="rect">
              <a:avLst/>
            </a:prstGeom>
            <a:solidFill>
              <a:schemeClr val="bg2">
                <a:lumMod val="2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3" name="矩形 22"/>
            <p:cNvSpPr/>
            <p:nvPr/>
          </p:nvSpPr>
          <p:spPr>
            <a:xfrm>
              <a:off x="4144312" y="1759981"/>
              <a:ext cx="902826" cy="90282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30" name="文本框 29"/>
          <p:cNvSpPr txBox="1"/>
          <p:nvPr/>
        </p:nvSpPr>
        <p:spPr>
          <a:xfrm>
            <a:off x="6313360" y="2155631"/>
            <a:ext cx="4766649" cy="10993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5000"/>
              </a:lnSpc>
            </a:pPr>
            <a:r>
              <a:rPr lang="en-US" altLang="zh-CN" dirty="0" err="1">
                <a:solidFill>
                  <a:schemeClr val="bg2">
                    <a:lumMod val="50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  <a:cs typeface="等线" pitchFamily="34" charset="-120"/>
              </a:rPr>
              <a:t>项目目标</a:t>
            </a:r>
            <a:r>
              <a:rPr lang="en-US" altLang="zh-CN" dirty="0" err="1">
                <a:solidFill>
                  <a:srgbClr val="111111"/>
                </a:solidFill>
                <a:latin typeface="华文中宋" panose="02010600040101010101" pitchFamily="2" charset="-122"/>
                <a:ea typeface="华文中宋" panose="02010600040101010101" pitchFamily="2" charset="-122"/>
                <a:cs typeface="等线" pitchFamily="34" charset="-120"/>
              </a:rPr>
              <a:t>是在</a:t>
            </a:r>
            <a:r>
              <a:rPr lang="en-US" altLang="zh-CN" dirty="0">
                <a:solidFill>
                  <a:srgbClr val="111111"/>
                </a:solidFill>
                <a:latin typeface="华文中宋" panose="02010600040101010101" pitchFamily="2" charset="-122"/>
                <a:ea typeface="华文中宋" panose="02010600040101010101" pitchFamily="2" charset="-122"/>
                <a:cs typeface="等线" pitchFamily="34" charset="-120"/>
              </a:rPr>
              <a:t> </a:t>
            </a:r>
            <a:r>
              <a:rPr lang="en-US" altLang="zh-CN" dirty="0">
                <a:solidFill>
                  <a:schemeClr val="bg2">
                    <a:lumMod val="50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  <a:cs typeface="等线" pitchFamily="34" charset="-120"/>
              </a:rPr>
              <a:t>RISC-V 64 </a:t>
            </a:r>
            <a:r>
              <a:rPr lang="en-US" altLang="zh-CN" dirty="0">
                <a:solidFill>
                  <a:srgbClr val="111111"/>
                </a:solidFill>
                <a:latin typeface="华文中宋" panose="02010600040101010101" pitchFamily="2" charset="-122"/>
                <a:ea typeface="华文中宋" panose="02010600040101010101" pitchFamily="2" charset="-122"/>
                <a:cs typeface="等线" pitchFamily="34" charset="-120"/>
              </a:rPr>
              <a:t>和 </a:t>
            </a:r>
            <a:r>
              <a:rPr lang="en-US" altLang="zh-CN" dirty="0" err="1">
                <a:solidFill>
                  <a:schemeClr val="bg2">
                    <a:lumMod val="50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  <a:cs typeface="等线" pitchFamily="34" charset="-120"/>
              </a:rPr>
              <a:t>LoongArch</a:t>
            </a:r>
            <a:r>
              <a:rPr lang="en-US" altLang="zh-CN" dirty="0">
                <a:solidFill>
                  <a:schemeClr val="bg2">
                    <a:lumMod val="50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  <a:cs typeface="等线" pitchFamily="34" charset="-120"/>
              </a:rPr>
              <a:t> 64 </a:t>
            </a:r>
            <a:r>
              <a:rPr lang="en-US" altLang="zh-CN" dirty="0" err="1">
                <a:solidFill>
                  <a:srgbClr val="111111"/>
                </a:solidFill>
                <a:latin typeface="华文中宋" panose="02010600040101010101" pitchFamily="2" charset="-122"/>
                <a:ea typeface="华文中宋" panose="02010600040101010101" pitchFamily="2" charset="-122"/>
                <a:cs typeface="等线" pitchFamily="34" charset="-120"/>
              </a:rPr>
              <a:t>两种指令集上提供可启动、可构建、可复现、可运行官方测试盘中用户程序的</a:t>
            </a:r>
            <a:r>
              <a:rPr lang="en-US" altLang="zh-CN" dirty="0" err="1">
                <a:solidFill>
                  <a:schemeClr val="bg2">
                    <a:lumMod val="50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  <a:cs typeface="等线" pitchFamily="34" charset="-120"/>
              </a:rPr>
              <a:t>通用内核</a:t>
            </a:r>
            <a:endParaRPr lang="zh-CN" altLang="en-US" dirty="0">
              <a:solidFill>
                <a:schemeClr val="bg2">
                  <a:lumMod val="50000"/>
                </a:schemeClr>
              </a:solidFill>
              <a:latin typeface="华文中宋" panose="02010600040101010101" pitchFamily="2" charset="-122"/>
              <a:ea typeface="华文中宋" panose="02010600040101010101" pitchFamily="2" charset="-122"/>
            </a:endParaRPr>
          </a:p>
        </p:txBody>
      </p:sp>
      <p:sp>
        <p:nvSpPr>
          <p:cNvPr id="25" name="文本框 24"/>
          <p:cNvSpPr txBox="1"/>
          <p:nvPr/>
        </p:nvSpPr>
        <p:spPr>
          <a:xfrm>
            <a:off x="7588379" y="5061086"/>
            <a:ext cx="22511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3200" dirty="0">
                <a:solidFill>
                  <a:srgbClr val="111111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上下文切换</a:t>
            </a:r>
            <a:endParaRPr lang="zh-CN" altLang="en-US" sz="3200" dirty="0">
              <a:latin typeface="华文中宋" panose="02010600040101010101" pitchFamily="2" charset="-122"/>
              <a:ea typeface="华文中宋" panose="02010600040101010101" pitchFamily="2" charset="-122"/>
            </a:endParaRPr>
          </a:p>
        </p:txBody>
      </p:sp>
      <p:sp>
        <p:nvSpPr>
          <p:cNvPr id="26" name="文本框 25"/>
          <p:cNvSpPr txBox="1"/>
          <p:nvPr/>
        </p:nvSpPr>
        <p:spPr>
          <a:xfrm>
            <a:off x="9942126" y="5137124"/>
            <a:ext cx="14157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400" dirty="0">
                <a:solidFill>
                  <a:schemeClr val="bg2">
                    <a:lumMod val="75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  <a:cs typeface="Times New Roman" panose="02020603050405020304" pitchFamily="18" charset="0"/>
              </a:rPr>
              <a:t>任务调度</a:t>
            </a:r>
          </a:p>
        </p:txBody>
      </p:sp>
      <p:sp>
        <p:nvSpPr>
          <p:cNvPr id="27" name="文本框 26"/>
          <p:cNvSpPr txBox="1"/>
          <p:nvPr/>
        </p:nvSpPr>
        <p:spPr>
          <a:xfrm>
            <a:off x="6411706" y="5150703"/>
            <a:ext cx="87876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dirty="0">
                <a:solidFill>
                  <a:schemeClr val="bg2">
                    <a:lumMod val="75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Trap</a:t>
            </a:r>
            <a:endParaRPr lang="zh-CN" altLang="en-US" sz="2400" dirty="0">
              <a:solidFill>
                <a:schemeClr val="bg2">
                  <a:lumMod val="75000"/>
                </a:schemeClr>
              </a:solidFill>
              <a:latin typeface="华文中宋" panose="02010600040101010101" pitchFamily="2" charset="-122"/>
              <a:ea typeface="华文中宋" panose="02010600040101010101" pitchFamily="2" charset="-122"/>
            </a:endParaRP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FB4D0534-595C-75A5-43B1-B8F9CC6573E5}"/>
              </a:ext>
            </a:extLst>
          </p:cNvPr>
          <p:cNvSpPr txBox="1"/>
          <p:nvPr/>
        </p:nvSpPr>
        <p:spPr>
          <a:xfrm>
            <a:off x="818282" y="2425431"/>
            <a:ext cx="4463517" cy="32694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en-US" sz="2000" dirty="0">
                <a:solidFill>
                  <a:schemeClr val="bg2">
                    <a:lumMod val="10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WHUSP </a:t>
            </a:r>
            <a:r>
              <a:rPr lang="zh-CN" altLang="en-US" sz="2000" dirty="0">
                <a:solidFill>
                  <a:schemeClr val="bg2">
                    <a:lumMod val="10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是武汉大学 最后一次入门</a:t>
            </a:r>
            <a:r>
              <a:rPr lang="en-US" altLang="zh-CN" sz="2000" dirty="0">
                <a:solidFill>
                  <a:schemeClr val="bg2">
                    <a:lumMod val="10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RUST </a:t>
            </a:r>
            <a:r>
              <a:rPr lang="zh-CN" altLang="en-US" sz="2000" dirty="0">
                <a:solidFill>
                  <a:schemeClr val="bg2">
                    <a:lumMod val="10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队开发的 </a:t>
            </a:r>
            <a:r>
              <a:rPr lang="en-US" altLang="en-US" sz="2000" dirty="0">
                <a:solidFill>
                  <a:schemeClr val="bg2">
                    <a:lumMod val="50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Rust </a:t>
            </a:r>
            <a:r>
              <a:rPr lang="zh-CN" altLang="en-US" sz="2000" dirty="0">
                <a:solidFill>
                  <a:schemeClr val="bg2">
                    <a:lumMod val="50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宏内核</a:t>
            </a:r>
            <a:r>
              <a:rPr lang="zh-CN" altLang="en-US" sz="2000" dirty="0">
                <a:solidFill>
                  <a:schemeClr val="bg2">
                    <a:lumMod val="10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，支持 </a:t>
            </a:r>
            <a:r>
              <a:rPr lang="en-US" altLang="en-US" sz="2000" dirty="0">
                <a:solidFill>
                  <a:schemeClr val="bg2">
                    <a:lumMod val="10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RISC-V 64 </a:t>
            </a:r>
            <a:r>
              <a:rPr lang="zh-CN" altLang="en-US" sz="2000" dirty="0">
                <a:solidFill>
                  <a:schemeClr val="bg2">
                    <a:lumMod val="10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与 </a:t>
            </a:r>
            <a:r>
              <a:rPr lang="en-US" altLang="en-US" sz="2000" dirty="0">
                <a:solidFill>
                  <a:schemeClr val="bg2">
                    <a:lumMod val="10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LoongArch 64 </a:t>
            </a:r>
            <a:r>
              <a:rPr lang="zh-CN" altLang="en-US" sz="2000" dirty="0">
                <a:solidFill>
                  <a:schemeClr val="bg2">
                    <a:lumMod val="50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双架构</a:t>
            </a:r>
            <a:r>
              <a:rPr lang="zh-CN" altLang="en-US" sz="2000" dirty="0">
                <a:solidFill>
                  <a:schemeClr val="bg2">
                    <a:lumMod val="10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，能够运行基于 </a:t>
            </a:r>
            <a:r>
              <a:rPr lang="en-US" altLang="en-US" sz="2000" dirty="0">
                <a:solidFill>
                  <a:schemeClr val="bg2">
                    <a:lumMod val="10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Linux ABI </a:t>
            </a:r>
            <a:r>
              <a:rPr lang="zh-CN" altLang="en-US" sz="2000" dirty="0">
                <a:solidFill>
                  <a:schemeClr val="bg2">
                    <a:lumMod val="10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的真实用户程序，并具备进程调度、虚拟内存、文件系统、网络与信号处理等核心能力。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250">
        <p159:morph option="byObject"/>
      </p:transition>
    </mc:Choice>
    <mc:Fallback xmlns="">
      <p:transition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组合 19"/>
          <p:cNvGrpSpPr/>
          <p:nvPr/>
        </p:nvGrpSpPr>
        <p:grpSpPr>
          <a:xfrm>
            <a:off x="4426527" y="1759982"/>
            <a:ext cx="847652" cy="850140"/>
            <a:chOff x="4144312" y="1707297"/>
            <a:chExt cx="958000" cy="955510"/>
          </a:xfrm>
        </p:grpSpPr>
        <p:sp>
          <p:nvSpPr>
            <p:cNvPr id="18" name="矩形 17"/>
            <p:cNvSpPr/>
            <p:nvPr/>
          </p:nvSpPr>
          <p:spPr>
            <a:xfrm>
              <a:off x="4199486" y="1707297"/>
              <a:ext cx="902826" cy="902826"/>
            </a:xfrm>
            <a:prstGeom prst="rect">
              <a:avLst/>
            </a:prstGeom>
            <a:solidFill>
              <a:schemeClr val="bg2">
                <a:lumMod val="2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9" name="矩形 18"/>
            <p:cNvSpPr/>
            <p:nvPr/>
          </p:nvSpPr>
          <p:spPr>
            <a:xfrm>
              <a:off x="4144312" y="1759981"/>
              <a:ext cx="902826" cy="90282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</p:grpSp>
      <p:sp>
        <p:nvSpPr>
          <p:cNvPr id="3" name="Text 1"/>
          <p:cNvSpPr/>
          <p:nvPr/>
        </p:nvSpPr>
        <p:spPr>
          <a:xfrm>
            <a:off x="685800" y="3406556"/>
            <a:ext cx="10789920" cy="658368"/>
          </a:xfrm>
          <a:prstGeom prst="rect">
            <a:avLst/>
          </a:prstGeom>
          <a:noFill/>
        </p:spPr>
        <p:txBody>
          <a:bodyPr wrap="square" lIns="381" tIns="381" rIns="381" bIns="381" rtlCol="0" anchor="t"/>
          <a:lstStyle/>
          <a:p>
            <a:pPr marL="0" indent="0">
              <a:buNone/>
            </a:pPr>
            <a:endParaRPr lang="en-US" sz="1550" dirty="0"/>
          </a:p>
        </p:txBody>
      </p:sp>
      <p:sp>
        <p:nvSpPr>
          <p:cNvPr id="4" name="Text 2"/>
          <p:cNvSpPr/>
          <p:nvPr/>
        </p:nvSpPr>
        <p:spPr>
          <a:xfrm>
            <a:off x="13136880" y="2175979"/>
            <a:ext cx="10789920" cy="658368"/>
          </a:xfrm>
          <a:prstGeom prst="rect">
            <a:avLst/>
          </a:prstGeom>
          <a:noFill/>
        </p:spPr>
        <p:txBody>
          <a:bodyPr wrap="square" lIns="381" tIns="381" rIns="381" bIns="381" rtlCol="0" anchor="t"/>
          <a:lstStyle/>
          <a:p>
            <a:pPr marL="0" indent="0">
              <a:buNone/>
            </a:pPr>
            <a:r>
              <a:rPr lang="en-US" sz="1550" dirty="0">
                <a:solidFill>
                  <a:srgbClr val="111111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项目目标是在 RISC-V 64 和 LoongArch 64 两种指令集上提供可启动、可构建、可复现、可运行官方测试盘中用户程序的通用内核。</a:t>
            </a:r>
            <a:endParaRPr lang="en-US" sz="1550" dirty="0"/>
          </a:p>
        </p:txBody>
      </p:sp>
      <p:sp>
        <p:nvSpPr>
          <p:cNvPr id="5" name="Text 3"/>
          <p:cNvSpPr/>
          <p:nvPr/>
        </p:nvSpPr>
        <p:spPr>
          <a:xfrm>
            <a:off x="13136880" y="2925787"/>
            <a:ext cx="10789920" cy="658368"/>
          </a:xfrm>
          <a:prstGeom prst="rect">
            <a:avLst/>
          </a:prstGeom>
          <a:noFill/>
        </p:spPr>
        <p:txBody>
          <a:bodyPr wrap="square" lIns="381" tIns="381" rIns="381" bIns="381" rtlCol="0" anchor="t"/>
          <a:lstStyle/>
          <a:p>
            <a:pPr marL="0" indent="0">
              <a:buNone/>
            </a:pPr>
            <a:r>
              <a:rPr lang="en-US" sz="1550" dirty="0">
                <a:solidFill>
                  <a:srgbClr val="111111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当前内核覆盖启动、Trap、上下文切换、任务调度、虚拟内存、EXT4/VFS、设备驱动、信号、futex、socket 与 Linux generic syscall ABI。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13136880" y="3675595"/>
            <a:ext cx="10789920" cy="658368"/>
          </a:xfrm>
          <a:prstGeom prst="rect">
            <a:avLst/>
          </a:prstGeom>
          <a:noFill/>
        </p:spPr>
        <p:txBody>
          <a:bodyPr wrap="square" lIns="381" tIns="381" rIns="381" bIns="381" rtlCol="0" anchor="t"/>
          <a:lstStyle/>
          <a:p>
            <a:pPr marL="0" indent="0">
              <a:buNone/>
            </a:pPr>
            <a:r>
              <a:rPr lang="en-US" sz="1550" dirty="0">
                <a:solidFill>
                  <a:srgbClr val="111111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我们把竞赛脚本编排放在 host 侧生成的脚本盘中，内核只提供通用对象和通用语义，避免识别测例、文件名或字符串后返回伪造结果。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13136880" y="4535131"/>
            <a:ext cx="10424160" cy="475488"/>
          </a:xfrm>
          <a:prstGeom prst="rect">
            <a:avLst/>
          </a:prstGeom>
          <a:noFill/>
        </p:spPr>
        <p:txBody>
          <a:bodyPr wrap="square" lIns="381" tIns="381" rIns="381" bIns="381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111111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核心判断标准：能否用同一套内核机制稳定跑完公开测试，能否从日志、源码和构建入口复现结果。</a:t>
            </a:r>
            <a:endParaRPr lang="en-US" sz="1550" dirty="0"/>
          </a:p>
        </p:txBody>
      </p:sp>
      <p:cxnSp>
        <p:nvCxnSpPr>
          <p:cNvPr id="8" name="直接连接符 7"/>
          <p:cNvCxnSpPr/>
          <p:nvPr/>
        </p:nvCxnSpPr>
        <p:spPr>
          <a:xfrm>
            <a:off x="519545" y="1039091"/>
            <a:ext cx="7813964" cy="0"/>
          </a:xfrm>
          <a:prstGeom prst="line">
            <a:avLst/>
          </a:prstGeom>
          <a:ln w="38100">
            <a:solidFill>
              <a:schemeClr val="bg2">
                <a:lumMod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 8"/>
          <p:cNvSpPr/>
          <p:nvPr/>
        </p:nvSpPr>
        <p:spPr>
          <a:xfrm>
            <a:off x="11641282" y="342901"/>
            <a:ext cx="259773" cy="581891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文本框 9"/>
          <p:cNvSpPr txBox="1"/>
          <p:nvPr/>
        </p:nvSpPr>
        <p:spPr>
          <a:xfrm>
            <a:off x="550718" y="155351"/>
            <a:ext cx="2441694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4400" dirty="0">
                <a:latin typeface="华文中宋" panose="02010600040101010101" pitchFamily="2" charset="-122"/>
                <a:ea typeface="华文中宋" panose="02010600040101010101" pitchFamily="2" charset="-122"/>
              </a:rPr>
              <a:t>项目介绍</a:t>
            </a:r>
          </a:p>
        </p:txBody>
      </p:sp>
      <p:sp>
        <p:nvSpPr>
          <p:cNvPr id="11" name="文本框 10"/>
          <p:cNvSpPr txBox="1"/>
          <p:nvPr/>
        </p:nvSpPr>
        <p:spPr>
          <a:xfrm>
            <a:off x="687774" y="1153391"/>
            <a:ext cx="20901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华文中宋" panose="02010600040101010101" pitchFamily="2" charset="-122"/>
                <a:ea typeface="华文中宋" panose="02010600040101010101" pitchFamily="2" charset="-122"/>
              </a:rPr>
              <a:t>Introduction </a:t>
            </a:r>
            <a:endParaRPr lang="zh-CN" altLang="en-US" dirty="0">
              <a:latin typeface="华文中宋" panose="02010600040101010101" pitchFamily="2" charset="-122"/>
              <a:ea typeface="华文中宋" panose="02010600040101010101" pitchFamily="2" charset="-122"/>
            </a:endParaRPr>
          </a:p>
        </p:txBody>
      </p:sp>
      <p:sp>
        <p:nvSpPr>
          <p:cNvPr id="13" name="矩形 12"/>
          <p:cNvSpPr/>
          <p:nvPr/>
        </p:nvSpPr>
        <p:spPr>
          <a:xfrm>
            <a:off x="5932893" y="4121189"/>
            <a:ext cx="5527587" cy="2020408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63500" sx="102000" sy="102000" algn="ctr" rotWithShape="0">
              <a:prstClr val="black">
                <a:alpha val="18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5" name="文本框 14"/>
          <p:cNvSpPr txBox="1"/>
          <p:nvPr/>
        </p:nvSpPr>
        <p:spPr>
          <a:xfrm>
            <a:off x="6080760" y="4333963"/>
            <a:ext cx="203132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400" dirty="0">
                <a:solidFill>
                  <a:schemeClr val="bg2">
                    <a:lumMod val="25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涵盖内容包括</a:t>
            </a:r>
          </a:p>
        </p:txBody>
      </p:sp>
      <p:sp>
        <p:nvSpPr>
          <p:cNvPr id="17" name="矩形 16"/>
          <p:cNvSpPr/>
          <p:nvPr/>
        </p:nvSpPr>
        <p:spPr>
          <a:xfrm>
            <a:off x="5932892" y="1707297"/>
            <a:ext cx="5527587" cy="2020408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63500" sx="102000" sy="102000" algn="ctr" rotWithShape="0">
              <a:prstClr val="black">
                <a:alpha val="18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pSp>
        <p:nvGrpSpPr>
          <p:cNvPr id="21" name="组合 20"/>
          <p:cNvGrpSpPr/>
          <p:nvPr/>
        </p:nvGrpSpPr>
        <p:grpSpPr>
          <a:xfrm rot="10800000">
            <a:off x="550718" y="5306600"/>
            <a:ext cx="847652" cy="850140"/>
            <a:chOff x="4144312" y="1707297"/>
            <a:chExt cx="958000" cy="955510"/>
          </a:xfrm>
        </p:grpSpPr>
        <p:sp>
          <p:nvSpPr>
            <p:cNvPr id="22" name="矩形 21"/>
            <p:cNvSpPr/>
            <p:nvPr/>
          </p:nvSpPr>
          <p:spPr>
            <a:xfrm>
              <a:off x="4199486" y="1707297"/>
              <a:ext cx="902826" cy="902826"/>
            </a:xfrm>
            <a:prstGeom prst="rect">
              <a:avLst/>
            </a:prstGeom>
            <a:solidFill>
              <a:schemeClr val="bg2">
                <a:lumMod val="2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3" name="矩形 22"/>
            <p:cNvSpPr/>
            <p:nvPr/>
          </p:nvSpPr>
          <p:spPr>
            <a:xfrm>
              <a:off x="4144312" y="1759981"/>
              <a:ext cx="902826" cy="90282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30" name="文本框 29"/>
          <p:cNvSpPr txBox="1"/>
          <p:nvPr/>
        </p:nvSpPr>
        <p:spPr>
          <a:xfrm>
            <a:off x="6313360" y="2155631"/>
            <a:ext cx="4766649" cy="10993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5000"/>
              </a:lnSpc>
            </a:pPr>
            <a:r>
              <a:rPr lang="en-US" altLang="zh-CN" dirty="0" err="1">
                <a:solidFill>
                  <a:schemeClr val="bg2">
                    <a:lumMod val="50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  <a:cs typeface="等线" pitchFamily="34" charset="-120"/>
              </a:rPr>
              <a:t>项目目标</a:t>
            </a:r>
            <a:r>
              <a:rPr lang="en-US" altLang="zh-CN" dirty="0" err="1">
                <a:solidFill>
                  <a:srgbClr val="111111"/>
                </a:solidFill>
                <a:latin typeface="华文中宋" panose="02010600040101010101" pitchFamily="2" charset="-122"/>
                <a:ea typeface="华文中宋" panose="02010600040101010101" pitchFamily="2" charset="-122"/>
                <a:cs typeface="等线" pitchFamily="34" charset="-120"/>
              </a:rPr>
              <a:t>是在</a:t>
            </a:r>
            <a:r>
              <a:rPr lang="en-US" altLang="zh-CN" dirty="0">
                <a:solidFill>
                  <a:srgbClr val="111111"/>
                </a:solidFill>
                <a:latin typeface="华文中宋" panose="02010600040101010101" pitchFamily="2" charset="-122"/>
                <a:ea typeface="华文中宋" panose="02010600040101010101" pitchFamily="2" charset="-122"/>
                <a:cs typeface="等线" pitchFamily="34" charset="-120"/>
              </a:rPr>
              <a:t> </a:t>
            </a:r>
            <a:r>
              <a:rPr lang="en-US" altLang="zh-CN" dirty="0">
                <a:solidFill>
                  <a:schemeClr val="bg2">
                    <a:lumMod val="50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  <a:cs typeface="等线" pitchFamily="34" charset="-120"/>
              </a:rPr>
              <a:t>RISC-V 64 </a:t>
            </a:r>
            <a:r>
              <a:rPr lang="en-US" altLang="zh-CN" dirty="0">
                <a:solidFill>
                  <a:srgbClr val="111111"/>
                </a:solidFill>
                <a:latin typeface="华文中宋" panose="02010600040101010101" pitchFamily="2" charset="-122"/>
                <a:ea typeface="华文中宋" panose="02010600040101010101" pitchFamily="2" charset="-122"/>
                <a:cs typeface="等线" pitchFamily="34" charset="-120"/>
              </a:rPr>
              <a:t>和 </a:t>
            </a:r>
            <a:r>
              <a:rPr lang="en-US" altLang="zh-CN" dirty="0" err="1">
                <a:solidFill>
                  <a:schemeClr val="bg2">
                    <a:lumMod val="50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  <a:cs typeface="等线" pitchFamily="34" charset="-120"/>
              </a:rPr>
              <a:t>LoongArch</a:t>
            </a:r>
            <a:r>
              <a:rPr lang="en-US" altLang="zh-CN" dirty="0">
                <a:solidFill>
                  <a:schemeClr val="bg2">
                    <a:lumMod val="50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  <a:cs typeface="等线" pitchFamily="34" charset="-120"/>
              </a:rPr>
              <a:t> 64 </a:t>
            </a:r>
            <a:r>
              <a:rPr lang="en-US" altLang="zh-CN" dirty="0" err="1">
                <a:solidFill>
                  <a:srgbClr val="111111"/>
                </a:solidFill>
                <a:latin typeface="华文中宋" panose="02010600040101010101" pitchFamily="2" charset="-122"/>
                <a:ea typeface="华文中宋" panose="02010600040101010101" pitchFamily="2" charset="-122"/>
                <a:cs typeface="等线" pitchFamily="34" charset="-120"/>
              </a:rPr>
              <a:t>两种指令集上提供可启动、可构建、可复现、可运行官方测试盘中用户程序的</a:t>
            </a:r>
            <a:r>
              <a:rPr lang="en-US" altLang="zh-CN" dirty="0" err="1">
                <a:solidFill>
                  <a:schemeClr val="bg2">
                    <a:lumMod val="50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  <a:cs typeface="等线" pitchFamily="34" charset="-120"/>
              </a:rPr>
              <a:t>通用内核</a:t>
            </a:r>
            <a:endParaRPr lang="zh-CN" altLang="en-US" dirty="0">
              <a:solidFill>
                <a:schemeClr val="bg2">
                  <a:lumMod val="50000"/>
                </a:schemeClr>
              </a:solidFill>
              <a:latin typeface="华文中宋" panose="02010600040101010101" pitchFamily="2" charset="-122"/>
              <a:ea typeface="华文中宋" panose="02010600040101010101" pitchFamily="2" charset="-122"/>
            </a:endParaRPr>
          </a:p>
        </p:txBody>
      </p:sp>
      <p:sp>
        <p:nvSpPr>
          <p:cNvPr id="25" name="文本框 24"/>
          <p:cNvSpPr txBox="1"/>
          <p:nvPr/>
        </p:nvSpPr>
        <p:spPr>
          <a:xfrm>
            <a:off x="7847873" y="5061086"/>
            <a:ext cx="22511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3200" dirty="0">
                <a:solidFill>
                  <a:srgbClr val="111111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任务调度</a:t>
            </a:r>
            <a:endParaRPr lang="zh-CN" altLang="en-US" sz="3200" dirty="0">
              <a:latin typeface="华文中宋" panose="02010600040101010101" pitchFamily="2" charset="-122"/>
              <a:ea typeface="华文中宋" panose="02010600040101010101" pitchFamily="2" charset="-122"/>
            </a:endParaRPr>
          </a:p>
        </p:txBody>
      </p:sp>
      <p:sp>
        <p:nvSpPr>
          <p:cNvPr id="26" name="文本框 25"/>
          <p:cNvSpPr txBox="1"/>
          <p:nvPr/>
        </p:nvSpPr>
        <p:spPr>
          <a:xfrm>
            <a:off x="9942126" y="5137124"/>
            <a:ext cx="14157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400" dirty="0">
                <a:solidFill>
                  <a:schemeClr val="bg2">
                    <a:lumMod val="75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  <a:cs typeface="Times New Roman" panose="02020603050405020304" pitchFamily="18" charset="0"/>
              </a:rPr>
              <a:t>虚拟内存</a:t>
            </a:r>
          </a:p>
        </p:txBody>
      </p:sp>
      <p:sp>
        <p:nvSpPr>
          <p:cNvPr id="27" name="文本框 26"/>
          <p:cNvSpPr txBox="1"/>
          <p:nvPr/>
        </p:nvSpPr>
        <p:spPr>
          <a:xfrm>
            <a:off x="5981712" y="5150703"/>
            <a:ext cx="172354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400" dirty="0">
                <a:solidFill>
                  <a:schemeClr val="bg2">
                    <a:lumMod val="75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上下文切换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58EB7B19-2CEF-FA20-2B5E-48AE11FACF32}"/>
              </a:ext>
            </a:extLst>
          </p:cNvPr>
          <p:cNvSpPr txBox="1"/>
          <p:nvPr/>
        </p:nvSpPr>
        <p:spPr>
          <a:xfrm>
            <a:off x="818282" y="2425431"/>
            <a:ext cx="4463517" cy="32694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en-US" sz="2000" dirty="0">
                <a:solidFill>
                  <a:schemeClr val="bg2">
                    <a:lumMod val="10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WHUSP </a:t>
            </a:r>
            <a:r>
              <a:rPr lang="zh-CN" altLang="en-US" sz="2000" dirty="0">
                <a:solidFill>
                  <a:schemeClr val="bg2">
                    <a:lumMod val="10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是武汉大学 最后一次入门</a:t>
            </a:r>
            <a:r>
              <a:rPr lang="en-US" altLang="zh-CN" sz="2000" dirty="0">
                <a:solidFill>
                  <a:schemeClr val="bg2">
                    <a:lumMod val="10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RUST </a:t>
            </a:r>
            <a:r>
              <a:rPr lang="zh-CN" altLang="en-US" sz="2000" dirty="0">
                <a:solidFill>
                  <a:schemeClr val="bg2">
                    <a:lumMod val="10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队开发的 </a:t>
            </a:r>
            <a:r>
              <a:rPr lang="en-US" altLang="en-US" sz="2000" dirty="0">
                <a:solidFill>
                  <a:schemeClr val="bg2">
                    <a:lumMod val="50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Rust </a:t>
            </a:r>
            <a:r>
              <a:rPr lang="zh-CN" altLang="en-US" sz="2000" dirty="0">
                <a:solidFill>
                  <a:schemeClr val="bg2">
                    <a:lumMod val="50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宏内核</a:t>
            </a:r>
            <a:r>
              <a:rPr lang="zh-CN" altLang="en-US" sz="2000" dirty="0">
                <a:solidFill>
                  <a:schemeClr val="bg2">
                    <a:lumMod val="10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，支持 </a:t>
            </a:r>
            <a:r>
              <a:rPr lang="en-US" altLang="en-US" sz="2000" dirty="0">
                <a:solidFill>
                  <a:schemeClr val="bg2">
                    <a:lumMod val="10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RISC-V 64 </a:t>
            </a:r>
            <a:r>
              <a:rPr lang="zh-CN" altLang="en-US" sz="2000" dirty="0">
                <a:solidFill>
                  <a:schemeClr val="bg2">
                    <a:lumMod val="10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与 </a:t>
            </a:r>
            <a:r>
              <a:rPr lang="en-US" altLang="en-US" sz="2000" dirty="0">
                <a:solidFill>
                  <a:schemeClr val="bg2">
                    <a:lumMod val="10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LoongArch 64 </a:t>
            </a:r>
            <a:r>
              <a:rPr lang="zh-CN" altLang="en-US" sz="2000" dirty="0">
                <a:solidFill>
                  <a:schemeClr val="bg2">
                    <a:lumMod val="50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双架构</a:t>
            </a:r>
            <a:r>
              <a:rPr lang="zh-CN" altLang="en-US" sz="2000" dirty="0">
                <a:solidFill>
                  <a:schemeClr val="bg2">
                    <a:lumMod val="10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，能够运行基于 </a:t>
            </a:r>
            <a:r>
              <a:rPr lang="en-US" altLang="en-US" sz="2000" dirty="0">
                <a:solidFill>
                  <a:schemeClr val="bg2">
                    <a:lumMod val="10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Linux ABI </a:t>
            </a:r>
            <a:r>
              <a:rPr lang="zh-CN" altLang="en-US" sz="2000" dirty="0">
                <a:solidFill>
                  <a:schemeClr val="bg2">
                    <a:lumMod val="10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的真实用户程序，并具备进程调度、虚拟内存、文件系统、网络与信号处理等核心能力。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250">
        <p159:morph option="byObject"/>
      </p:transition>
    </mc:Choice>
    <mc:Fallback xmlns="">
      <p:transition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组合 19"/>
          <p:cNvGrpSpPr/>
          <p:nvPr/>
        </p:nvGrpSpPr>
        <p:grpSpPr>
          <a:xfrm>
            <a:off x="4426527" y="1759982"/>
            <a:ext cx="847652" cy="850140"/>
            <a:chOff x="4144312" y="1707297"/>
            <a:chExt cx="958000" cy="955510"/>
          </a:xfrm>
        </p:grpSpPr>
        <p:sp>
          <p:nvSpPr>
            <p:cNvPr id="18" name="矩形 17"/>
            <p:cNvSpPr/>
            <p:nvPr/>
          </p:nvSpPr>
          <p:spPr>
            <a:xfrm>
              <a:off x="4199486" y="1707297"/>
              <a:ext cx="902826" cy="902826"/>
            </a:xfrm>
            <a:prstGeom prst="rect">
              <a:avLst/>
            </a:prstGeom>
            <a:solidFill>
              <a:schemeClr val="bg2">
                <a:lumMod val="2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9" name="矩形 18"/>
            <p:cNvSpPr/>
            <p:nvPr/>
          </p:nvSpPr>
          <p:spPr>
            <a:xfrm>
              <a:off x="4144312" y="1759981"/>
              <a:ext cx="902826" cy="90282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</p:grpSp>
      <p:sp>
        <p:nvSpPr>
          <p:cNvPr id="3" name="Text 1"/>
          <p:cNvSpPr/>
          <p:nvPr/>
        </p:nvSpPr>
        <p:spPr>
          <a:xfrm>
            <a:off x="685800" y="3406556"/>
            <a:ext cx="10789920" cy="658368"/>
          </a:xfrm>
          <a:prstGeom prst="rect">
            <a:avLst/>
          </a:prstGeom>
          <a:noFill/>
        </p:spPr>
        <p:txBody>
          <a:bodyPr wrap="square" lIns="381" tIns="381" rIns="381" bIns="381" rtlCol="0" anchor="t"/>
          <a:lstStyle/>
          <a:p>
            <a:pPr marL="0" indent="0">
              <a:buNone/>
            </a:pPr>
            <a:endParaRPr lang="en-US" sz="1550" dirty="0"/>
          </a:p>
        </p:txBody>
      </p:sp>
      <p:sp>
        <p:nvSpPr>
          <p:cNvPr id="4" name="Text 2"/>
          <p:cNvSpPr/>
          <p:nvPr/>
        </p:nvSpPr>
        <p:spPr>
          <a:xfrm>
            <a:off x="13136880" y="2175979"/>
            <a:ext cx="10789920" cy="658368"/>
          </a:xfrm>
          <a:prstGeom prst="rect">
            <a:avLst/>
          </a:prstGeom>
          <a:noFill/>
        </p:spPr>
        <p:txBody>
          <a:bodyPr wrap="square" lIns="381" tIns="381" rIns="381" bIns="381" rtlCol="0" anchor="t"/>
          <a:lstStyle/>
          <a:p>
            <a:pPr marL="0" indent="0">
              <a:buNone/>
            </a:pPr>
            <a:r>
              <a:rPr lang="en-US" sz="1550" dirty="0">
                <a:solidFill>
                  <a:srgbClr val="111111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项目目标是在 RISC-V 64 和 LoongArch 64 两种指令集上提供可启动、可构建、可复现、可运行官方测试盘中用户程序的通用内核。</a:t>
            </a:r>
            <a:endParaRPr lang="en-US" sz="1550" dirty="0"/>
          </a:p>
        </p:txBody>
      </p:sp>
      <p:sp>
        <p:nvSpPr>
          <p:cNvPr id="5" name="Text 3"/>
          <p:cNvSpPr/>
          <p:nvPr/>
        </p:nvSpPr>
        <p:spPr>
          <a:xfrm>
            <a:off x="13136880" y="2925787"/>
            <a:ext cx="10789920" cy="658368"/>
          </a:xfrm>
          <a:prstGeom prst="rect">
            <a:avLst/>
          </a:prstGeom>
          <a:noFill/>
        </p:spPr>
        <p:txBody>
          <a:bodyPr wrap="square" lIns="381" tIns="381" rIns="381" bIns="381" rtlCol="0" anchor="t"/>
          <a:lstStyle/>
          <a:p>
            <a:pPr marL="0" indent="0">
              <a:buNone/>
            </a:pPr>
            <a:r>
              <a:rPr lang="en-US" sz="1550" dirty="0">
                <a:solidFill>
                  <a:srgbClr val="111111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当前内核覆盖启动、Trap、上下文切换、任务调度、虚拟内存、EXT4/VFS、设备驱动、信号、futex、socket 与 Linux generic syscall ABI。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13136880" y="3675595"/>
            <a:ext cx="10789920" cy="658368"/>
          </a:xfrm>
          <a:prstGeom prst="rect">
            <a:avLst/>
          </a:prstGeom>
          <a:noFill/>
        </p:spPr>
        <p:txBody>
          <a:bodyPr wrap="square" lIns="381" tIns="381" rIns="381" bIns="381" rtlCol="0" anchor="t"/>
          <a:lstStyle/>
          <a:p>
            <a:pPr marL="0" indent="0">
              <a:buNone/>
            </a:pPr>
            <a:r>
              <a:rPr lang="en-US" sz="1550" dirty="0">
                <a:solidFill>
                  <a:srgbClr val="111111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我们把竞赛脚本编排放在 host 侧生成的脚本盘中，内核只提供通用对象和通用语义，避免识别测例、文件名或字符串后返回伪造结果。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13136880" y="4535131"/>
            <a:ext cx="10424160" cy="475488"/>
          </a:xfrm>
          <a:prstGeom prst="rect">
            <a:avLst/>
          </a:prstGeom>
          <a:noFill/>
        </p:spPr>
        <p:txBody>
          <a:bodyPr wrap="square" lIns="381" tIns="381" rIns="381" bIns="381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111111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核心判断标准：能否用同一套内核机制稳定跑完公开测试，能否从日志、源码和构建入口复现结果。</a:t>
            </a:r>
            <a:endParaRPr lang="en-US" sz="1550" dirty="0"/>
          </a:p>
        </p:txBody>
      </p:sp>
      <p:cxnSp>
        <p:nvCxnSpPr>
          <p:cNvPr id="8" name="直接连接符 7"/>
          <p:cNvCxnSpPr/>
          <p:nvPr/>
        </p:nvCxnSpPr>
        <p:spPr>
          <a:xfrm>
            <a:off x="519545" y="1039091"/>
            <a:ext cx="7813964" cy="0"/>
          </a:xfrm>
          <a:prstGeom prst="line">
            <a:avLst/>
          </a:prstGeom>
          <a:ln w="38100">
            <a:solidFill>
              <a:schemeClr val="bg2">
                <a:lumMod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 8"/>
          <p:cNvSpPr/>
          <p:nvPr/>
        </p:nvSpPr>
        <p:spPr>
          <a:xfrm>
            <a:off x="11641282" y="342901"/>
            <a:ext cx="259773" cy="581891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文本框 9"/>
          <p:cNvSpPr txBox="1"/>
          <p:nvPr/>
        </p:nvSpPr>
        <p:spPr>
          <a:xfrm>
            <a:off x="550718" y="155351"/>
            <a:ext cx="2441694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4400" dirty="0">
                <a:latin typeface="华文中宋" panose="02010600040101010101" pitchFamily="2" charset="-122"/>
                <a:ea typeface="华文中宋" panose="02010600040101010101" pitchFamily="2" charset="-122"/>
              </a:rPr>
              <a:t>项目介绍</a:t>
            </a:r>
          </a:p>
        </p:txBody>
      </p:sp>
      <p:sp>
        <p:nvSpPr>
          <p:cNvPr id="11" name="文本框 10"/>
          <p:cNvSpPr txBox="1"/>
          <p:nvPr/>
        </p:nvSpPr>
        <p:spPr>
          <a:xfrm>
            <a:off x="687774" y="1153391"/>
            <a:ext cx="20901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华文中宋" panose="02010600040101010101" pitchFamily="2" charset="-122"/>
                <a:ea typeface="华文中宋" panose="02010600040101010101" pitchFamily="2" charset="-122"/>
              </a:rPr>
              <a:t>Introduction </a:t>
            </a:r>
            <a:endParaRPr lang="zh-CN" altLang="en-US" dirty="0">
              <a:latin typeface="华文中宋" panose="02010600040101010101" pitchFamily="2" charset="-122"/>
              <a:ea typeface="华文中宋" panose="02010600040101010101" pitchFamily="2" charset="-122"/>
            </a:endParaRPr>
          </a:p>
        </p:txBody>
      </p:sp>
      <p:sp>
        <p:nvSpPr>
          <p:cNvPr id="13" name="矩形 12"/>
          <p:cNvSpPr/>
          <p:nvPr/>
        </p:nvSpPr>
        <p:spPr>
          <a:xfrm>
            <a:off x="5948133" y="4121189"/>
            <a:ext cx="5527587" cy="2020408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63500" sx="102000" sy="102000" algn="ctr" rotWithShape="0">
              <a:prstClr val="black">
                <a:alpha val="18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5" name="文本框 14"/>
          <p:cNvSpPr txBox="1"/>
          <p:nvPr/>
        </p:nvSpPr>
        <p:spPr>
          <a:xfrm>
            <a:off x="6080760" y="4333963"/>
            <a:ext cx="203132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400" dirty="0">
                <a:solidFill>
                  <a:schemeClr val="bg2">
                    <a:lumMod val="25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涵盖内容包括</a:t>
            </a:r>
          </a:p>
        </p:txBody>
      </p:sp>
      <p:sp>
        <p:nvSpPr>
          <p:cNvPr id="17" name="矩形 16"/>
          <p:cNvSpPr/>
          <p:nvPr/>
        </p:nvSpPr>
        <p:spPr>
          <a:xfrm>
            <a:off x="5932892" y="1707297"/>
            <a:ext cx="5527587" cy="2020408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63500" sx="102000" sy="102000" algn="ctr" rotWithShape="0">
              <a:prstClr val="black">
                <a:alpha val="18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pSp>
        <p:nvGrpSpPr>
          <p:cNvPr id="21" name="组合 20"/>
          <p:cNvGrpSpPr/>
          <p:nvPr/>
        </p:nvGrpSpPr>
        <p:grpSpPr>
          <a:xfrm rot="10800000">
            <a:off x="550718" y="5306600"/>
            <a:ext cx="847652" cy="850140"/>
            <a:chOff x="4144312" y="1707297"/>
            <a:chExt cx="958000" cy="955510"/>
          </a:xfrm>
        </p:grpSpPr>
        <p:sp>
          <p:nvSpPr>
            <p:cNvPr id="22" name="矩形 21"/>
            <p:cNvSpPr/>
            <p:nvPr/>
          </p:nvSpPr>
          <p:spPr>
            <a:xfrm>
              <a:off x="4199486" y="1707297"/>
              <a:ext cx="902826" cy="902826"/>
            </a:xfrm>
            <a:prstGeom prst="rect">
              <a:avLst/>
            </a:prstGeom>
            <a:solidFill>
              <a:schemeClr val="bg2">
                <a:lumMod val="2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3" name="矩形 22"/>
            <p:cNvSpPr/>
            <p:nvPr/>
          </p:nvSpPr>
          <p:spPr>
            <a:xfrm>
              <a:off x="4144312" y="1759981"/>
              <a:ext cx="902826" cy="90282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30" name="文本框 29"/>
          <p:cNvSpPr txBox="1"/>
          <p:nvPr/>
        </p:nvSpPr>
        <p:spPr>
          <a:xfrm>
            <a:off x="6313360" y="2155631"/>
            <a:ext cx="4766649" cy="10993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5000"/>
              </a:lnSpc>
            </a:pPr>
            <a:r>
              <a:rPr lang="en-US" altLang="zh-CN" dirty="0" err="1">
                <a:solidFill>
                  <a:schemeClr val="bg2">
                    <a:lumMod val="50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  <a:cs typeface="等线" pitchFamily="34" charset="-120"/>
              </a:rPr>
              <a:t>项目目标</a:t>
            </a:r>
            <a:r>
              <a:rPr lang="en-US" altLang="zh-CN" dirty="0" err="1">
                <a:solidFill>
                  <a:srgbClr val="111111"/>
                </a:solidFill>
                <a:latin typeface="华文中宋" panose="02010600040101010101" pitchFamily="2" charset="-122"/>
                <a:ea typeface="华文中宋" panose="02010600040101010101" pitchFamily="2" charset="-122"/>
                <a:cs typeface="等线" pitchFamily="34" charset="-120"/>
              </a:rPr>
              <a:t>是在</a:t>
            </a:r>
            <a:r>
              <a:rPr lang="en-US" altLang="zh-CN" dirty="0">
                <a:solidFill>
                  <a:srgbClr val="111111"/>
                </a:solidFill>
                <a:latin typeface="华文中宋" panose="02010600040101010101" pitchFamily="2" charset="-122"/>
                <a:ea typeface="华文中宋" panose="02010600040101010101" pitchFamily="2" charset="-122"/>
                <a:cs typeface="等线" pitchFamily="34" charset="-120"/>
              </a:rPr>
              <a:t> </a:t>
            </a:r>
            <a:r>
              <a:rPr lang="en-US" altLang="zh-CN" dirty="0">
                <a:solidFill>
                  <a:schemeClr val="bg2">
                    <a:lumMod val="50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  <a:cs typeface="等线" pitchFamily="34" charset="-120"/>
              </a:rPr>
              <a:t>RISC-V 64 </a:t>
            </a:r>
            <a:r>
              <a:rPr lang="en-US" altLang="zh-CN" dirty="0">
                <a:solidFill>
                  <a:srgbClr val="111111"/>
                </a:solidFill>
                <a:latin typeface="华文中宋" panose="02010600040101010101" pitchFamily="2" charset="-122"/>
                <a:ea typeface="华文中宋" panose="02010600040101010101" pitchFamily="2" charset="-122"/>
                <a:cs typeface="等线" pitchFamily="34" charset="-120"/>
              </a:rPr>
              <a:t>和 </a:t>
            </a:r>
            <a:r>
              <a:rPr lang="en-US" altLang="zh-CN" dirty="0" err="1">
                <a:solidFill>
                  <a:schemeClr val="bg2">
                    <a:lumMod val="50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  <a:cs typeface="等线" pitchFamily="34" charset="-120"/>
              </a:rPr>
              <a:t>LoongArch</a:t>
            </a:r>
            <a:r>
              <a:rPr lang="en-US" altLang="zh-CN" dirty="0">
                <a:solidFill>
                  <a:schemeClr val="bg2">
                    <a:lumMod val="50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  <a:cs typeface="等线" pitchFamily="34" charset="-120"/>
              </a:rPr>
              <a:t> 64 </a:t>
            </a:r>
            <a:r>
              <a:rPr lang="en-US" altLang="zh-CN" dirty="0" err="1">
                <a:solidFill>
                  <a:srgbClr val="111111"/>
                </a:solidFill>
                <a:latin typeface="华文中宋" panose="02010600040101010101" pitchFamily="2" charset="-122"/>
                <a:ea typeface="华文中宋" panose="02010600040101010101" pitchFamily="2" charset="-122"/>
                <a:cs typeface="等线" pitchFamily="34" charset="-120"/>
              </a:rPr>
              <a:t>两种指令集上提供可启动、可构建、可复现、可运行官方测试盘中用户程序的</a:t>
            </a:r>
            <a:r>
              <a:rPr lang="en-US" altLang="zh-CN" dirty="0" err="1">
                <a:solidFill>
                  <a:schemeClr val="bg2">
                    <a:lumMod val="50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  <a:cs typeface="等线" pitchFamily="34" charset="-120"/>
              </a:rPr>
              <a:t>通用内核</a:t>
            </a:r>
            <a:endParaRPr lang="zh-CN" altLang="en-US" dirty="0">
              <a:solidFill>
                <a:schemeClr val="bg2">
                  <a:lumMod val="50000"/>
                </a:schemeClr>
              </a:solidFill>
              <a:latin typeface="华文中宋" panose="02010600040101010101" pitchFamily="2" charset="-122"/>
              <a:ea typeface="华文中宋" panose="02010600040101010101" pitchFamily="2" charset="-122"/>
            </a:endParaRPr>
          </a:p>
        </p:txBody>
      </p:sp>
      <p:sp>
        <p:nvSpPr>
          <p:cNvPr id="25" name="文本框 24"/>
          <p:cNvSpPr txBox="1"/>
          <p:nvPr/>
        </p:nvSpPr>
        <p:spPr>
          <a:xfrm>
            <a:off x="7847873" y="5061086"/>
            <a:ext cx="22511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3200" dirty="0">
                <a:solidFill>
                  <a:srgbClr val="111111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虚拟内存</a:t>
            </a:r>
            <a:endParaRPr lang="zh-CN" altLang="en-US" sz="3200" dirty="0">
              <a:latin typeface="华文中宋" panose="02010600040101010101" pitchFamily="2" charset="-122"/>
              <a:ea typeface="华文中宋" panose="02010600040101010101" pitchFamily="2" charset="-122"/>
            </a:endParaRPr>
          </a:p>
        </p:txBody>
      </p:sp>
      <p:sp>
        <p:nvSpPr>
          <p:cNvPr id="26" name="文本框 25"/>
          <p:cNvSpPr txBox="1"/>
          <p:nvPr/>
        </p:nvSpPr>
        <p:spPr>
          <a:xfrm>
            <a:off x="9942126" y="5137124"/>
            <a:ext cx="180850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dirty="0">
                <a:solidFill>
                  <a:schemeClr val="bg2">
                    <a:lumMod val="75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  <a:cs typeface="Times New Roman" panose="02020603050405020304" pitchFamily="18" charset="0"/>
              </a:rPr>
              <a:t>EXT4/VFS</a:t>
            </a:r>
            <a:endParaRPr lang="zh-CN" altLang="en-US" sz="2400" dirty="0">
              <a:solidFill>
                <a:schemeClr val="bg2">
                  <a:lumMod val="75000"/>
                </a:schemeClr>
              </a:solidFill>
              <a:latin typeface="华文中宋" panose="02010600040101010101" pitchFamily="2" charset="-122"/>
              <a:ea typeface="华文中宋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7" name="文本框 26"/>
          <p:cNvSpPr txBox="1"/>
          <p:nvPr/>
        </p:nvSpPr>
        <p:spPr>
          <a:xfrm>
            <a:off x="6092861" y="5131393"/>
            <a:ext cx="14157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400" dirty="0">
                <a:solidFill>
                  <a:schemeClr val="bg2">
                    <a:lumMod val="75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任务调度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98D53299-4607-096A-F558-AFEA9FAB1B48}"/>
              </a:ext>
            </a:extLst>
          </p:cNvPr>
          <p:cNvSpPr txBox="1"/>
          <p:nvPr/>
        </p:nvSpPr>
        <p:spPr>
          <a:xfrm>
            <a:off x="818282" y="2425431"/>
            <a:ext cx="4463517" cy="32694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en-US" sz="2000" dirty="0">
                <a:solidFill>
                  <a:schemeClr val="bg2">
                    <a:lumMod val="10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WHUSP </a:t>
            </a:r>
            <a:r>
              <a:rPr lang="zh-CN" altLang="en-US" sz="2000" dirty="0">
                <a:solidFill>
                  <a:schemeClr val="bg2">
                    <a:lumMod val="10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是武汉大学 最后一次入门</a:t>
            </a:r>
            <a:r>
              <a:rPr lang="en-US" altLang="zh-CN" sz="2000" dirty="0">
                <a:solidFill>
                  <a:schemeClr val="bg2">
                    <a:lumMod val="10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RUST </a:t>
            </a:r>
            <a:r>
              <a:rPr lang="zh-CN" altLang="en-US" sz="2000" dirty="0">
                <a:solidFill>
                  <a:schemeClr val="bg2">
                    <a:lumMod val="10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队开发的 </a:t>
            </a:r>
            <a:r>
              <a:rPr lang="en-US" altLang="en-US" sz="2000" dirty="0">
                <a:solidFill>
                  <a:schemeClr val="bg2">
                    <a:lumMod val="50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Rust </a:t>
            </a:r>
            <a:r>
              <a:rPr lang="zh-CN" altLang="en-US" sz="2000" dirty="0">
                <a:solidFill>
                  <a:schemeClr val="bg2">
                    <a:lumMod val="50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宏内核</a:t>
            </a:r>
            <a:r>
              <a:rPr lang="zh-CN" altLang="en-US" sz="2000" dirty="0">
                <a:solidFill>
                  <a:schemeClr val="bg2">
                    <a:lumMod val="10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，支持 </a:t>
            </a:r>
            <a:r>
              <a:rPr lang="en-US" altLang="en-US" sz="2000" dirty="0">
                <a:solidFill>
                  <a:schemeClr val="bg2">
                    <a:lumMod val="10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RISC-V 64 </a:t>
            </a:r>
            <a:r>
              <a:rPr lang="zh-CN" altLang="en-US" sz="2000" dirty="0">
                <a:solidFill>
                  <a:schemeClr val="bg2">
                    <a:lumMod val="10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与 </a:t>
            </a:r>
            <a:r>
              <a:rPr lang="en-US" altLang="en-US" sz="2000" dirty="0">
                <a:solidFill>
                  <a:schemeClr val="bg2">
                    <a:lumMod val="10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LoongArch 64 </a:t>
            </a:r>
            <a:r>
              <a:rPr lang="zh-CN" altLang="en-US" sz="2000" dirty="0">
                <a:solidFill>
                  <a:schemeClr val="bg2">
                    <a:lumMod val="50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双架构</a:t>
            </a:r>
            <a:r>
              <a:rPr lang="zh-CN" altLang="en-US" sz="2000" dirty="0">
                <a:solidFill>
                  <a:schemeClr val="bg2">
                    <a:lumMod val="10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，能够运行基于 </a:t>
            </a:r>
            <a:r>
              <a:rPr lang="en-US" altLang="en-US" sz="2000" dirty="0">
                <a:solidFill>
                  <a:schemeClr val="bg2">
                    <a:lumMod val="10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Linux ABI </a:t>
            </a:r>
            <a:r>
              <a:rPr lang="zh-CN" altLang="en-US" sz="2000" dirty="0">
                <a:solidFill>
                  <a:schemeClr val="bg2">
                    <a:lumMod val="10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的真实用户程序，并具备进程调度、虚拟内存、文件系统、网络与信号处理等核心能力。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250">
        <p159:morph option="byObject"/>
      </p:transition>
    </mc:Choice>
    <mc:Fallback xmlns="">
      <p:transition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组合 19"/>
          <p:cNvGrpSpPr/>
          <p:nvPr/>
        </p:nvGrpSpPr>
        <p:grpSpPr>
          <a:xfrm>
            <a:off x="4426527" y="1759982"/>
            <a:ext cx="847652" cy="850140"/>
            <a:chOff x="4144312" y="1707297"/>
            <a:chExt cx="958000" cy="955510"/>
          </a:xfrm>
        </p:grpSpPr>
        <p:sp>
          <p:nvSpPr>
            <p:cNvPr id="18" name="矩形 17"/>
            <p:cNvSpPr/>
            <p:nvPr/>
          </p:nvSpPr>
          <p:spPr>
            <a:xfrm>
              <a:off x="4199486" y="1707297"/>
              <a:ext cx="902826" cy="902826"/>
            </a:xfrm>
            <a:prstGeom prst="rect">
              <a:avLst/>
            </a:prstGeom>
            <a:solidFill>
              <a:schemeClr val="bg2">
                <a:lumMod val="2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9" name="矩形 18"/>
            <p:cNvSpPr/>
            <p:nvPr/>
          </p:nvSpPr>
          <p:spPr>
            <a:xfrm>
              <a:off x="4144312" y="1759981"/>
              <a:ext cx="902826" cy="90282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</p:grpSp>
      <p:sp>
        <p:nvSpPr>
          <p:cNvPr id="3" name="Text 1"/>
          <p:cNvSpPr/>
          <p:nvPr/>
        </p:nvSpPr>
        <p:spPr>
          <a:xfrm>
            <a:off x="685800" y="3406556"/>
            <a:ext cx="10789920" cy="658368"/>
          </a:xfrm>
          <a:prstGeom prst="rect">
            <a:avLst/>
          </a:prstGeom>
          <a:noFill/>
        </p:spPr>
        <p:txBody>
          <a:bodyPr wrap="square" lIns="381" tIns="381" rIns="381" bIns="381" rtlCol="0" anchor="t"/>
          <a:lstStyle/>
          <a:p>
            <a:pPr marL="0" indent="0">
              <a:buNone/>
            </a:pPr>
            <a:endParaRPr lang="en-US" sz="1550" dirty="0"/>
          </a:p>
        </p:txBody>
      </p:sp>
      <p:sp>
        <p:nvSpPr>
          <p:cNvPr id="4" name="Text 2"/>
          <p:cNvSpPr/>
          <p:nvPr/>
        </p:nvSpPr>
        <p:spPr>
          <a:xfrm>
            <a:off x="13136880" y="2175979"/>
            <a:ext cx="10789920" cy="658368"/>
          </a:xfrm>
          <a:prstGeom prst="rect">
            <a:avLst/>
          </a:prstGeom>
          <a:noFill/>
        </p:spPr>
        <p:txBody>
          <a:bodyPr wrap="square" lIns="381" tIns="381" rIns="381" bIns="381" rtlCol="0" anchor="t"/>
          <a:lstStyle/>
          <a:p>
            <a:pPr marL="0" indent="0">
              <a:buNone/>
            </a:pPr>
            <a:r>
              <a:rPr lang="en-US" sz="1550" dirty="0">
                <a:solidFill>
                  <a:srgbClr val="111111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项目目标是在 RISC-V 64 和 LoongArch 64 两种指令集上提供可启动、可构建、可复现、可运行官方测试盘中用户程序的通用内核。</a:t>
            </a:r>
            <a:endParaRPr lang="en-US" sz="1550" dirty="0"/>
          </a:p>
        </p:txBody>
      </p:sp>
      <p:sp>
        <p:nvSpPr>
          <p:cNvPr id="5" name="Text 3"/>
          <p:cNvSpPr/>
          <p:nvPr/>
        </p:nvSpPr>
        <p:spPr>
          <a:xfrm>
            <a:off x="13136880" y="2925787"/>
            <a:ext cx="10789920" cy="658368"/>
          </a:xfrm>
          <a:prstGeom prst="rect">
            <a:avLst/>
          </a:prstGeom>
          <a:noFill/>
        </p:spPr>
        <p:txBody>
          <a:bodyPr wrap="square" lIns="381" tIns="381" rIns="381" bIns="381" rtlCol="0" anchor="t"/>
          <a:lstStyle/>
          <a:p>
            <a:pPr marL="0" indent="0">
              <a:buNone/>
            </a:pPr>
            <a:r>
              <a:rPr lang="en-US" sz="1550" dirty="0">
                <a:solidFill>
                  <a:srgbClr val="111111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当前内核覆盖启动、Trap、上下文切换、任务调度、虚拟内存、EXT4/VFS、设备驱动、信号、futex、socket 与 Linux generic syscall ABI。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13136880" y="3675595"/>
            <a:ext cx="10789920" cy="658368"/>
          </a:xfrm>
          <a:prstGeom prst="rect">
            <a:avLst/>
          </a:prstGeom>
          <a:noFill/>
        </p:spPr>
        <p:txBody>
          <a:bodyPr wrap="square" lIns="381" tIns="381" rIns="381" bIns="381" rtlCol="0" anchor="t"/>
          <a:lstStyle/>
          <a:p>
            <a:pPr marL="0" indent="0">
              <a:buNone/>
            </a:pPr>
            <a:r>
              <a:rPr lang="en-US" sz="1550" dirty="0">
                <a:solidFill>
                  <a:srgbClr val="111111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我们把竞赛脚本编排放在 host 侧生成的脚本盘中，内核只提供通用对象和通用语义，避免识别测例、文件名或字符串后返回伪造结果。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13136880" y="4535131"/>
            <a:ext cx="10424160" cy="475488"/>
          </a:xfrm>
          <a:prstGeom prst="rect">
            <a:avLst/>
          </a:prstGeom>
          <a:noFill/>
        </p:spPr>
        <p:txBody>
          <a:bodyPr wrap="square" lIns="381" tIns="381" rIns="381" bIns="381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111111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核心判断标准：能否用同一套内核机制稳定跑完公开测试，能否从日志、源码和构建入口复现结果。</a:t>
            </a:r>
            <a:endParaRPr lang="en-US" sz="1550" dirty="0"/>
          </a:p>
        </p:txBody>
      </p:sp>
      <p:cxnSp>
        <p:nvCxnSpPr>
          <p:cNvPr id="8" name="直接连接符 7"/>
          <p:cNvCxnSpPr/>
          <p:nvPr/>
        </p:nvCxnSpPr>
        <p:spPr>
          <a:xfrm>
            <a:off x="519545" y="1039091"/>
            <a:ext cx="7813964" cy="0"/>
          </a:xfrm>
          <a:prstGeom prst="line">
            <a:avLst/>
          </a:prstGeom>
          <a:ln w="38100">
            <a:solidFill>
              <a:schemeClr val="bg2">
                <a:lumMod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 8"/>
          <p:cNvSpPr/>
          <p:nvPr/>
        </p:nvSpPr>
        <p:spPr>
          <a:xfrm>
            <a:off x="11641282" y="342901"/>
            <a:ext cx="259773" cy="581891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文本框 9"/>
          <p:cNvSpPr txBox="1"/>
          <p:nvPr/>
        </p:nvSpPr>
        <p:spPr>
          <a:xfrm>
            <a:off x="550718" y="155351"/>
            <a:ext cx="2441694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4400" dirty="0">
                <a:latin typeface="华文中宋" panose="02010600040101010101" pitchFamily="2" charset="-122"/>
                <a:ea typeface="华文中宋" panose="02010600040101010101" pitchFamily="2" charset="-122"/>
              </a:rPr>
              <a:t>项目介绍</a:t>
            </a:r>
          </a:p>
        </p:txBody>
      </p:sp>
      <p:sp>
        <p:nvSpPr>
          <p:cNvPr id="11" name="文本框 10"/>
          <p:cNvSpPr txBox="1"/>
          <p:nvPr/>
        </p:nvSpPr>
        <p:spPr>
          <a:xfrm>
            <a:off x="687774" y="1153391"/>
            <a:ext cx="20901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华文中宋" panose="02010600040101010101" pitchFamily="2" charset="-122"/>
                <a:ea typeface="华文中宋" panose="02010600040101010101" pitchFamily="2" charset="-122"/>
              </a:rPr>
              <a:t>Introduction </a:t>
            </a:r>
            <a:endParaRPr lang="zh-CN" altLang="en-US" dirty="0">
              <a:latin typeface="华文中宋" panose="02010600040101010101" pitchFamily="2" charset="-122"/>
              <a:ea typeface="华文中宋" panose="02010600040101010101" pitchFamily="2" charset="-122"/>
            </a:endParaRPr>
          </a:p>
        </p:txBody>
      </p:sp>
      <p:sp>
        <p:nvSpPr>
          <p:cNvPr id="13" name="矩形 12"/>
          <p:cNvSpPr/>
          <p:nvPr/>
        </p:nvSpPr>
        <p:spPr>
          <a:xfrm>
            <a:off x="5948133" y="4121189"/>
            <a:ext cx="5527587" cy="2020408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63500" sx="102000" sy="102000" algn="ctr" rotWithShape="0">
              <a:prstClr val="black">
                <a:alpha val="18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5" name="文本框 14"/>
          <p:cNvSpPr txBox="1"/>
          <p:nvPr/>
        </p:nvSpPr>
        <p:spPr>
          <a:xfrm>
            <a:off x="6080760" y="4333963"/>
            <a:ext cx="203132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400" dirty="0">
                <a:solidFill>
                  <a:schemeClr val="bg2">
                    <a:lumMod val="25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涵盖内容包括</a:t>
            </a:r>
          </a:p>
        </p:txBody>
      </p:sp>
      <p:sp>
        <p:nvSpPr>
          <p:cNvPr id="17" name="矩形 16"/>
          <p:cNvSpPr/>
          <p:nvPr/>
        </p:nvSpPr>
        <p:spPr>
          <a:xfrm>
            <a:off x="5932892" y="1707297"/>
            <a:ext cx="5527587" cy="2020408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63500" sx="102000" sy="102000" algn="ctr" rotWithShape="0">
              <a:prstClr val="black">
                <a:alpha val="18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pSp>
        <p:nvGrpSpPr>
          <p:cNvPr id="21" name="组合 20"/>
          <p:cNvGrpSpPr/>
          <p:nvPr/>
        </p:nvGrpSpPr>
        <p:grpSpPr>
          <a:xfrm rot="10800000">
            <a:off x="550718" y="5306600"/>
            <a:ext cx="847652" cy="850140"/>
            <a:chOff x="4144312" y="1707297"/>
            <a:chExt cx="958000" cy="955510"/>
          </a:xfrm>
        </p:grpSpPr>
        <p:sp>
          <p:nvSpPr>
            <p:cNvPr id="22" name="矩形 21"/>
            <p:cNvSpPr/>
            <p:nvPr/>
          </p:nvSpPr>
          <p:spPr>
            <a:xfrm>
              <a:off x="4199486" y="1707297"/>
              <a:ext cx="902826" cy="902826"/>
            </a:xfrm>
            <a:prstGeom prst="rect">
              <a:avLst/>
            </a:prstGeom>
            <a:solidFill>
              <a:schemeClr val="bg2">
                <a:lumMod val="2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3" name="矩形 22"/>
            <p:cNvSpPr/>
            <p:nvPr/>
          </p:nvSpPr>
          <p:spPr>
            <a:xfrm>
              <a:off x="4144312" y="1759981"/>
              <a:ext cx="902826" cy="90282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30" name="文本框 29"/>
          <p:cNvSpPr txBox="1"/>
          <p:nvPr/>
        </p:nvSpPr>
        <p:spPr>
          <a:xfrm>
            <a:off x="6313360" y="2155631"/>
            <a:ext cx="4766649" cy="10993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5000"/>
              </a:lnSpc>
            </a:pPr>
            <a:r>
              <a:rPr lang="en-US" altLang="zh-CN" dirty="0" err="1">
                <a:solidFill>
                  <a:schemeClr val="bg2">
                    <a:lumMod val="50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  <a:cs typeface="等线" pitchFamily="34" charset="-120"/>
              </a:rPr>
              <a:t>项目目标</a:t>
            </a:r>
            <a:r>
              <a:rPr lang="en-US" altLang="zh-CN" dirty="0" err="1">
                <a:solidFill>
                  <a:srgbClr val="111111"/>
                </a:solidFill>
                <a:latin typeface="华文中宋" panose="02010600040101010101" pitchFamily="2" charset="-122"/>
                <a:ea typeface="华文中宋" panose="02010600040101010101" pitchFamily="2" charset="-122"/>
                <a:cs typeface="等线" pitchFamily="34" charset="-120"/>
              </a:rPr>
              <a:t>是在</a:t>
            </a:r>
            <a:r>
              <a:rPr lang="en-US" altLang="zh-CN" dirty="0">
                <a:solidFill>
                  <a:srgbClr val="111111"/>
                </a:solidFill>
                <a:latin typeface="华文中宋" panose="02010600040101010101" pitchFamily="2" charset="-122"/>
                <a:ea typeface="华文中宋" panose="02010600040101010101" pitchFamily="2" charset="-122"/>
                <a:cs typeface="等线" pitchFamily="34" charset="-120"/>
              </a:rPr>
              <a:t> </a:t>
            </a:r>
            <a:r>
              <a:rPr lang="en-US" altLang="zh-CN" dirty="0">
                <a:solidFill>
                  <a:schemeClr val="bg2">
                    <a:lumMod val="50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  <a:cs typeface="等线" pitchFamily="34" charset="-120"/>
              </a:rPr>
              <a:t>RISC-V 64 </a:t>
            </a:r>
            <a:r>
              <a:rPr lang="en-US" altLang="zh-CN" dirty="0">
                <a:solidFill>
                  <a:srgbClr val="111111"/>
                </a:solidFill>
                <a:latin typeface="华文中宋" panose="02010600040101010101" pitchFamily="2" charset="-122"/>
                <a:ea typeface="华文中宋" panose="02010600040101010101" pitchFamily="2" charset="-122"/>
                <a:cs typeface="等线" pitchFamily="34" charset="-120"/>
              </a:rPr>
              <a:t>和 </a:t>
            </a:r>
            <a:r>
              <a:rPr lang="en-US" altLang="zh-CN" dirty="0" err="1">
                <a:solidFill>
                  <a:schemeClr val="bg2">
                    <a:lumMod val="50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  <a:cs typeface="等线" pitchFamily="34" charset="-120"/>
              </a:rPr>
              <a:t>LoongArch</a:t>
            </a:r>
            <a:r>
              <a:rPr lang="en-US" altLang="zh-CN" dirty="0">
                <a:solidFill>
                  <a:schemeClr val="bg2">
                    <a:lumMod val="50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  <a:cs typeface="等线" pitchFamily="34" charset="-120"/>
              </a:rPr>
              <a:t> 64 </a:t>
            </a:r>
            <a:r>
              <a:rPr lang="en-US" altLang="zh-CN" dirty="0" err="1">
                <a:solidFill>
                  <a:srgbClr val="111111"/>
                </a:solidFill>
                <a:latin typeface="华文中宋" panose="02010600040101010101" pitchFamily="2" charset="-122"/>
                <a:ea typeface="华文中宋" panose="02010600040101010101" pitchFamily="2" charset="-122"/>
                <a:cs typeface="等线" pitchFamily="34" charset="-120"/>
              </a:rPr>
              <a:t>两种指令集上提供可启动、可构建、可复现、可运行官方测试盘中用户程序的</a:t>
            </a:r>
            <a:r>
              <a:rPr lang="en-US" altLang="zh-CN" dirty="0" err="1">
                <a:solidFill>
                  <a:schemeClr val="bg2">
                    <a:lumMod val="50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  <a:cs typeface="等线" pitchFamily="34" charset="-120"/>
              </a:rPr>
              <a:t>通用内核</a:t>
            </a:r>
            <a:endParaRPr lang="zh-CN" altLang="en-US" dirty="0">
              <a:solidFill>
                <a:schemeClr val="bg2">
                  <a:lumMod val="50000"/>
                </a:schemeClr>
              </a:solidFill>
              <a:latin typeface="华文中宋" panose="02010600040101010101" pitchFamily="2" charset="-122"/>
              <a:ea typeface="华文中宋" panose="02010600040101010101" pitchFamily="2" charset="-122"/>
            </a:endParaRPr>
          </a:p>
        </p:txBody>
      </p:sp>
      <p:sp>
        <p:nvSpPr>
          <p:cNvPr id="25" name="文本框 24"/>
          <p:cNvSpPr txBox="1"/>
          <p:nvPr/>
        </p:nvSpPr>
        <p:spPr>
          <a:xfrm>
            <a:off x="7611587" y="5061086"/>
            <a:ext cx="266772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dirty="0">
                <a:solidFill>
                  <a:srgbClr val="111111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EXT4/VFS</a:t>
            </a:r>
            <a:endParaRPr lang="zh-CN" altLang="en-US" sz="3200" dirty="0">
              <a:latin typeface="华文中宋" panose="02010600040101010101" pitchFamily="2" charset="-122"/>
              <a:ea typeface="华文中宋" panose="02010600040101010101" pitchFamily="2" charset="-122"/>
            </a:endParaRPr>
          </a:p>
        </p:txBody>
      </p:sp>
      <p:sp>
        <p:nvSpPr>
          <p:cNvPr id="26" name="文本框 25"/>
          <p:cNvSpPr txBox="1"/>
          <p:nvPr/>
        </p:nvSpPr>
        <p:spPr>
          <a:xfrm>
            <a:off x="10108767" y="5122641"/>
            <a:ext cx="14157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400" dirty="0">
                <a:solidFill>
                  <a:schemeClr val="bg2">
                    <a:lumMod val="75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  <a:cs typeface="Times New Roman" panose="02020603050405020304" pitchFamily="18" charset="0"/>
              </a:rPr>
              <a:t>设备驱动</a:t>
            </a:r>
          </a:p>
        </p:txBody>
      </p:sp>
      <p:sp>
        <p:nvSpPr>
          <p:cNvPr id="27" name="文本框 26"/>
          <p:cNvSpPr txBox="1"/>
          <p:nvPr/>
        </p:nvSpPr>
        <p:spPr>
          <a:xfrm>
            <a:off x="5996952" y="5131393"/>
            <a:ext cx="14157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400" dirty="0">
                <a:solidFill>
                  <a:schemeClr val="bg2">
                    <a:lumMod val="75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虚拟内存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AAFC065F-04B4-E9DF-17D7-C8848EA8E421}"/>
              </a:ext>
            </a:extLst>
          </p:cNvPr>
          <p:cNvSpPr txBox="1"/>
          <p:nvPr/>
        </p:nvSpPr>
        <p:spPr>
          <a:xfrm>
            <a:off x="818282" y="2425431"/>
            <a:ext cx="4463517" cy="32694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en-US" sz="2000" dirty="0">
                <a:solidFill>
                  <a:schemeClr val="bg2">
                    <a:lumMod val="10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WHUSP </a:t>
            </a:r>
            <a:r>
              <a:rPr lang="zh-CN" altLang="en-US" sz="2000" dirty="0">
                <a:solidFill>
                  <a:schemeClr val="bg2">
                    <a:lumMod val="10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是武汉大学 最后一次入门</a:t>
            </a:r>
            <a:r>
              <a:rPr lang="en-US" altLang="zh-CN" sz="2000" dirty="0">
                <a:solidFill>
                  <a:schemeClr val="bg2">
                    <a:lumMod val="10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RUST </a:t>
            </a:r>
            <a:r>
              <a:rPr lang="zh-CN" altLang="en-US" sz="2000" dirty="0">
                <a:solidFill>
                  <a:schemeClr val="bg2">
                    <a:lumMod val="10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队开发的 </a:t>
            </a:r>
            <a:r>
              <a:rPr lang="en-US" altLang="en-US" sz="2000" dirty="0">
                <a:solidFill>
                  <a:schemeClr val="bg2">
                    <a:lumMod val="50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Rust </a:t>
            </a:r>
            <a:r>
              <a:rPr lang="zh-CN" altLang="en-US" sz="2000" dirty="0">
                <a:solidFill>
                  <a:schemeClr val="bg2">
                    <a:lumMod val="50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宏内核</a:t>
            </a:r>
            <a:r>
              <a:rPr lang="zh-CN" altLang="en-US" sz="2000" dirty="0">
                <a:solidFill>
                  <a:schemeClr val="bg2">
                    <a:lumMod val="10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，支持 </a:t>
            </a:r>
            <a:r>
              <a:rPr lang="en-US" altLang="en-US" sz="2000" dirty="0">
                <a:solidFill>
                  <a:schemeClr val="bg2">
                    <a:lumMod val="10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RISC-V 64 </a:t>
            </a:r>
            <a:r>
              <a:rPr lang="zh-CN" altLang="en-US" sz="2000" dirty="0">
                <a:solidFill>
                  <a:schemeClr val="bg2">
                    <a:lumMod val="10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与 </a:t>
            </a:r>
            <a:r>
              <a:rPr lang="en-US" altLang="en-US" sz="2000" dirty="0">
                <a:solidFill>
                  <a:schemeClr val="bg2">
                    <a:lumMod val="10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LoongArch 64 </a:t>
            </a:r>
            <a:r>
              <a:rPr lang="zh-CN" altLang="en-US" sz="2000" dirty="0">
                <a:solidFill>
                  <a:schemeClr val="bg2">
                    <a:lumMod val="50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双架构</a:t>
            </a:r>
            <a:r>
              <a:rPr lang="zh-CN" altLang="en-US" sz="2000" dirty="0">
                <a:solidFill>
                  <a:schemeClr val="bg2">
                    <a:lumMod val="10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，能够运行基于 </a:t>
            </a:r>
            <a:r>
              <a:rPr lang="en-US" altLang="en-US" sz="2000" dirty="0">
                <a:solidFill>
                  <a:schemeClr val="bg2">
                    <a:lumMod val="10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Linux ABI </a:t>
            </a:r>
            <a:r>
              <a:rPr lang="zh-CN" altLang="en-US" sz="2000" dirty="0">
                <a:solidFill>
                  <a:schemeClr val="bg2">
                    <a:lumMod val="10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的真实用户程序，并具备进程调度、虚拟内存、文件系统、网络与信号处理等核心能力。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250">
        <p159:morph option="byObject"/>
      </p:transition>
    </mc:Choice>
    <mc:Fallback xmlns="">
      <p:transition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组合 19"/>
          <p:cNvGrpSpPr/>
          <p:nvPr/>
        </p:nvGrpSpPr>
        <p:grpSpPr>
          <a:xfrm>
            <a:off x="4426527" y="1759982"/>
            <a:ext cx="847652" cy="850140"/>
            <a:chOff x="4144312" y="1707297"/>
            <a:chExt cx="958000" cy="955510"/>
          </a:xfrm>
        </p:grpSpPr>
        <p:sp>
          <p:nvSpPr>
            <p:cNvPr id="18" name="矩形 17"/>
            <p:cNvSpPr/>
            <p:nvPr/>
          </p:nvSpPr>
          <p:spPr>
            <a:xfrm>
              <a:off x="4199486" y="1707297"/>
              <a:ext cx="902826" cy="902826"/>
            </a:xfrm>
            <a:prstGeom prst="rect">
              <a:avLst/>
            </a:prstGeom>
            <a:solidFill>
              <a:schemeClr val="bg2">
                <a:lumMod val="2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9" name="矩形 18"/>
            <p:cNvSpPr/>
            <p:nvPr/>
          </p:nvSpPr>
          <p:spPr>
            <a:xfrm>
              <a:off x="4144312" y="1759981"/>
              <a:ext cx="902826" cy="90282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</p:grpSp>
      <p:sp>
        <p:nvSpPr>
          <p:cNvPr id="3" name="Text 1"/>
          <p:cNvSpPr/>
          <p:nvPr/>
        </p:nvSpPr>
        <p:spPr>
          <a:xfrm>
            <a:off x="685800" y="3406556"/>
            <a:ext cx="10789920" cy="658368"/>
          </a:xfrm>
          <a:prstGeom prst="rect">
            <a:avLst/>
          </a:prstGeom>
          <a:noFill/>
        </p:spPr>
        <p:txBody>
          <a:bodyPr wrap="square" lIns="381" tIns="381" rIns="381" bIns="381" rtlCol="0" anchor="t"/>
          <a:lstStyle/>
          <a:p>
            <a:pPr marL="0" indent="0">
              <a:buNone/>
            </a:pPr>
            <a:endParaRPr lang="en-US" sz="1550" dirty="0"/>
          </a:p>
        </p:txBody>
      </p:sp>
      <p:sp>
        <p:nvSpPr>
          <p:cNvPr id="4" name="Text 2"/>
          <p:cNvSpPr/>
          <p:nvPr/>
        </p:nvSpPr>
        <p:spPr>
          <a:xfrm>
            <a:off x="13136880" y="2175979"/>
            <a:ext cx="10789920" cy="658368"/>
          </a:xfrm>
          <a:prstGeom prst="rect">
            <a:avLst/>
          </a:prstGeom>
          <a:noFill/>
        </p:spPr>
        <p:txBody>
          <a:bodyPr wrap="square" lIns="381" tIns="381" rIns="381" bIns="381" rtlCol="0" anchor="t"/>
          <a:lstStyle/>
          <a:p>
            <a:pPr marL="0" indent="0">
              <a:buNone/>
            </a:pPr>
            <a:r>
              <a:rPr lang="en-US" sz="1550" dirty="0">
                <a:solidFill>
                  <a:srgbClr val="111111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项目目标是在 RISC-V 64 和 LoongArch 64 两种指令集上提供可启动、可构建、可复现、可运行官方测试盘中用户程序的通用内核。</a:t>
            </a:r>
            <a:endParaRPr lang="en-US" sz="1550" dirty="0"/>
          </a:p>
        </p:txBody>
      </p:sp>
      <p:sp>
        <p:nvSpPr>
          <p:cNvPr id="5" name="Text 3"/>
          <p:cNvSpPr/>
          <p:nvPr/>
        </p:nvSpPr>
        <p:spPr>
          <a:xfrm>
            <a:off x="13136880" y="2925787"/>
            <a:ext cx="10789920" cy="658368"/>
          </a:xfrm>
          <a:prstGeom prst="rect">
            <a:avLst/>
          </a:prstGeom>
          <a:noFill/>
        </p:spPr>
        <p:txBody>
          <a:bodyPr wrap="square" lIns="381" tIns="381" rIns="381" bIns="381" rtlCol="0" anchor="t"/>
          <a:lstStyle/>
          <a:p>
            <a:pPr marL="0" indent="0">
              <a:buNone/>
            </a:pPr>
            <a:r>
              <a:rPr lang="en-US" sz="1550" dirty="0">
                <a:solidFill>
                  <a:srgbClr val="111111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当前内核覆盖启动、Trap、上下文切换、任务调度、虚拟内存、EXT4/VFS、设备驱动、信号、futex、socket 与 Linux generic syscall ABI。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13136880" y="3675595"/>
            <a:ext cx="10789920" cy="658368"/>
          </a:xfrm>
          <a:prstGeom prst="rect">
            <a:avLst/>
          </a:prstGeom>
          <a:noFill/>
        </p:spPr>
        <p:txBody>
          <a:bodyPr wrap="square" lIns="381" tIns="381" rIns="381" bIns="381" rtlCol="0" anchor="t"/>
          <a:lstStyle/>
          <a:p>
            <a:pPr marL="0" indent="0">
              <a:buNone/>
            </a:pPr>
            <a:r>
              <a:rPr lang="en-US" sz="1550" dirty="0">
                <a:solidFill>
                  <a:srgbClr val="111111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我们把竞赛脚本编排放在 host 侧生成的脚本盘中，内核只提供通用对象和通用语义，避免识别测例、文件名或字符串后返回伪造结果。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13136880" y="4535131"/>
            <a:ext cx="10424160" cy="475488"/>
          </a:xfrm>
          <a:prstGeom prst="rect">
            <a:avLst/>
          </a:prstGeom>
          <a:noFill/>
        </p:spPr>
        <p:txBody>
          <a:bodyPr wrap="square" lIns="381" tIns="381" rIns="381" bIns="381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111111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核心判断标准：能否用同一套内核机制稳定跑完公开测试，能否从日志、源码和构建入口复现结果。</a:t>
            </a:r>
            <a:endParaRPr lang="en-US" sz="1550" dirty="0"/>
          </a:p>
        </p:txBody>
      </p:sp>
      <p:cxnSp>
        <p:nvCxnSpPr>
          <p:cNvPr id="8" name="直接连接符 7"/>
          <p:cNvCxnSpPr/>
          <p:nvPr/>
        </p:nvCxnSpPr>
        <p:spPr>
          <a:xfrm>
            <a:off x="519545" y="1039091"/>
            <a:ext cx="7813964" cy="0"/>
          </a:xfrm>
          <a:prstGeom prst="line">
            <a:avLst/>
          </a:prstGeom>
          <a:ln w="38100">
            <a:solidFill>
              <a:schemeClr val="bg2">
                <a:lumMod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 8"/>
          <p:cNvSpPr/>
          <p:nvPr/>
        </p:nvSpPr>
        <p:spPr>
          <a:xfrm>
            <a:off x="11641282" y="342901"/>
            <a:ext cx="259773" cy="581891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文本框 9"/>
          <p:cNvSpPr txBox="1"/>
          <p:nvPr/>
        </p:nvSpPr>
        <p:spPr>
          <a:xfrm>
            <a:off x="550718" y="155351"/>
            <a:ext cx="2441694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4400" dirty="0">
                <a:latin typeface="华文中宋" panose="02010600040101010101" pitchFamily="2" charset="-122"/>
                <a:ea typeface="华文中宋" panose="02010600040101010101" pitchFamily="2" charset="-122"/>
              </a:rPr>
              <a:t>项目介绍</a:t>
            </a:r>
          </a:p>
        </p:txBody>
      </p:sp>
      <p:sp>
        <p:nvSpPr>
          <p:cNvPr id="11" name="文本框 10"/>
          <p:cNvSpPr txBox="1"/>
          <p:nvPr/>
        </p:nvSpPr>
        <p:spPr>
          <a:xfrm>
            <a:off x="687774" y="1153391"/>
            <a:ext cx="20901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华文中宋" panose="02010600040101010101" pitchFamily="2" charset="-122"/>
                <a:ea typeface="华文中宋" panose="02010600040101010101" pitchFamily="2" charset="-122"/>
              </a:rPr>
              <a:t>Introduction </a:t>
            </a:r>
            <a:endParaRPr lang="zh-CN" altLang="en-US" dirty="0">
              <a:latin typeface="华文中宋" panose="02010600040101010101" pitchFamily="2" charset="-122"/>
              <a:ea typeface="华文中宋" panose="02010600040101010101" pitchFamily="2" charset="-122"/>
            </a:endParaRPr>
          </a:p>
        </p:txBody>
      </p:sp>
      <p:sp>
        <p:nvSpPr>
          <p:cNvPr id="13" name="矩形 12"/>
          <p:cNvSpPr/>
          <p:nvPr/>
        </p:nvSpPr>
        <p:spPr>
          <a:xfrm>
            <a:off x="5948133" y="4121189"/>
            <a:ext cx="5527587" cy="2020408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63500" sx="102000" sy="102000" algn="ctr" rotWithShape="0">
              <a:prstClr val="black">
                <a:alpha val="18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5" name="文本框 14"/>
          <p:cNvSpPr txBox="1"/>
          <p:nvPr/>
        </p:nvSpPr>
        <p:spPr>
          <a:xfrm>
            <a:off x="6080760" y="4333963"/>
            <a:ext cx="203132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400" dirty="0">
                <a:solidFill>
                  <a:schemeClr val="bg2">
                    <a:lumMod val="25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涵盖内容包括</a:t>
            </a:r>
          </a:p>
        </p:txBody>
      </p:sp>
      <p:sp>
        <p:nvSpPr>
          <p:cNvPr id="17" name="矩形 16"/>
          <p:cNvSpPr/>
          <p:nvPr/>
        </p:nvSpPr>
        <p:spPr>
          <a:xfrm>
            <a:off x="5932892" y="1707297"/>
            <a:ext cx="5527587" cy="2020408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63500" sx="102000" sy="102000" algn="ctr" rotWithShape="0">
              <a:prstClr val="black">
                <a:alpha val="18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pSp>
        <p:nvGrpSpPr>
          <p:cNvPr id="21" name="组合 20"/>
          <p:cNvGrpSpPr/>
          <p:nvPr/>
        </p:nvGrpSpPr>
        <p:grpSpPr>
          <a:xfrm rot="10800000">
            <a:off x="550718" y="5306600"/>
            <a:ext cx="847652" cy="850140"/>
            <a:chOff x="4144312" y="1707297"/>
            <a:chExt cx="958000" cy="955510"/>
          </a:xfrm>
        </p:grpSpPr>
        <p:sp>
          <p:nvSpPr>
            <p:cNvPr id="22" name="矩形 21"/>
            <p:cNvSpPr/>
            <p:nvPr/>
          </p:nvSpPr>
          <p:spPr>
            <a:xfrm>
              <a:off x="4199486" y="1707297"/>
              <a:ext cx="902826" cy="902826"/>
            </a:xfrm>
            <a:prstGeom prst="rect">
              <a:avLst/>
            </a:prstGeom>
            <a:solidFill>
              <a:schemeClr val="bg2">
                <a:lumMod val="2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3" name="矩形 22"/>
            <p:cNvSpPr/>
            <p:nvPr/>
          </p:nvSpPr>
          <p:spPr>
            <a:xfrm>
              <a:off x="4144312" y="1759981"/>
              <a:ext cx="902826" cy="90282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30" name="文本框 29"/>
          <p:cNvSpPr txBox="1"/>
          <p:nvPr/>
        </p:nvSpPr>
        <p:spPr>
          <a:xfrm>
            <a:off x="6313360" y="2155631"/>
            <a:ext cx="4766649" cy="10993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5000"/>
              </a:lnSpc>
            </a:pPr>
            <a:r>
              <a:rPr lang="en-US" altLang="zh-CN" dirty="0" err="1">
                <a:solidFill>
                  <a:schemeClr val="bg2">
                    <a:lumMod val="50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  <a:cs typeface="等线" pitchFamily="34" charset="-120"/>
              </a:rPr>
              <a:t>项目目标</a:t>
            </a:r>
            <a:r>
              <a:rPr lang="en-US" altLang="zh-CN" dirty="0" err="1">
                <a:solidFill>
                  <a:srgbClr val="111111"/>
                </a:solidFill>
                <a:latin typeface="华文中宋" panose="02010600040101010101" pitchFamily="2" charset="-122"/>
                <a:ea typeface="华文中宋" panose="02010600040101010101" pitchFamily="2" charset="-122"/>
                <a:cs typeface="等线" pitchFamily="34" charset="-120"/>
              </a:rPr>
              <a:t>是在</a:t>
            </a:r>
            <a:r>
              <a:rPr lang="en-US" altLang="zh-CN" dirty="0">
                <a:solidFill>
                  <a:srgbClr val="111111"/>
                </a:solidFill>
                <a:latin typeface="华文中宋" panose="02010600040101010101" pitchFamily="2" charset="-122"/>
                <a:ea typeface="华文中宋" panose="02010600040101010101" pitchFamily="2" charset="-122"/>
                <a:cs typeface="等线" pitchFamily="34" charset="-120"/>
              </a:rPr>
              <a:t> </a:t>
            </a:r>
            <a:r>
              <a:rPr lang="en-US" altLang="zh-CN" dirty="0">
                <a:solidFill>
                  <a:schemeClr val="bg2">
                    <a:lumMod val="50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  <a:cs typeface="等线" pitchFamily="34" charset="-120"/>
              </a:rPr>
              <a:t>RISC-V 64 </a:t>
            </a:r>
            <a:r>
              <a:rPr lang="en-US" altLang="zh-CN" dirty="0">
                <a:solidFill>
                  <a:srgbClr val="111111"/>
                </a:solidFill>
                <a:latin typeface="华文中宋" panose="02010600040101010101" pitchFamily="2" charset="-122"/>
                <a:ea typeface="华文中宋" panose="02010600040101010101" pitchFamily="2" charset="-122"/>
                <a:cs typeface="等线" pitchFamily="34" charset="-120"/>
              </a:rPr>
              <a:t>和 </a:t>
            </a:r>
            <a:r>
              <a:rPr lang="en-US" altLang="zh-CN" dirty="0" err="1">
                <a:solidFill>
                  <a:schemeClr val="bg2">
                    <a:lumMod val="50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  <a:cs typeface="等线" pitchFamily="34" charset="-120"/>
              </a:rPr>
              <a:t>LoongArch</a:t>
            </a:r>
            <a:r>
              <a:rPr lang="en-US" altLang="zh-CN" dirty="0">
                <a:solidFill>
                  <a:schemeClr val="bg2">
                    <a:lumMod val="50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  <a:cs typeface="等线" pitchFamily="34" charset="-120"/>
              </a:rPr>
              <a:t> 64 </a:t>
            </a:r>
            <a:r>
              <a:rPr lang="en-US" altLang="zh-CN" dirty="0" err="1">
                <a:solidFill>
                  <a:srgbClr val="111111"/>
                </a:solidFill>
                <a:latin typeface="华文中宋" panose="02010600040101010101" pitchFamily="2" charset="-122"/>
                <a:ea typeface="华文中宋" panose="02010600040101010101" pitchFamily="2" charset="-122"/>
                <a:cs typeface="等线" pitchFamily="34" charset="-120"/>
              </a:rPr>
              <a:t>两种指令集上提供可启动、可构建、可复现、可运行官方测试盘中用户程序的</a:t>
            </a:r>
            <a:r>
              <a:rPr lang="en-US" altLang="zh-CN" dirty="0" err="1">
                <a:solidFill>
                  <a:schemeClr val="bg2">
                    <a:lumMod val="50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  <a:cs typeface="等线" pitchFamily="34" charset="-120"/>
              </a:rPr>
              <a:t>通用内核</a:t>
            </a:r>
            <a:endParaRPr lang="zh-CN" altLang="en-US" dirty="0">
              <a:solidFill>
                <a:schemeClr val="bg2">
                  <a:lumMod val="50000"/>
                </a:schemeClr>
              </a:solidFill>
              <a:latin typeface="华文中宋" panose="02010600040101010101" pitchFamily="2" charset="-122"/>
              <a:ea typeface="华文中宋" panose="02010600040101010101" pitchFamily="2" charset="-122"/>
            </a:endParaRPr>
          </a:p>
        </p:txBody>
      </p:sp>
      <p:sp>
        <p:nvSpPr>
          <p:cNvPr id="25" name="文本框 24"/>
          <p:cNvSpPr txBox="1"/>
          <p:nvPr/>
        </p:nvSpPr>
        <p:spPr>
          <a:xfrm>
            <a:off x="7932118" y="5041017"/>
            <a:ext cx="217664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3200" dirty="0">
                <a:solidFill>
                  <a:srgbClr val="111111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设备驱动</a:t>
            </a:r>
            <a:endParaRPr lang="zh-CN" altLang="en-US" sz="3200" dirty="0">
              <a:latin typeface="华文中宋" panose="02010600040101010101" pitchFamily="2" charset="-122"/>
              <a:ea typeface="华文中宋" panose="02010600040101010101" pitchFamily="2" charset="-122"/>
            </a:endParaRPr>
          </a:p>
        </p:txBody>
      </p:sp>
      <p:sp>
        <p:nvSpPr>
          <p:cNvPr id="26" name="文本框 25"/>
          <p:cNvSpPr txBox="1"/>
          <p:nvPr/>
        </p:nvSpPr>
        <p:spPr>
          <a:xfrm>
            <a:off x="9992024" y="5131393"/>
            <a:ext cx="80021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400" dirty="0">
                <a:solidFill>
                  <a:schemeClr val="bg2">
                    <a:lumMod val="75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  <a:cs typeface="Times New Roman" panose="02020603050405020304" pitchFamily="18" charset="0"/>
              </a:rPr>
              <a:t>信号</a:t>
            </a:r>
          </a:p>
        </p:txBody>
      </p:sp>
      <p:sp>
        <p:nvSpPr>
          <p:cNvPr id="27" name="文本框 26"/>
          <p:cNvSpPr txBox="1"/>
          <p:nvPr/>
        </p:nvSpPr>
        <p:spPr>
          <a:xfrm>
            <a:off x="5996952" y="5131393"/>
            <a:ext cx="180850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dirty="0">
                <a:solidFill>
                  <a:schemeClr val="bg2">
                    <a:lumMod val="75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EXT4/VFS</a:t>
            </a:r>
            <a:endParaRPr lang="zh-CN" altLang="en-US" sz="2400" dirty="0">
              <a:solidFill>
                <a:schemeClr val="bg2">
                  <a:lumMod val="75000"/>
                </a:schemeClr>
              </a:solidFill>
              <a:latin typeface="华文中宋" panose="02010600040101010101" pitchFamily="2" charset="-122"/>
              <a:ea typeface="华文中宋" panose="02010600040101010101" pitchFamily="2" charset="-122"/>
            </a:endParaRP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1CB77A13-B4EC-9C93-39A2-E1D6F016FBA9}"/>
              </a:ext>
            </a:extLst>
          </p:cNvPr>
          <p:cNvSpPr txBox="1"/>
          <p:nvPr/>
        </p:nvSpPr>
        <p:spPr>
          <a:xfrm>
            <a:off x="818282" y="2425431"/>
            <a:ext cx="4463517" cy="32694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en-US" sz="2000" dirty="0">
                <a:solidFill>
                  <a:schemeClr val="bg2">
                    <a:lumMod val="10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WHUSP </a:t>
            </a:r>
            <a:r>
              <a:rPr lang="zh-CN" altLang="en-US" sz="2000" dirty="0">
                <a:solidFill>
                  <a:schemeClr val="bg2">
                    <a:lumMod val="10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是武汉大学 最后一次入门</a:t>
            </a:r>
            <a:r>
              <a:rPr lang="en-US" altLang="zh-CN" sz="2000" dirty="0">
                <a:solidFill>
                  <a:schemeClr val="bg2">
                    <a:lumMod val="10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RUST </a:t>
            </a:r>
            <a:r>
              <a:rPr lang="zh-CN" altLang="en-US" sz="2000" dirty="0">
                <a:solidFill>
                  <a:schemeClr val="bg2">
                    <a:lumMod val="10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队开发的 </a:t>
            </a:r>
            <a:r>
              <a:rPr lang="en-US" altLang="en-US" sz="2000" dirty="0">
                <a:solidFill>
                  <a:schemeClr val="bg2">
                    <a:lumMod val="50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Rust </a:t>
            </a:r>
            <a:r>
              <a:rPr lang="zh-CN" altLang="en-US" sz="2000" dirty="0">
                <a:solidFill>
                  <a:schemeClr val="bg2">
                    <a:lumMod val="50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宏内核</a:t>
            </a:r>
            <a:r>
              <a:rPr lang="zh-CN" altLang="en-US" sz="2000" dirty="0">
                <a:solidFill>
                  <a:schemeClr val="bg2">
                    <a:lumMod val="10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，支持 </a:t>
            </a:r>
            <a:r>
              <a:rPr lang="en-US" altLang="en-US" sz="2000" dirty="0">
                <a:solidFill>
                  <a:schemeClr val="bg2">
                    <a:lumMod val="10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RISC-V 64 </a:t>
            </a:r>
            <a:r>
              <a:rPr lang="zh-CN" altLang="en-US" sz="2000" dirty="0">
                <a:solidFill>
                  <a:schemeClr val="bg2">
                    <a:lumMod val="10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与 </a:t>
            </a:r>
            <a:r>
              <a:rPr lang="en-US" altLang="en-US" sz="2000" dirty="0">
                <a:solidFill>
                  <a:schemeClr val="bg2">
                    <a:lumMod val="10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LoongArch 64 </a:t>
            </a:r>
            <a:r>
              <a:rPr lang="zh-CN" altLang="en-US" sz="2000" dirty="0">
                <a:solidFill>
                  <a:schemeClr val="bg2">
                    <a:lumMod val="50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双架构</a:t>
            </a:r>
            <a:r>
              <a:rPr lang="zh-CN" altLang="en-US" sz="2000" dirty="0">
                <a:solidFill>
                  <a:schemeClr val="bg2">
                    <a:lumMod val="10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，能够运行基于 </a:t>
            </a:r>
            <a:r>
              <a:rPr lang="en-US" altLang="en-US" sz="2000" dirty="0">
                <a:solidFill>
                  <a:schemeClr val="bg2">
                    <a:lumMod val="10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Linux ABI </a:t>
            </a:r>
            <a:r>
              <a:rPr lang="zh-CN" altLang="en-US" sz="2000" dirty="0">
                <a:solidFill>
                  <a:schemeClr val="bg2">
                    <a:lumMod val="10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的真实用户程序，并具备进程调度、虚拟内存、文件系统、网络与信号处理等核心能力。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250">
        <p159:morph option="byObject"/>
      </p:transition>
    </mc:Choice>
    <mc:Fallback xmlns="">
      <p:transition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组合 19"/>
          <p:cNvGrpSpPr/>
          <p:nvPr/>
        </p:nvGrpSpPr>
        <p:grpSpPr>
          <a:xfrm>
            <a:off x="4426527" y="1759982"/>
            <a:ext cx="847652" cy="850140"/>
            <a:chOff x="4144312" y="1707297"/>
            <a:chExt cx="958000" cy="955510"/>
          </a:xfrm>
        </p:grpSpPr>
        <p:sp>
          <p:nvSpPr>
            <p:cNvPr id="18" name="矩形 17"/>
            <p:cNvSpPr/>
            <p:nvPr/>
          </p:nvSpPr>
          <p:spPr>
            <a:xfrm>
              <a:off x="4199486" y="1707297"/>
              <a:ext cx="902826" cy="902826"/>
            </a:xfrm>
            <a:prstGeom prst="rect">
              <a:avLst/>
            </a:prstGeom>
            <a:solidFill>
              <a:schemeClr val="bg2">
                <a:lumMod val="2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9" name="矩形 18"/>
            <p:cNvSpPr/>
            <p:nvPr/>
          </p:nvSpPr>
          <p:spPr>
            <a:xfrm>
              <a:off x="4144312" y="1759981"/>
              <a:ext cx="902826" cy="90282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</p:grpSp>
      <p:sp>
        <p:nvSpPr>
          <p:cNvPr id="3" name="Text 1"/>
          <p:cNvSpPr/>
          <p:nvPr/>
        </p:nvSpPr>
        <p:spPr>
          <a:xfrm>
            <a:off x="685800" y="3406556"/>
            <a:ext cx="10789920" cy="658368"/>
          </a:xfrm>
          <a:prstGeom prst="rect">
            <a:avLst/>
          </a:prstGeom>
          <a:noFill/>
        </p:spPr>
        <p:txBody>
          <a:bodyPr wrap="square" lIns="381" tIns="381" rIns="381" bIns="381" rtlCol="0" anchor="t"/>
          <a:lstStyle/>
          <a:p>
            <a:pPr marL="0" indent="0">
              <a:buNone/>
            </a:pPr>
            <a:endParaRPr lang="en-US" sz="1550" dirty="0"/>
          </a:p>
        </p:txBody>
      </p:sp>
      <p:sp>
        <p:nvSpPr>
          <p:cNvPr id="4" name="Text 2"/>
          <p:cNvSpPr/>
          <p:nvPr/>
        </p:nvSpPr>
        <p:spPr>
          <a:xfrm>
            <a:off x="13136880" y="2175979"/>
            <a:ext cx="10789920" cy="658368"/>
          </a:xfrm>
          <a:prstGeom prst="rect">
            <a:avLst/>
          </a:prstGeom>
          <a:noFill/>
        </p:spPr>
        <p:txBody>
          <a:bodyPr wrap="square" lIns="381" tIns="381" rIns="381" bIns="381" rtlCol="0" anchor="t"/>
          <a:lstStyle/>
          <a:p>
            <a:pPr marL="0" indent="0">
              <a:buNone/>
            </a:pPr>
            <a:r>
              <a:rPr lang="en-US" sz="1550" dirty="0">
                <a:solidFill>
                  <a:srgbClr val="111111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项目目标是在 RISC-V 64 和 LoongArch 64 两种指令集上提供可启动、可构建、可复现、可运行官方测试盘中用户程序的通用内核。</a:t>
            </a:r>
            <a:endParaRPr lang="en-US" sz="1550" dirty="0"/>
          </a:p>
        </p:txBody>
      </p:sp>
      <p:sp>
        <p:nvSpPr>
          <p:cNvPr id="5" name="Text 3"/>
          <p:cNvSpPr/>
          <p:nvPr/>
        </p:nvSpPr>
        <p:spPr>
          <a:xfrm>
            <a:off x="13136880" y="2925787"/>
            <a:ext cx="10789920" cy="658368"/>
          </a:xfrm>
          <a:prstGeom prst="rect">
            <a:avLst/>
          </a:prstGeom>
          <a:noFill/>
        </p:spPr>
        <p:txBody>
          <a:bodyPr wrap="square" lIns="381" tIns="381" rIns="381" bIns="381" rtlCol="0" anchor="t"/>
          <a:lstStyle/>
          <a:p>
            <a:pPr marL="0" indent="0">
              <a:buNone/>
            </a:pPr>
            <a:r>
              <a:rPr lang="en-US" sz="1550" dirty="0">
                <a:solidFill>
                  <a:srgbClr val="111111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当前内核覆盖启动、Trap、上下文切换、任务调度、虚拟内存、EXT4/VFS、设备驱动、信号、futex、socket 与 Linux generic syscall ABI。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13136880" y="3675595"/>
            <a:ext cx="10789920" cy="658368"/>
          </a:xfrm>
          <a:prstGeom prst="rect">
            <a:avLst/>
          </a:prstGeom>
          <a:noFill/>
        </p:spPr>
        <p:txBody>
          <a:bodyPr wrap="square" lIns="381" tIns="381" rIns="381" bIns="381" rtlCol="0" anchor="t"/>
          <a:lstStyle/>
          <a:p>
            <a:pPr marL="0" indent="0">
              <a:buNone/>
            </a:pPr>
            <a:r>
              <a:rPr lang="en-US" sz="1550" dirty="0">
                <a:solidFill>
                  <a:srgbClr val="111111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我们把竞赛脚本编排放在 host 侧生成的脚本盘中，内核只提供通用对象和通用语义，避免识别测例、文件名或字符串后返回伪造结果。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13136880" y="4535131"/>
            <a:ext cx="10424160" cy="475488"/>
          </a:xfrm>
          <a:prstGeom prst="rect">
            <a:avLst/>
          </a:prstGeom>
          <a:noFill/>
        </p:spPr>
        <p:txBody>
          <a:bodyPr wrap="square" lIns="381" tIns="381" rIns="381" bIns="381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111111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核心判断标准：能否用同一套内核机制稳定跑完公开测试，能否从日志、源码和构建入口复现结果。</a:t>
            </a:r>
            <a:endParaRPr lang="en-US" sz="1550" dirty="0"/>
          </a:p>
        </p:txBody>
      </p:sp>
      <p:cxnSp>
        <p:nvCxnSpPr>
          <p:cNvPr id="8" name="直接连接符 7"/>
          <p:cNvCxnSpPr/>
          <p:nvPr/>
        </p:nvCxnSpPr>
        <p:spPr>
          <a:xfrm>
            <a:off x="519545" y="1039091"/>
            <a:ext cx="7813964" cy="0"/>
          </a:xfrm>
          <a:prstGeom prst="line">
            <a:avLst/>
          </a:prstGeom>
          <a:ln w="38100">
            <a:solidFill>
              <a:schemeClr val="bg2">
                <a:lumMod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 8"/>
          <p:cNvSpPr/>
          <p:nvPr/>
        </p:nvSpPr>
        <p:spPr>
          <a:xfrm>
            <a:off x="11641282" y="342901"/>
            <a:ext cx="259773" cy="581891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文本框 9"/>
          <p:cNvSpPr txBox="1"/>
          <p:nvPr/>
        </p:nvSpPr>
        <p:spPr>
          <a:xfrm>
            <a:off x="550718" y="155351"/>
            <a:ext cx="2441694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4400" dirty="0">
                <a:latin typeface="华文中宋" panose="02010600040101010101" pitchFamily="2" charset="-122"/>
                <a:ea typeface="华文中宋" panose="02010600040101010101" pitchFamily="2" charset="-122"/>
              </a:rPr>
              <a:t>项目介绍</a:t>
            </a:r>
          </a:p>
        </p:txBody>
      </p:sp>
      <p:sp>
        <p:nvSpPr>
          <p:cNvPr id="11" name="文本框 10"/>
          <p:cNvSpPr txBox="1"/>
          <p:nvPr/>
        </p:nvSpPr>
        <p:spPr>
          <a:xfrm>
            <a:off x="687774" y="1153391"/>
            <a:ext cx="20901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华文中宋" panose="02010600040101010101" pitchFamily="2" charset="-122"/>
                <a:ea typeface="华文中宋" panose="02010600040101010101" pitchFamily="2" charset="-122"/>
              </a:rPr>
              <a:t>Introduction </a:t>
            </a:r>
            <a:endParaRPr lang="zh-CN" altLang="en-US" dirty="0">
              <a:latin typeface="华文中宋" panose="02010600040101010101" pitchFamily="2" charset="-122"/>
              <a:ea typeface="华文中宋" panose="02010600040101010101" pitchFamily="2" charset="-122"/>
            </a:endParaRPr>
          </a:p>
        </p:txBody>
      </p:sp>
      <p:sp>
        <p:nvSpPr>
          <p:cNvPr id="13" name="矩形 12"/>
          <p:cNvSpPr/>
          <p:nvPr/>
        </p:nvSpPr>
        <p:spPr>
          <a:xfrm>
            <a:off x="5948133" y="4121189"/>
            <a:ext cx="5527587" cy="2020408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63500" sx="102000" sy="102000" algn="ctr" rotWithShape="0">
              <a:prstClr val="black">
                <a:alpha val="18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5" name="文本框 14"/>
          <p:cNvSpPr txBox="1"/>
          <p:nvPr/>
        </p:nvSpPr>
        <p:spPr>
          <a:xfrm>
            <a:off x="6080760" y="4333963"/>
            <a:ext cx="203132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400" dirty="0">
                <a:solidFill>
                  <a:schemeClr val="bg2">
                    <a:lumMod val="25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涵盖内容包括</a:t>
            </a:r>
          </a:p>
        </p:txBody>
      </p:sp>
      <p:sp>
        <p:nvSpPr>
          <p:cNvPr id="17" name="矩形 16"/>
          <p:cNvSpPr/>
          <p:nvPr/>
        </p:nvSpPr>
        <p:spPr>
          <a:xfrm>
            <a:off x="5932892" y="1707297"/>
            <a:ext cx="5527587" cy="2020408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63500" sx="102000" sy="102000" algn="ctr" rotWithShape="0">
              <a:prstClr val="black">
                <a:alpha val="18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pSp>
        <p:nvGrpSpPr>
          <p:cNvPr id="21" name="组合 20"/>
          <p:cNvGrpSpPr/>
          <p:nvPr/>
        </p:nvGrpSpPr>
        <p:grpSpPr>
          <a:xfrm rot="10800000">
            <a:off x="550718" y="5306600"/>
            <a:ext cx="847652" cy="850140"/>
            <a:chOff x="4144312" y="1707297"/>
            <a:chExt cx="958000" cy="955510"/>
          </a:xfrm>
        </p:grpSpPr>
        <p:sp>
          <p:nvSpPr>
            <p:cNvPr id="22" name="矩形 21"/>
            <p:cNvSpPr/>
            <p:nvPr/>
          </p:nvSpPr>
          <p:spPr>
            <a:xfrm>
              <a:off x="4199486" y="1707297"/>
              <a:ext cx="902826" cy="902826"/>
            </a:xfrm>
            <a:prstGeom prst="rect">
              <a:avLst/>
            </a:prstGeom>
            <a:solidFill>
              <a:schemeClr val="bg2">
                <a:lumMod val="2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3" name="矩形 22"/>
            <p:cNvSpPr/>
            <p:nvPr/>
          </p:nvSpPr>
          <p:spPr>
            <a:xfrm>
              <a:off x="4144312" y="1759981"/>
              <a:ext cx="902826" cy="90282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30" name="文本框 29"/>
          <p:cNvSpPr txBox="1"/>
          <p:nvPr/>
        </p:nvSpPr>
        <p:spPr>
          <a:xfrm>
            <a:off x="6313360" y="2155631"/>
            <a:ext cx="4766649" cy="10993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5000"/>
              </a:lnSpc>
            </a:pPr>
            <a:r>
              <a:rPr lang="en-US" altLang="zh-CN" dirty="0" err="1">
                <a:solidFill>
                  <a:schemeClr val="bg2">
                    <a:lumMod val="50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  <a:cs typeface="等线" pitchFamily="34" charset="-120"/>
              </a:rPr>
              <a:t>项目目标</a:t>
            </a:r>
            <a:r>
              <a:rPr lang="en-US" altLang="zh-CN" dirty="0" err="1">
                <a:solidFill>
                  <a:srgbClr val="111111"/>
                </a:solidFill>
                <a:latin typeface="华文中宋" panose="02010600040101010101" pitchFamily="2" charset="-122"/>
                <a:ea typeface="华文中宋" panose="02010600040101010101" pitchFamily="2" charset="-122"/>
                <a:cs typeface="等线" pitchFamily="34" charset="-120"/>
              </a:rPr>
              <a:t>是在</a:t>
            </a:r>
            <a:r>
              <a:rPr lang="en-US" altLang="zh-CN" dirty="0">
                <a:solidFill>
                  <a:srgbClr val="111111"/>
                </a:solidFill>
                <a:latin typeface="华文中宋" panose="02010600040101010101" pitchFamily="2" charset="-122"/>
                <a:ea typeface="华文中宋" panose="02010600040101010101" pitchFamily="2" charset="-122"/>
                <a:cs typeface="等线" pitchFamily="34" charset="-120"/>
              </a:rPr>
              <a:t> </a:t>
            </a:r>
            <a:r>
              <a:rPr lang="en-US" altLang="zh-CN" dirty="0">
                <a:solidFill>
                  <a:schemeClr val="bg2">
                    <a:lumMod val="50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  <a:cs typeface="等线" pitchFamily="34" charset="-120"/>
              </a:rPr>
              <a:t>RISC-V 64 </a:t>
            </a:r>
            <a:r>
              <a:rPr lang="en-US" altLang="zh-CN" dirty="0">
                <a:solidFill>
                  <a:srgbClr val="111111"/>
                </a:solidFill>
                <a:latin typeface="华文中宋" panose="02010600040101010101" pitchFamily="2" charset="-122"/>
                <a:ea typeface="华文中宋" panose="02010600040101010101" pitchFamily="2" charset="-122"/>
                <a:cs typeface="等线" pitchFamily="34" charset="-120"/>
              </a:rPr>
              <a:t>和 </a:t>
            </a:r>
            <a:r>
              <a:rPr lang="en-US" altLang="zh-CN" dirty="0" err="1">
                <a:solidFill>
                  <a:schemeClr val="bg2">
                    <a:lumMod val="50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  <a:cs typeface="等线" pitchFamily="34" charset="-120"/>
              </a:rPr>
              <a:t>LoongArch</a:t>
            </a:r>
            <a:r>
              <a:rPr lang="en-US" altLang="zh-CN" dirty="0">
                <a:solidFill>
                  <a:schemeClr val="bg2">
                    <a:lumMod val="50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  <a:cs typeface="等线" pitchFamily="34" charset="-120"/>
              </a:rPr>
              <a:t> 64 </a:t>
            </a:r>
            <a:r>
              <a:rPr lang="en-US" altLang="zh-CN" dirty="0" err="1">
                <a:solidFill>
                  <a:srgbClr val="111111"/>
                </a:solidFill>
                <a:latin typeface="华文中宋" panose="02010600040101010101" pitchFamily="2" charset="-122"/>
                <a:ea typeface="华文中宋" panose="02010600040101010101" pitchFamily="2" charset="-122"/>
                <a:cs typeface="等线" pitchFamily="34" charset="-120"/>
              </a:rPr>
              <a:t>两种指令集上提供可启动、可构建、可复现、可运行官方测试盘中用户程序的</a:t>
            </a:r>
            <a:r>
              <a:rPr lang="en-US" altLang="zh-CN" dirty="0" err="1">
                <a:solidFill>
                  <a:schemeClr val="bg2">
                    <a:lumMod val="50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  <a:cs typeface="等线" pitchFamily="34" charset="-120"/>
              </a:rPr>
              <a:t>通用内核</a:t>
            </a:r>
            <a:endParaRPr lang="zh-CN" altLang="en-US" dirty="0">
              <a:solidFill>
                <a:schemeClr val="bg2">
                  <a:lumMod val="50000"/>
                </a:schemeClr>
              </a:solidFill>
              <a:latin typeface="华文中宋" panose="02010600040101010101" pitchFamily="2" charset="-122"/>
              <a:ea typeface="华文中宋" panose="02010600040101010101" pitchFamily="2" charset="-122"/>
            </a:endParaRPr>
          </a:p>
        </p:txBody>
      </p:sp>
      <p:sp>
        <p:nvSpPr>
          <p:cNvPr id="25" name="文本框 24"/>
          <p:cNvSpPr txBox="1"/>
          <p:nvPr/>
        </p:nvSpPr>
        <p:spPr>
          <a:xfrm>
            <a:off x="8215484" y="5041017"/>
            <a:ext cx="217664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3200" dirty="0">
                <a:solidFill>
                  <a:srgbClr val="111111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信号</a:t>
            </a:r>
            <a:endParaRPr lang="zh-CN" altLang="en-US" sz="3200" dirty="0">
              <a:latin typeface="华文中宋" panose="02010600040101010101" pitchFamily="2" charset="-122"/>
              <a:ea typeface="华文中宋" panose="02010600040101010101" pitchFamily="2" charset="-122"/>
            </a:endParaRPr>
          </a:p>
        </p:txBody>
      </p:sp>
      <p:sp>
        <p:nvSpPr>
          <p:cNvPr id="26" name="文本框 25"/>
          <p:cNvSpPr txBox="1"/>
          <p:nvPr/>
        </p:nvSpPr>
        <p:spPr>
          <a:xfrm>
            <a:off x="10279790" y="5122641"/>
            <a:ext cx="94288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dirty="0" err="1">
                <a:solidFill>
                  <a:schemeClr val="bg2">
                    <a:lumMod val="75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  <a:cs typeface="Times New Roman" panose="02020603050405020304" pitchFamily="18" charset="0"/>
              </a:rPr>
              <a:t>futex</a:t>
            </a:r>
            <a:endParaRPr lang="zh-CN" altLang="en-US" sz="2400" dirty="0">
              <a:solidFill>
                <a:schemeClr val="bg2">
                  <a:lumMod val="75000"/>
                </a:schemeClr>
              </a:solidFill>
              <a:latin typeface="华文中宋" panose="02010600040101010101" pitchFamily="2" charset="-122"/>
              <a:ea typeface="华文中宋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7" name="文本框 26"/>
          <p:cNvSpPr txBox="1"/>
          <p:nvPr/>
        </p:nvSpPr>
        <p:spPr>
          <a:xfrm>
            <a:off x="5996952" y="5131393"/>
            <a:ext cx="14157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400" dirty="0">
                <a:solidFill>
                  <a:schemeClr val="bg2">
                    <a:lumMod val="75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设备驱动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F3E849EB-45DD-21E0-C3A1-AB12346F8F71}"/>
              </a:ext>
            </a:extLst>
          </p:cNvPr>
          <p:cNvSpPr txBox="1"/>
          <p:nvPr/>
        </p:nvSpPr>
        <p:spPr>
          <a:xfrm>
            <a:off x="818282" y="2425431"/>
            <a:ext cx="4463517" cy="32694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en-US" sz="2000" dirty="0">
                <a:solidFill>
                  <a:schemeClr val="bg2">
                    <a:lumMod val="10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WHUSP </a:t>
            </a:r>
            <a:r>
              <a:rPr lang="zh-CN" altLang="en-US" sz="2000" dirty="0">
                <a:solidFill>
                  <a:schemeClr val="bg2">
                    <a:lumMod val="10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是武汉大学 最后一次入门</a:t>
            </a:r>
            <a:r>
              <a:rPr lang="en-US" altLang="zh-CN" sz="2000" dirty="0">
                <a:solidFill>
                  <a:schemeClr val="bg2">
                    <a:lumMod val="10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RUST </a:t>
            </a:r>
            <a:r>
              <a:rPr lang="zh-CN" altLang="en-US" sz="2000" dirty="0">
                <a:solidFill>
                  <a:schemeClr val="bg2">
                    <a:lumMod val="10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队开发的 </a:t>
            </a:r>
            <a:r>
              <a:rPr lang="en-US" altLang="en-US" sz="2000" dirty="0">
                <a:solidFill>
                  <a:schemeClr val="bg2">
                    <a:lumMod val="50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Rust </a:t>
            </a:r>
            <a:r>
              <a:rPr lang="zh-CN" altLang="en-US" sz="2000" dirty="0">
                <a:solidFill>
                  <a:schemeClr val="bg2">
                    <a:lumMod val="50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宏内核</a:t>
            </a:r>
            <a:r>
              <a:rPr lang="zh-CN" altLang="en-US" sz="2000" dirty="0">
                <a:solidFill>
                  <a:schemeClr val="bg2">
                    <a:lumMod val="10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，支持 </a:t>
            </a:r>
            <a:r>
              <a:rPr lang="en-US" altLang="en-US" sz="2000" dirty="0">
                <a:solidFill>
                  <a:schemeClr val="bg2">
                    <a:lumMod val="10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RISC-V 64 </a:t>
            </a:r>
            <a:r>
              <a:rPr lang="zh-CN" altLang="en-US" sz="2000" dirty="0">
                <a:solidFill>
                  <a:schemeClr val="bg2">
                    <a:lumMod val="10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与 </a:t>
            </a:r>
            <a:r>
              <a:rPr lang="en-US" altLang="en-US" sz="2000" dirty="0">
                <a:solidFill>
                  <a:schemeClr val="bg2">
                    <a:lumMod val="10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LoongArch 64 </a:t>
            </a:r>
            <a:r>
              <a:rPr lang="zh-CN" altLang="en-US" sz="2000" dirty="0">
                <a:solidFill>
                  <a:schemeClr val="bg2">
                    <a:lumMod val="50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双架构</a:t>
            </a:r>
            <a:r>
              <a:rPr lang="zh-CN" altLang="en-US" sz="2000" dirty="0">
                <a:solidFill>
                  <a:schemeClr val="bg2">
                    <a:lumMod val="10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，能够运行基于 </a:t>
            </a:r>
            <a:r>
              <a:rPr lang="en-US" altLang="en-US" sz="2000" dirty="0">
                <a:solidFill>
                  <a:schemeClr val="bg2">
                    <a:lumMod val="10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Linux ABI </a:t>
            </a:r>
            <a:r>
              <a:rPr lang="zh-CN" altLang="en-US" sz="2000" dirty="0">
                <a:solidFill>
                  <a:schemeClr val="bg2">
                    <a:lumMod val="10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的真实用户程序，并具备进程调度、虚拟内存、文件系统、网络与信号处理等核心能力。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250">
        <p159:morph option="byObject"/>
      </p:transition>
    </mc:Choice>
    <mc:Fallback xmlns="">
      <p:transition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组合 19"/>
          <p:cNvGrpSpPr/>
          <p:nvPr/>
        </p:nvGrpSpPr>
        <p:grpSpPr>
          <a:xfrm>
            <a:off x="4426527" y="1759982"/>
            <a:ext cx="847652" cy="850140"/>
            <a:chOff x="4144312" y="1707297"/>
            <a:chExt cx="958000" cy="955510"/>
          </a:xfrm>
        </p:grpSpPr>
        <p:sp>
          <p:nvSpPr>
            <p:cNvPr id="18" name="矩形 17"/>
            <p:cNvSpPr/>
            <p:nvPr/>
          </p:nvSpPr>
          <p:spPr>
            <a:xfrm>
              <a:off x="4199486" y="1707297"/>
              <a:ext cx="902826" cy="902826"/>
            </a:xfrm>
            <a:prstGeom prst="rect">
              <a:avLst/>
            </a:prstGeom>
            <a:solidFill>
              <a:schemeClr val="bg2">
                <a:lumMod val="2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9" name="矩形 18"/>
            <p:cNvSpPr/>
            <p:nvPr/>
          </p:nvSpPr>
          <p:spPr>
            <a:xfrm>
              <a:off x="4144312" y="1759981"/>
              <a:ext cx="902826" cy="90282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</p:grpSp>
      <p:sp>
        <p:nvSpPr>
          <p:cNvPr id="3" name="Text 1"/>
          <p:cNvSpPr/>
          <p:nvPr/>
        </p:nvSpPr>
        <p:spPr>
          <a:xfrm>
            <a:off x="685800" y="3406556"/>
            <a:ext cx="10789920" cy="658368"/>
          </a:xfrm>
          <a:prstGeom prst="rect">
            <a:avLst/>
          </a:prstGeom>
          <a:noFill/>
        </p:spPr>
        <p:txBody>
          <a:bodyPr wrap="square" lIns="381" tIns="381" rIns="381" bIns="381" rtlCol="0" anchor="t"/>
          <a:lstStyle/>
          <a:p>
            <a:pPr marL="0" indent="0">
              <a:buNone/>
            </a:pPr>
            <a:endParaRPr lang="en-US" sz="1550" dirty="0"/>
          </a:p>
        </p:txBody>
      </p:sp>
      <p:sp>
        <p:nvSpPr>
          <p:cNvPr id="4" name="Text 2"/>
          <p:cNvSpPr/>
          <p:nvPr/>
        </p:nvSpPr>
        <p:spPr>
          <a:xfrm>
            <a:off x="13136880" y="2175979"/>
            <a:ext cx="10789920" cy="658368"/>
          </a:xfrm>
          <a:prstGeom prst="rect">
            <a:avLst/>
          </a:prstGeom>
          <a:noFill/>
        </p:spPr>
        <p:txBody>
          <a:bodyPr wrap="square" lIns="381" tIns="381" rIns="381" bIns="381" rtlCol="0" anchor="t"/>
          <a:lstStyle/>
          <a:p>
            <a:pPr marL="0" indent="0">
              <a:buNone/>
            </a:pPr>
            <a:r>
              <a:rPr lang="en-US" sz="1550" dirty="0">
                <a:solidFill>
                  <a:srgbClr val="111111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项目目标是在 RISC-V 64 和 LoongArch 64 两种指令集上提供可启动、可构建、可复现、可运行官方测试盘中用户程序的通用内核。</a:t>
            </a:r>
            <a:endParaRPr lang="en-US" sz="1550" dirty="0"/>
          </a:p>
        </p:txBody>
      </p:sp>
      <p:sp>
        <p:nvSpPr>
          <p:cNvPr id="5" name="Text 3"/>
          <p:cNvSpPr/>
          <p:nvPr/>
        </p:nvSpPr>
        <p:spPr>
          <a:xfrm>
            <a:off x="13136880" y="2925787"/>
            <a:ext cx="10789920" cy="658368"/>
          </a:xfrm>
          <a:prstGeom prst="rect">
            <a:avLst/>
          </a:prstGeom>
          <a:noFill/>
        </p:spPr>
        <p:txBody>
          <a:bodyPr wrap="square" lIns="381" tIns="381" rIns="381" bIns="381" rtlCol="0" anchor="t"/>
          <a:lstStyle/>
          <a:p>
            <a:pPr marL="0" indent="0">
              <a:buNone/>
            </a:pPr>
            <a:r>
              <a:rPr lang="en-US" sz="1550" dirty="0">
                <a:solidFill>
                  <a:srgbClr val="111111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当前内核覆盖启动、Trap、上下文切换、任务调度、虚拟内存、EXT4/VFS、设备驱动、信号、futex、socket 与 Linux generic syscall ABI。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13136880" y="3675595"/>
            <a:ext cx="10789920" cy="658368"/>
          </a:xfrm>
          <a:prstGeom prst="rect">
            <a:avLst/>
          </a:prstGeom>
          <a:noFill/>
        </p:spPr>
        <p:txBody>
          <a:bodyPr wrap="square" lIns="381" tIns="381" rIns="381" bIns="381" rtlCol="0" anchor="t"/>
          <a:lstStyle/>
          <a:p>
            <a:pPr marL="0" indent="0">
              <a:buNone/>
            </a:pPr>
            <a:r>
              <a:rPr lang="en-US" sz="1550" dirty="0">
                <a:solidFill>
                  <a:srgbClr val="111111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我们把竞赛脚本编排放在 host 侧生成的脚本盘中，内核只提供通用对象和通用语义，避免识别测例、文件名或字符串后返回伪造结果。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13136880" y="4535131"/>
            <a:ext cx="10424160" cy="475488"/>
          </a:xfrm>
          <a:prstGeom prst="rect">
            <a:avLst/>
          </a:prstGeom>
          <a:noFill/>
        </p:spPr>
        <p:txBody>
          <a:bodyPr wrap="square" lIns="381" tIns="381" rIns="381" bIns="381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111111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核心判断标准：能否用同一套内核机制稳定跑完公开测试，能否从日志、源码和构建入口复现结果。</a:t>
            </a:r>
            <a:endParaRPr lang="en-US" sz="1550" dirty="0"/>
          </a:p>
        </p:txBody>
      </p:sp>
      <p:cxnSp>
        <p:nvCxnSpPr>
          <p:cNvPr id="8" name="直接连接符 7"/>
          <p:cNvCxnSpPr/>
          <p:nvPr/>
        </p:nvCxnSpPr>
        <p:spPr>
          <a:xfrm>
            <a:off x="519545" y="1039091"/>
            <a:ext cx="7813964" cy="0"/>
          </a:xfrm>
          <a:prstGeom prst="line">
            <a:avLst/>
          </a:prstGeom>
          <a:ln w="38100">
            <a:solidFill>
              <a:schemeClr val="bg2">
                <a:lumMod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 8"/>
          <p:cNvSpPr/>
          <p:nvPr/>
        </p:nvSpPr>
        <p:spPr>
          <a:xfrm>
            <a:off x="11641282" y="342901"/>
            <a:ext cx="259773" cy="581891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文本框 9"/>
          <p:cNvSpPr txBox="1"/>
          <p:nvPr/>
        </p:nvSpPr>
        <p:spPr>
          <a:xfrm>
            <a:off x="550718" y="155351"/>
            <a:ext cx="2441694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4400" dirty="0">
                <a:latin typeface="华文中宋" panose="02010600040101010101" pitchFamily="2" charset="-122"/>
                <a:ea typeface="华文中宋" panose="02010600040101010101" pitchFamily="2" charset="-122"/>
              </a:rPr>
              <a:t>项目介绍</a:t>
            </a:r>
          </a:p>
        </p:txBody>
      </p:sp>
      <p:sp>
        <p:nvSpPr>
          <p:cNvPr id="11" name="文本框 10"/>
          <p:cNvSpPr txBox="1"/>
          <p:nvPr/>
        </p:nvSpPr>
        <p:spPr>
          <a:xfrm>
            <a:off x="687774" y="1153391"/>
            <a:ext cx="20901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华文中宋" panose="02010600040101010101" pitchFamily="2" charset="-122"/>
                <a:ea typeface="华文中宋" panose="02010600040101010101" pitchFamily="2" charset="-122"/>
              </a:rPr>
              <a:t>Introduction </a:t>
            </a:r>
            <a:endParaRPr lang="zh-CN" altLang="en-US" dirty="0">
              <a:latin typeface="华文中宋" panose="02010600040101010101" pitchFamily="2" charset="-122"/>
              <a:ea typeface="华文中宋" panose="02010600040101010101" pitchFamily="2" charset="-122"/>
            </a:endParaRPr>
          </a:p>
        </p:txBody>
      </p:sp>
      <p:sp>
        <p:nvSpPr>
          <p:cNvPr id="13" name="矩形 12"/>
          <p:cNvSpPr/>
          <p:nvPr/>
        </p:nvSpPr>
        <p:spPr>
          <a:xfrm>
            <a:off x="5948133" y="4121189"/>
            <a:ext cx="5527587" cy="2020408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63500" sx="102000" sy="102000" algn="ctr" rotWithShape="0">
              <a:prstClr val="black">
                <a:alpha val="18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5" name="文本框 14"/>
          <p:cNvSpPr txBox="1"/>
          <p:nvPr/>
        </p:nvSpPr>
        <p:spPr>
          <a:xfrm>
            <a:off x="6080760" y="4333963"/>
            <a:ext cx="203132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400" dirty="0">
                <a:solidFill>
                  <a:schemeClr val="bg2">
                    <a:lumMod val="25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涵盖内容包括</a:t>
            </a:r>
          </a:p>
        </p:txBody>
      </p:sp>
      <p:sp>
        <p:nvSpPr>
          <p:cNvPr id="17" name="矩形 16"/>
          <p:cNvSpPr/>
          <p:nvPr/>
        </p:nvSpPr>
        <p:spPr>
          <a:xfrm>
            <a:off x="5932892" y="1707297"/>
            <a:ext cx="5527587" cy="2020408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63500" sx="102000" sy="102000" algn="ctr" rotWithShape="0">
              <a:prstClr val="black">
                <a:alpha val="18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pSp>
        <p:nvGrpSpPr>
          <p:cNvPr id="21" name="组合 20"/>
          <p:cNvGrpSpPr/>
          <p:nvPr/>
        </p:nvGrpSpPr>
        <p:grpSpPr>
          <a:xfrm rot="10800000">
            <a:off x="550718" y="5306600"/>
            <a:ext cx="847652" cy="850140"/>
            <a:chOff x="4144312" y="1707297"/>
            <a:chExt cx="958000" cy="955510"/>
          </a:xfrm>
        </p:grpSpPr>
        <p:sp>
          <p:nvSpPr>
            <p:cNvPr id="22" name="矩形 21"/>
            <p:cNvSpPr/>
            <p:nvPr/>
          </p:nvSpPr>
          <p:spPr>
            <a:xfrm>
              <a:off x="4199486" y="1707297"/>
              <a:ext cx="902826" cy="902826"/>
            </a:xfrm>
            <a:prstGeom prst="rect">
              <a:avLst/>
            </a:prstGeom>
            <a:solidFill>
              <a:schemeClr val="bg2">
                <a:lumMod val="2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3" name="矩形 22"/>
            <p:cNvSpPr/>
            <p:nvPr/>
          </p:nvSpPr>
          <p:spPr>
            <a:xfrm>
              <a:off x="4144312" y="1759981"/>
              <a:ext cx="902826" cy="90282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30" name="文本框 29"/>
          <p:cNvSpPr txBox="1"/>
          <p:nvPr/>
        </p:nvSpPr>
        <p:spPr>
          <a:xfrm>
            <a:off x="6313360" y="2155631"/>
            <a:ext cx="4766649" cy="10993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5000"/>
              </a:lnSpc>
            </a:pPr>
            <a:r>
              <a:rPr lang="en-US" altLang="zh-CN" dirty="0" err="1">
                <a:solidFill>
                  <a:schemeClr val="bg2">
                    <a:lumMod val="50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  <a:cs typeface="等线" pitchFamily="34" charset="-120"/>
              </a:rPr>
              <a:t>项目目标</a:t>
            </a:r>
            <a:r>
              <a:rPr lang="en-US" altLang="zh-CN" dirty="0" err="1">
                <a:solidFill>
                  <a:srgbClr val="111111"/>
                </a:solidFill>
                <a:latin typeface="华文中宋" panose="02010600040101010101" pitchFamily="2" charset="-122"/>
                <a:ea typeface="华文中宋" panose="02010600040101010101" pitchFamily="2" charset="-122"/>
                <a:cs typeface="等线" pitchFamily="34" charset="-120"/>
              </a:rPr>
              <a:t>是在</a:t>
            </a:r>
            <a:r>
              <a:rPr lang="en-US" altLang="zh-CN" dirty="0">
                <a:solidFill>
                  <a:srgbClr val="111111"/>
                </a:solidFill>
                <a:latin typeface="华文中宋" panose="02010600040101010101" pitchFamily="2" charset="-122"/>
                <a:ea typeface="华文中宋" panose="02010600040101010101" pitchFamily="2" charset="-122"/>
                <a:cs typeface="等线" pitchFamily="34" charset="-120"/>
              </a:rPr>
              <a:t> </a:t>
            </a:r>
            <a:r>
              <a:rPr lang="en-US" altLang="zh-CN" dirty="0">
                <a:solidFill>
                  <a:schemeClr val="bg2">
                    <a:lumMod val="50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  <a:cs typeface="等线" pitchFamily="34" charset="-120"/>
              </a:rPr>
              <a:t>RISC-V 64 </a:t>
            </a:r>
            <a:r>
              <a:rPr lang="en-US" altLang="zh-CN" dirty="0">
                <a:solidFill>
                  <a:srgbClr val="111111"/>
                </a:solidFill>
                <a:latin typeface="华文中宋" panose="02010600040101010101" pitchFamily="2" charset="-122"/>
                <a:ea typeface="华文中宋" panose="02010600040101010101" pitchFamily="2" charset="-122"/>
                <a:cs typeface="等线" pitchFamily="34" charset="-120"/>
              </a:rPr>
              <a:t>和 </a:t>
            </a:r>
            <a:r>
              <a:rPr lang="en-US" altLang="zh-CN" dirty="0" err="1">
                <a:solidFill>
                  <a:schemeClr val="bg2">
                    <a:lumMod val="50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  <a:cs typeface="等线" pitchFamily="34" charset="-120"/>
              </a:rPr>
              <a:t>LoongArch</a:t>
            </a:r>
            <a:r>
              <a:rPr lang="en-US" altLang="zh-CN" dirty="0">
                <a:solidFill>
                  <a:schemeClr val="bg2">
                    <a:lumMod val="50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  <a:cs typeface="等线" pitchFamily="34" charset="-120"/>
              </a:rPr>
              <a:t> 64 </a:t>
            </a:r>
            <a:r>
              <a:rPr lang="en-US" altLang="zh-CN" dirty="0" err="1">
                <a:solidFill>
                  <a:srgbClr val="111111"/>
                </a:solidFill>
                <a:latin typeface="华文中宋" panose="02010600040101010101" pitchFamily="2" charset="-122"/>
                <a:ea typeface="华文中宋" panose="02010600040101010101" pitchFamily="2" charset="-122"/>
                <a:cs typeface="等线" pitchFamily="34" charset="-120"/>
              </a:rPr>
              <a:t>两种指令集上提供可启动、可构建、可复现、可运行官方测试盘中用户程序的</a:t>
            </a:r>
            <a:r>
              <a:rPr lang="en-US" altLang="zh-CN" dirty="0" err="1">
                <a:solidFill>
                  <a:schemeClr val="bg2">
                    <a:lumMod val="50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  <a:cs typeface="等线" pitchFamily="34" charset="-120"/>
              </a:rPr>
              <a:t>通用内核</a:t>
            </a:r>
            <a:endParaRPr lang="zh-CN" altLang="en-US" dirty="0">
              <a:solidFill>
                <a:schemeClr val="bg2">
                  <a:lumMod val="50000"/>
                </a:schemeClr>
              </a:solidFill>
              <a:latin typeface="华文中宋" panose="02010600040101010101" pitchFamily="2" charset="-122"/>
              <a:ea typeface="华文中宋" panose="02010600040101010101" pitchFamily="2" charset="-122"/>
            </a:endParaRPr>
          </a:p>
        </p:txBody>
      </p:sp>
      <p:sp>
        <p:nvSpPr>
          <p:cNvPr id="25" name="文本框 24"/>
          <p:cNvSpPr txBox="1"/>
          <p:nvPr/>
        </p:nvSpPr>
        <p:spPr>
          <a:xfrm>
            <a:off x="8215484" y="5041017"/>
            <a:ext cx="217664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dirty="0" err="1">
                <a:solidFill>
                  <a:srgbClr val="111111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futex</a:t>
            </a:r>
            <a:endParaRPr lang="zh-CN" altLang="en-US" sz="3200" dirty="0">
              <a:latin typeface="华文中宋" panose="02010600040101010101" pitchFamily="2" charset="-122"/>
              <a:ea typeface="华文中宋" panose="02010600040101010101" pitchFamily="2" charset="-122"/>
            </a:endParaRPr>
          </a:p>
        </p:txBody>
      </p:sp>
      <p:sp>
        <p:nvSpPr>
          <p:cNvPr id="26" name="文本框 25"/>
          <p:cNvSpPr txBox="1"/>
          <p:nvPr/>
        </p:nvSpPr>
        <p:spPr>
          <a:xfrm>
            <a:off x="10279790" y="5122641"/>
            <a:ext cx="114646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dirty="0">
                <a:solidFill>
                  <a:schemeClr val="bg2">
                    <a:lumMod val="75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  <a:cs typeface="Times New Roman" panose="02020603050405020304" pitchFamily="18" charset="0"/>
              </a:rPr>
              <a:t>socket</a:t>
            </a:r>
            <a:endParaRPr lang="zh-CN" altLang="en-US" sz="2400" dirty="0">
              <a:solidFill>
                <a:schemeClr val="bg2">
                  <a:lumMod val="75000"/>
                </a:schemeClr>
              </a:solidFill>
              <a:latin typeface="华文中宋" panose="02010600040101010101" pitchFamily="2" charset="-122"/>
              <a:ea typeface="华文中宋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7" name="文本框 26"/>
          <p:cNvSpPr txBox="1"/>
          <p:nvPr/>
        </p:nvSpPr>
        <p:spPr>
          <a:xfrm>
            <a:off x="5996952" y="5131393"/>
            <a:ext cx="80021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400" dirty="0">
                <a:solidFill>
                  <a:schemeClr val="bg2">
                    <a:lumMod val="75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信号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1E87DF4F-BD3E-B27B-B6CA-A5C7BC8EEFE4}"/>
              </a:ext>
            </a:extLst>
          </p:cNvPr>
          <p:cNvSpPr txBox="1"/>
          <p:nvPr/>
        </p:nvSpPr>
        <p:spPr>
          <a:xfrm>
            <a:off x="818282" y="2425431"/>
            <a:ext cx="4463517" cy="32694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en-US" sz="2000" dirty="0">
                <a:solidFill>
                  <a:schemeClr val="bg2">
                    <a:lumMod val="10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WHUSP </a:t>
            </a:r>
            <a:r>
              <a:rPr lang="zh-CN" altLang="en-US" sz="2000" dirty="0">
                <a:solidFill>
                  <a:schemeClr val="bg2">
                    <a:lumMod val="10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是武汉大学 最后一次入门</a:t>
            </a:r>
            <a:r>
              <a:rPr lang="en-US" altLang="zh-CN" sz="2000" dirty="0">
                <a:solidFill>
                  <a:schemeClr val="bg2">
                    <a:lumMod val="10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RUST </a:t>
            </a:r>
            <a:r>
              <a:rPr lang="zh-CN" altLang="en-US" sz="2000" dirty="0">
                <a:solidFill>
                  <a:schemeClr val="bg2">
                    <a:lumMod val="10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队开发的 </a:t>
            </a:r>
            <a:r>
              <a:rPr lang="en-US" altLang="en-US" sz="2000" dirty="0">
                <a:solidFill>
                  <a:schemeClr val="bg2">
                    <a:lumMod val="50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Rust </a:t>
            </a:r>
            <a:r>
              <a:rPr lang="zh-CN" altLang="en-US" sz="2000" dirty="0">
                <a:solidFill>
                  <a:schemeClr val="bg2">
                    <a:lumMod val="50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宏内核</a:t>
            </a:r>
            <a:r>
              <a:rPr lang="zh-CN" altLang="en-US" sz="2000" dirty="0">
                <a:solidFill>
                  <a:schemeClr val="bg2">
                    <a:lumMod val="10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，支持 </a:t>
            </a:r>
            <a:r>
              <a:rPr lang="en-US" altLang="en-US" sz="2000" dirty="0">
                <a:solidFill>
                  <a:schemeClr val="bg2">
                    <a:lumMod val="10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RISC-V 64 </a:t>
            </a:r>
            <a:r>
              <a:rPr lang="zh-CN" altLang="en-US" sz="2000" dirty="0">
                <a:solidFill>
                  <a:schemeClr val="bg2">
                    <a:lumMod val="10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与 </a:t>
            </a:r>
            <a:r>
              <a:rPr lang="en-US" altLang="en-US" sz="2000" dirty="0">
                <a:solidFill>
                  <a:schemeClr val="bg2">
                    <a:lumMod val="10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LoongArch 64 </a:t>
            </a:r>
            <a:r>
              <a:rPr lang="zh-CN" altLang="en-US" sz="2000" dirty="0">
                <a:solidFill>
                  <a:schemeClr val="bg2">
                    <a:lumMod val="50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双架构</a:t>
            </a:r>
            <a:r>
              <a:rPr lang="zh-CN" altLang="en-US" sz="2000" dirty="0">
                <a:solidFill>
                  <a:schemeClr val="bg2">
                    <a:lumMod val="10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，能够运行基于 </a:t>
            </a:r>
            <a:r>
              <a:rPr lang="en-US" altLang="en-US" sz="2000" dirty="0">
                <a:solidFill>
                  <a:schemeClr val="bg2">
                    <a:lumMod val="10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Linux ABI </a:t>
            </a:r>
            <a:r>
              <a:rPr lang="zh-CN" altLang="en-US" sz="2000" dirty="0">
                <a:solidFill>
                  <a:schemeClr val="bg2">
                    <a:lumMod val="10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的真实用户程序，并具备进程调度、虚拟内存、文件系统、网络与信号处理等核心能力。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250">
        <p159:morph option="byObject"/>
      </p:transition>
    </mc:Choice>
    <mc:Fallback xmlns="">
      <p:transition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组合 19"/>
          <p:cNvGrpSpPr/>
          <p:nvPr/>
        </p:nvGrpSpPr>
        <p:grpSpPr>
          <a:xfrm>
            <a:off x="4426527" y="1759982"/>
            <a:ext cx="847652" cy="850140"/>
            <a:chOff x="4144312" y="1707297"/>
            <a:chExt cx="958000" cy="955510"/>
          </a:xfrm>
        </p:grpSpPr>
        <p:sp>
          <p:nvSpPr>
            <p:cNvPr id="18" name="矩形 17"/>
            <p:cNvSpPr/>
            <p:nvPr/>
          </p:nvSpPr>
          <p:spPr>
            <a:xfrm>
              <a:off x="4199486" y="1707297"/>
              <a:ext cx="902826" cy="902826"/>
            </a:xfrm>
            <a:prstGeom prst="rect">
              <a:avLst/>
            </a:prstGeom>
            <a:solidFill>
              <a:schemeClr val="bg2">
                <a:lumMod val="2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9" name="矩形 18"/>
            <p:cNvSpPr/>
            <p:nvPr/>
          </p:nvSpPr>
          <p:spPr>
            <a:xfrm>
              <a:off x="4144312" y="1759981"/>
              <a:ext cx="902826" cy="90282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</p:grpSp>
      <p:sp>
        <p:nvSpPr>
          <p:cNvPr id="3" name="Text 1"/>
          <p:cNvSpPr/>
          <p:nvPr/>
        </p:nvSpPr>
        <p:spPr>
          <a:xfrm>
            <a:off x="685800" y="3406556"/>
            <a:ext cx="10789920" cy="658368"/>
          </a:xfrm>
          <a:prstGeom prst="rect">
            <a:avLst/>
          </a:prstGeom>
          <a:noFill/>
        </p:spPr>
        <p:txBody>
          <a:bodyPr wrap="square" lIns="381" tIns="381" rIns="381" bIns="381" rtlCol="0" anchor="t"/>
          <a:lstStyle/>
          <a:p>
            <a:pPr marL="0" indent="0">
              <a:buNone/>
            </a:pPr>
            <a:endParaRPr lang="en-US" sz="1550" dirty="0"/>
          </a:p>
        </p:txBody>
      </p:sp>
      <p:sp>
        <p:nvSpPr>
          <p:cNvPr id="4" name="Text 2"/>
          <p:cNvSpPr/>
          <p:nvPr/>
        </p:nvSpPr>
        <p:spPr>
          <a:xfrm>
            <a:off x="13136880" y="2175979"/>
            <a:ext cx="10789920" cy="658368"/>
          </a:xfrm>
          <a:prstGeom prst="rect">
            <a:avLst/>
          </a:prstGeom>
          <a:noFill/>
        </p:spPr>
        <p:txBody>
          <a:bodyPr wrap="square" lIns="381" tIns="381" rIns="381" bIns="381" rtlCol="0" anchor="t"/>
          <a:lstStyle/>
          <a:p>
            <a:pPr marL="0" indent="0">
              <a:buNone/>
            </a:pPr>
            <a:r>
              <a:rPr lang="en-US" sz="1550" dirty="0">
                <a:solidFill>
                  <a:srgbClr val="111111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项目目标是在 RISC-V 64 和 LoongArch 64 两种指令集上提供可启动、可构建、可复现、可运行官方测试盘中用户程序的通用内核。</a:t>
            </a:r>
            <a:endParaRPr lang="en-US" sz="1550" dirty="0"/>
          </a:p>
        </p:txBody>
      </p:sp>
      <p:sp>
        <p:nvSpPr>
          <p:cNvPr id="5" name="Text 3"/>
          <p:cNvSpPr/>
          <p:nvPr/>
        </p:nvSpPr>
        <p:spPr>
          <a:xfrm>
            <a:off x="13136880" y="2925787"/>
            <a:ext cx="10789920" cy="658368"/>
          </a:xfrm>
          <a:prstGeom prst="rect">
            <a:avLst/>
          </a:prstGeom>
          <a:noFill/>
        </p:spPr>
        <p:txBody>
          <a:bodyPr wrap="square" lIns="381" tIns="381" rIns="381" bIns="381" rtlCol="0" anchor="t"/>
          <a:lstStyle/>
          <a:p>
            <a:pPr marL="0" indent="0">
              <a:buNone/>
            </a:pPr>
            <a:r>
              <a:rPr lang="en-US" sz="1550" dirty="0">
                <a:solidFill>
                  <a:srgbClr val="111111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当前内核覆盖启动、Trap、上下文切换、任务调度、虚拟内存、EXT4/VFS、设备驱动、信号、futex、socket 与 Linux generic syscall ABI。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13136880" y="3675595"/>
            <a:ext cx="10789920" cy="658368"/>
          </a:xfrm>
          <a:prstGeom prst="rect">
            <a:avLst/>
          </a:prstGeom>
          <a:noFill/>
        </p:spPr>
        <p:txBody>
          <a:bodyPr wrap="square" lIns="381" tIns="381" rIns="381" bIns="381" rtlCol="0" anchor="t"/>
          <a:lstStyle/>
          <a:p>
            <a:pPr marL="0" indent="0">
              <a:buNone/>
            </a:pPr>
            <a:r>
              <a:rPr lang="en-US" sz="1550" dirty="0">
                <a:solidFill>
                  <a:srgbClr val="111111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我们把竞赛脚本编排放在 host 侧生成的脚本盘中，内核只提供通用对象和通用语义，避免识别测例、文件名或字符串后返回伪造结果。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13136880" y="4535131"/>
            <a:ext cx="10424160" cy="475488"/>
          </a:xfrm>
          <a:prstGeom prst="rect">
            <a:avLst/>
          </a:prstGeom>
          <a:noFill/>
        </p:spPr>
        <p:txBody>
          <a:bodyPr wrap="square" lIns="381" tIns="381" rIns="381" bIns="381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111111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核心判断标准：能否用同一套内核机制稳定跑完公开测试，能否从日志、源码和构建入口复现结果。</a:t>
            </a:r>
            <a:endParaRPr lang="en-US" sz="1550" dirty="0"/>
          </a:p>
        </p:txBody>
      </p:sp>
      <p:cxnSp>
        <p:nvCxnSpPr>
          <p:cNvPr id="8" name="直接连接符 7"/>
          <p:cNvCxnSpPr/>
          <p:nvPr/>
        </p:nvCxnSpPr>
        <p:spPr>
          <a:xfrm>
            <a:off x="519545" y="1039091"/>
            <a:ext cx="7813964" cy="0"/>
          </a:xfrm>
          <a:prstGeom prst="line">
            <a:avLst/>
          </a:prstGeom>
          <a:ln w="38100">
            <a:solidFill>
              <a:schemeClr val="bg2">
                <a:lumMod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 8"/>
          <p:cNvSpPr/>
          <p:nvPr/>
        </p:nvSpPr>
        <p:spPr>
          <a:xfrm>
            <a:off x="11641282" y="342901"/>
            <a:ext cx="259773" cy="581891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文本框 9"/>
          <p:cNvSpPr txBox="1"/>
          <p:nvPr/>
        </p:nvSpPr>
        <p:spPr>
          <a:xfrm>
            <a:off x="550718" y="155351"/>
            <a:ext cx="2441694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4400" dirty="0">
                <a:latin typeface="华文中宋" panose="02010600040101010101" pitchFamily="2" charset="-122"/>
                <a:ea typeface="华文中宋" panose="02010600040101010101" pitchFamily="2" charset="-122"/>
              </a:rPr>
              <a:t>项目介绍</a:t>
            </a:r>
          </a:p>
        </p:txBody>
      </p:sp>
      <p:sp>
        <p:nvSpPr>
          <p:cNvPr id="11" name="文本框 10"/>
          <p:cNvSpPr txBox="1"/>
          <p:nvPr/>
        </p:nvSpPr>
        <p:spPr>
          <a:xfrm>
            <a:off x="687774" y="1153391"/>
            <a:ext cx="20901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华文中宋" panose="02010600040101010101" pitchFamily="2" charset="-122"/>
                <a:ea typeface="华文中宋" panose="02010600040101010101" pitchFamily="2" charset="-122"/>
              </a:rPr>
              <a:t>Introduction </a:t>
            </a:r>
            <a:endParaRPr lang="zh-CN" altLang="en-US" dirty="0">
              <a:latin typeface="华文中宋" panose="02010600040101010101" pitchFamily="2" charset="-122"/>
              <a:ea typeface="华文中宋" panose="02010600040101010101" pitchFamily="2" charset="-122"/>
            </a:endParaRPr>
          </a:p>
        </p:txBody>
      </p:sp>
      <p:sp>
        <p:nvSpPr>
          <p:cNvPr id="13" name="矩形 12"/>
          <p:cNvSpPr/>
          <p:nvPr/>
        </p:nvSpPr>
        <p:spPr>
          <a:xfrm>
            <a:off x="5948133" y="4121189"/>
            <a:ext cx="5527587" cy="2020408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63500" sx="102000" sy="102000" algn="ctr" rotWithShape="0">
              <a:prstClr val="black">
                <a:alpha val="18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5" name="文本框 14"/>
          <p:cNvSpPr txBox="1"/>
          <p:nvPr/>
        </p:nvSpPr>
        <p:spPr>
          <a:xfrm>
            <a:off x="6080760" y="4333963"/>
            <a:ext cx="203132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400" dirty="0">
                <a:solidFill>
                  <a:schemeClr val="bg2">
                    <a:lumMod val="25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涵盖内容包括</a:t>
            </a:r>
          </a:p>
        </p:txBody>
      </p:sp>
      <p:sp>
        <p:nvSpPr>
          <p:cNvPr id="17" name="矩形 16"/>
          <p:cNvSpPr/>
          <p:nvPr/>
        </p:nvSpPr>
        <p:spPr>
          <a:xfrm>
            <a:off x="5932892" y="1707297"/>
            <a:ext cx="5527587" cy="2020408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63500" sx="102000" sy="102000" algn="ctr" rotWithShape="0">
              <a:prstClr val="black">
                <a:alpha val="18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pSp>
        <p:nvGrpSpPr>
          <p:cNvPr id="21" name="组合 20"/>
          <p:cNvGrpSpPr/>
          <p:nvPr/>
        </p:nvGrpSpPr>
        <p:grpSpPr>
          <a:xfrm rot="10800000">
            <a:off x="550718" y="5306600"/>
            <a:ext cx="847652" cy="850140"/>
            <a:chOff x="4144312" y="1707297"/>
            <a:chExt cx="958000" cy="955510"/>
          </a:xfrm>
        </p:grpSpPr>
        <p:sp>
          <p:nvSpPr>
            <p:cNvPr id="22" name="矩形 21"/>
            <p:cNvSpPr/>
            <p:nvPr/>
          </p:nvSpPr>
          <p:spPr>
            <a:xfrm>
              <a:off x="4199486" y="1707297"/>
              <a:ext cx="902826" cy="902826"/>
            </a:xfrm>
            <a:prstGeom prst="rect">
              <a:avLst/>
            </a:prstGeom>
            <a:solidFill>
              <a:schemeClr val="bg2">
                <a:lumMod val="2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3" name="矩形 22"/>
            <p:cNvSpPr/>
            <p:nvPr/>
          </p:nvSpPr>
          <p:spPr>
            <a:xfrm>
              <a:off x="4144312" y="1759981"/>
              <a:ext cx="902826" cy="90282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30" name="文本框 29"/>
          <p:cNvSpPr txBox="1"/>
          <p:nvPr/>
        </p:nvSpPr>
        <p:spPr>
          <a:xfrm>
            <a:off x="6313360" y="2155631"/>
            <a:ext cx="4766649" cy="10993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5000"/>
              </a:lnSpc>
            </a:pPr>
            <a:r>
              <a:rPr lang="en-US" altLang="zh-CN" dirty="0" err="1">
                <a:solidFill>
                  <a:schemeClr val="bg2">
                    <a:lumMod val="50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  <a:cs typeface="等线" pitchFamily="34" charset="-120"/>
              </a:rPr>
              <a:t>项目目标</a:t>
            </a:r>
            <a:r>
              <a:rPr lang="en-US" altLang="zh-CN" dirty="0" err="1">
                <a:solidFill>
                  <a:srgbClr val="111111"/>
                </a:solidFill>
                <a:latin typeface="华文中宋" panose="02010600040101010101" pitchFamily="2" charset="-122"/>
                <a:ea typeface="华文中宋" panose="02010600040101010101" pitchFamily="2" charset="-122"/>
                <a:cs typeface="等线" pitchFamily="34" charset="-120"/>
              </a:rPr>
              <a:t>是在</a:t>
            </a:r>
            <a:r>
              <a:rPr lang="en-US" altLang="zh-CN" dirty="0">
                <a:solidFill>
                  <a:srgbClr val="111111"/>
                </a:solidFill>
                <a:latin typeface="华文中宋" panose="02010600040101010101" pitchFamily="2" charset="-122"/>
                <a:ea typeface="华文中宋" panose="02010600040101010101" pitchFamily="2" charset="-122"/>
                <a:cs typeface="等线" pitchFamily="34" charset="-120"/>
              </a:rPr>
              <a:t> </a:t>
            </a:r>
            <a:r>
              <a:rPr lang="en-US" altLang="zh-CN" dirty="0">
                <a:solidFill>
                  <a:schemeClr val="bg2">
                    <a:lumMod val="50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  <a:cs typeface="等线" pitchFamily="34" charset="-120"/>
              </a:rPr>
              <a:t>RISC-V 64 </a:t>
            </a:r>
            <a:r>
              <a:rPr lang="en-US" altLang="zh-CN" dirty="0">
                <a:solidFill>
                  <a:srgbClr val="111111"/>
                </a:solidFill>
                <a:latin typeface="华文中宋" panose="02010600040101010101" pitchFamily="2" charset="-122"/>
                <a:ea typeface="华文中宋" panose="02010600040101010101" pitchFamily="2" charset="-122"/>
                <a:cs typeface="等线" pitchFamily="34" charset="-120"/>
              </a:rPr>
              <a:t>和 </a:t>
            </a:r>
            <a:r>
              <a:rPr lang="en-US" altLang="zh-CN" dirty="0" err="1">
                <a:solidFill>
                  <a:schemeClr val="bg2">
                    <a:lumMod val="50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  <a:cs typeface="等线" pitchFamily="34" charset="-120"/>
              </a:rPr>
              <a:t>LoongArch</a:t>
            </a:r>
            <a:r>
              <a:rPr lang="en-US" altLang="zh-CN" dirty="0">
                <a:solidFill>
                  <a:schemeClr val="bg2">
                    <a:lumMod val="50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  <a:cs typeface="等线" pitchFamily="34" charset="-120"/>
              </a:rPr>
              <a:t> 64 </a:t>
            </a:r>
            <a:r>
              <a:rPr lang="en-US" altLang="zh-CN" dirty="0" err="1">
                <a:solidFill>
                  <a:srgbClr val="111111"/>
                </a:solidFill>
                <a:latin typeface="华文中宋" panose="02010600040101010101" pitchFamily="2" charset="-122"/>
                <a:ea typeface="华文中宋" panose="02010600040101010101" pitchFamily="2" charset="-122"/>
                <a:cs typeface="等线" pitchFamily="34" charset="-120"/>
              </a:rPr>
              <a:t>两种指令集上提供可启动、可构建、可复现、可运行官方测试盘中用户程序的</a:t>
            </a:r>
            <a:r>
              <a:rPr lang="en-US" altLang="zh-CN" dirty="0" err="1">
                <a:solidFill>
                  <a:schemeClr val="bg2">
                    <a:lumMod val="50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  <a:cs typeface="等线" pitchFamily="34" charset="-120"/>
              </a:rPr>
              <a:t>通用内核</a:t>
            </a:r>
            <a:endParaRPr lang="zh-CN" altLang="en-US" dirty="0">
              <a:solidFill>
                <a:schemeClr val="bg2">
                  <a:lumMod val="50000"/>
                </a:schemeClr>
              </a:solidFill>
              <a:latin typeface="华文中宋" panose="02010600040101010101" pitchFamily="2" charset="-122"/>
              <a:ea typeface="华文中宋" panose="02010600040101010101" pitchFamily="2" charset="-122"/>
            </a:endParaRPr>
          </a:p>
        </p:txBody>
      </p:sp>
      <p:sp>
        <p:nvSpPr>
          <p:cNvPr id="25" name="文本框 24"/>
          <p:cNvSpPr txBox="1"/>
          <p:nvPr/>
        </p:nvSpPr>
        <p:spPr>
          <a:xfrm>
            <a:off x="8053679" y="5041017"/>
            <a:ext cx="217664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dirty="0">
                <a:solidFill>
                  <a:srgbClr val="111111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socket</a:t>
            </a:r>
            <a:endParaRPr lang="zh-CN" altLang="en-US" sz="3200" dirty="0">
              <a:latin typeface="华文中宋" panose="02010600040101010101" pitchFamily="2" charset="-122"/>
              <a:ea typeface="华文中宋" panose="02010600040101010101" pitchFamily="2" charset="-122"/>
            </a:endParaRPr>
          </a:p>
        </p:txBody>
      </p:sp>
      <p:sp>
        <p:nvSpPr>
          <p:cNvPr id="26" name="文本框 25"/>
          <p:cNvSpPr txBox="1"/>
          <p:nvPr/>
        </p:nvSpPr>
        <p:spPr>
          <a:xfrm>
            <a:off x="10489783" y="5122641"/>
            <a:ext cx="72648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dirty="0">
                <a:solidFill>
                  <a:schemeClr val="bg2">
                    <a:lumMod val="75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  <a:cs typeface="Times New Roman" panose="02020603050405020304" pitchFamily="18" charset="0"/>
              </a:rPr>
              <a:t>ABI</a:t>
            </a:r>
            <a:endParaRPr lang="zh-CN" altLang="en-US" sz="2400" dirty="0">
              <a:solidFill>
                <a:schemeClr val="bg2">
                  <a:lumMod val="75000"/>
                </a:schemeClr>
              </a:solidFill>
              <a:latin typeface="华文中宋" panose="02010600040101010101" pitchFamily="2" charset="-122"/>
              <a:ea typeface="华文中宋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7" name="文本框 26"/>
          <p:cNvSpPr txBox="1"/>
          <p:nvPr/>
        </p:nvSpPr>
        <p:spPr>
          <a:xfrm>
            <a:off x="5996952" y="5131393"/>
            <a:ext cx="94288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dirty="0" err="1">
                <a:solidFill>
                  <a:schemeClr val="bg2">
                    <a:lumMod val="75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futex</a:t>
            </a:r>
            <a:endParaRPr lang="zh-CN" altLang="en-US" sz="2400" dirty="0">
              <a:solidFill>
                <a:schemeClr val="bg2">
                  <a:lumMod val="75000"/>
                </a:schemeClr>
              </a:solidFill>
              <a:latin typeface="华文中宋" panose="02010600040101010101" pitchFamily="2" charset="-122"/>
              <a:ea typeface="华文中宋" panose="02010600040101010101" pitchFamily="2" charset="-122"/>
            </a:endParaRP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72E05DC8-3E9E-1B22-7DE9-14C93FD12D5E}"/>
              </a:ext>
            </a:extLst>
          </p:cNvPr>
          <p:cNvSpPr txBox="1"/>
          <p:nvPr/>
        </p:nvSpPr>
        <p:spPr>
          <a:xfrm>
            <a:off x="818282" y="2425431"/>
            <a:ext cx="4463517" cy="32694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en-US" sz="2000" dirty="0">
                <a:solidFill>
                  <a:schemeClr val="bg2">
                    <a:lumMod val="10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WHUSP </a:t>
            </a:r>
            <a:r>
              <a:rPr lang="zh-CN" altLang="en-US" sz="2000" dirty="0">
                <a:solidFill>
                  <a:schemeClr val="bg2">
                    <a:lumMod val="10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是武汉大学 最后一次入门</a:t>
            </a:r>
            <a:r>
              <a:rPr lang="en-US" altLang="zh-CN" sz="2000" dirty="0">
                <a:solidFill>
                  <a:schemeClr val="bg2">
                    <a:lumMod val="10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RUST </a:t>
            </a:r>
            <a:r>
              <a:rPr lang="zh-CN" altLang="en-US" sz="2000" dirty="0">
                <a:solidFill>
                  <a:schemeClr val="bg2">
                    <a:lumMod val="10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队开发的 </a:t>
            </a:r>
            <a:r>
              <a:rPr lang="en-US" altLang="en-US" sz="2000" dirty="0">
                <a:solidFill>
                  <a:schemeClr val="bg2">
                    <a:lumMod val="50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Rust </a:t>
            </a:r>
            <a:r>
              <a:rPr lang="zh-CN" altLang="en-US" sz="2000" dirty="0">
                <a:solidFill>
                  <a:schemeClr val="bg2">
                    <a:lumMod val="50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宏内核</a:t>
            </a:r>
            <a:r>
              <a:rPr lang="zh-CN" altLang="en-US" sz="2000" dirty="0">
                <a:solidFill>
                  <a:schemeClr val="bg2">
                    <a:lumMod val="10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，支持 </a:t>
            </a:r>
            <a:r>
              <a:rPr lang="en-US" altLang="en-US" sz="2000" dirty="0">
                <a:solidFill>
                  <a:schemeClr val="bg2">
                    <a:lumMod val="10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RISC-V 64 </a:t>
            </a:r>
            <a:r>
              <a:rPr lang="zh-CN" altLang="en-US" sz="2000" dirty="0">
                <a:solidFill>
                  <a:schemeClr val="bg2">
                    <a:lumMod val="10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与 </a:t>
            </a:r>
            <a:r>
              <a:rPr lang="en-US" altLang="en-US" sz="2000" dirty="0">
                <a:solidFill>
                  <a:schemeClr val="bg2">
                    <a:lumMod val="10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LoongArch 64 </a:t>
            </a:r>
            <a:r>
              <a:rPr lang="zh-CN" altLang="en-US" sz="2000" dirty="0">
                <a:solidFill>
                  <a:schemeClr val="bg2">
                    <a:lumMod val="50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双架构</a:t>
            </a:r>
            <a:r>
              <a:rPr lang="zh-CN" altLang="en-US" sz="2000" dirty="0">
                <a:solidFill>
                  <a:schemeClr val="bg2">
                    <a:lumMod val="10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，能够运行基于 </a:t>
            </a:r>
            <a:r>
              <a:rPr lang="en-US" altLang="en-US" sz="2000" dirty="0">
                <a:solidFill>
                  <a:schemeClr val="bg2">
                    <a:lumMod val="10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Linux ABI </a:t>
            </a:r>
            <a:r>
              <a:rPr lang="zh-CN" altLang="en-US" sz="2000" dirty="0">
                <a:solidFill>
                  <a:schemeClr val="bg2">
                    <a:lumMod val="10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的真实用户程序，并具备进程调度、虚拟内存、文件系统、网络与信号处理等核心能力。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250">
        <p159:morph option="byObject"/>
      </p:transition>
    </mc:Choice>
    <mc:Fallback xmlns="">
      <p:transition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组合 19"/>
          <p:cNvGrpSpPr/>
          <p:nvPr/>
        </p:nvGrpSpPr>
        <p:grpSpPr>
          <a:xfrm>
            <a:off x="4426527" y="1759982"/>
            <a:ext cx="847652" cy="850140"/>
            <a:chOff x="4144312" y="1707297"/>
            <a:chExt cx="958000" cy="955510"/>
          </a:xfrm>
        </p:grpSpPr>
        <p:sp>
          <p:nvSpPr>
            <p:cNvPr id="18" name="矩形 17"/>
            <p:cNvSpPr/>
            <p:nvPr/>
          </p:nvSpPr>
          <p:spPr>
            <a:xfrm>
              <a:off x="4199486" y="1707297"/>
              <a:ext cx="902826" cy="902826"/>
            </a:xfrm>
            <a:prstGeom prst="rect">
              <a:avLst/>
            </a:prstGeom>
            <a:solidFill>
              <a:schemeClr val="bg2">
                <a:lumMod val="2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9" name="矩形 18"/>
            <p:cNvSpPr/>
            <p:nvPr/>
          </p:nvSpPr>
          <p:spPr>
            <a:xfrm>
              <a:off x="4144312" y="1759981"/>
              <a:ext cx="902826" cy="90282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</p:grpSp>
      <p:sp>
        <p:nvSpPr>
          <p:cNvPr id="3" name="Text 1"/>
          <p:cNvSpPr/>
          <p:nvPr/>
        </p:nvSpPr>
        <p:spPr>
          <a:xfrm>
            <a:off x="685800" y="3406556"/>
            <a:ext cx="10789920" cy="658368"/>
          </a:xfrm>
          <a:prstGeom prst="rect">
            <a:avLst/>
          </a:prstGeom>
          <a:noFill/>
        </p:spPr>
        <p:txBody>
          <a:bodyPr wrap="square" lIns="381" tIns="381" rIns="381" bIns="381" rtlCol="0" anchor="t"/>
          <a:lstStyle/>
          <a:p>
            <a:pPr marL="0" indent="0">
              <a:buNone/>
            </a:pPr>
            <a:endParaRPr lang="en-US" sz="1550" dirty="0"/>
          </a:p>
        </p:txBody>
      </p:sp>
      <p:sp>
        <p:nvSpPr>
          <p:cNvPr id="4" name="Text 2"/>
          <p:cNvSpPr/>
          <p:nvPr/>
        </p:nvSpPr>
        <p:spPr>
          <a:xfrm>
            <a:off x="13136880" y="2175979"/>
            <a:ext cx="10789920" cy="658368"/>
          </a:xfrm>
          <a:prstGeom prst="rect">
            <a:avLst/>
          </a:prstGeom>
          <a:noFill/>
        </p:spPr>
        <p:txBody>
          <a:bodyPr wrap="square" lIns="381" tIns="381" rIns="381" bIns="381" rtlCol="0" anchor="t"/>
          <a:lstStyle/>
          <a:p>
            <a:pPr marL="0" indent="0">
              <a:buNone/>
            </a:pPr>
            <a:r>
              <a:rPr lang="en-US" sz="1550" dirty="0">
                <a:solidFill>
                  <a:srgbClr val="111111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项目目标是在 RISC-V 64 和 LoongArch 64 两种指令集上提供可启动、可构建、可复现、可运行官方测试盘中用户程序的通用内核。</a:t>
            </a:r>
            <a:endParaRPr lang="en-US" sz="1550" dirty="0"/>
          </a:p>
        </p:txBody>
      </p:sp>
      <p:sp>
        <p:nvSpPr>
          <p:cNvPr id="5" name="Text 3"/>
          <p:cNvSpPr/>
          <p:nvPr/>
        </p:nvSpPr>
        <p:spPr>
          <a:xfrm>
            <a:off x="13136880" y="2925787"/>
            <a:ext cx="10789920" cy="658368"/>
          </a:xfrm>
          <a:prstGeom prst="rect">
            <a:avLst/>
          </a:prstGeom>
          <a:noFill/>
        </p:spPr>
        <p:txBody>
          <a:bodyPr wrap="square" lIns="381" tIns="381" rIns="381" bIns="381" rtlCol="0" anchor="t"/>
          <a:lstStyle/>
          <a:p>
            <a:pPr marL="0" indent="0">
              <a:buNone/>
            </a:pPr>
            <a:r>
              <a:rPr lang="en-US" sz="1550" dirty="0">
                <a:solidFill>
                  <a:srgbClr val="111111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当前内核覆盖启动、Trap、上下文切换、任务调度、虚拟内存、EXT4/VFS、设备驱动、信号、futex、socket 与 Linux generic syscall ABI。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13136880" y="3675595"/>
            <a:ext cx="10789920" cy="658368"/>
          </a:xfrm>
          <a:prstGeom prst="rect">
            <a:avLst/>
          </a:prstGeom>
          <a:noFill/>
        </p:spPr>
        <p:txBody>
          <a:bodyPr wrap="square" lIns="381" tIns="381" rIns="381" bIns="381" rtlCol="0" anchor="t"/>
          <a:lstStyle/>
          <a:p>
            <a:pPr marL="0" indent="0">
              <a:buNone/>
            </a:pPr>
            <a:r>
              <a:rPr lang="en-US" sz="1550" dirty="0">
                <a:solidFill>
                  <a:srgbClr val="111111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我们把竞赛脚本编排放在 host 侧生成的脚本盘中，内核只提供通用对象和通用语义，避免识别测例、文件名或字符串后返回伪造结果。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13136880" y="4535131"/>
            <a:ext cx="10424160" cy="475488"/>
          </a:xfrm>
          <a:prstGeom prst="rect">
            <a:avLst/>
          </a:prstGeom>
          <a:noFill/>
        </p:spPr>
        <p:txBody>
          <a:bodyPr wrap="square" lIns="381" tIns="381" rIns="381" bIns="381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111111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核心判断标准：能否用同一套内核机制稳定跑完公开测试，能否从日志、源码和构建入口复现结果。</a:t>
            </a:r>
            <a:endParaRPr lang="en-US" sz="1550" dirty="0"/>
          </a:p>
        </p:txBody>
      </p:sp>
      <p:cxnSp>
        <p:nvCxnSpPr>
          <p:cNvPr id="8" name="直接连接符 7"/>
          <p:cNvCxnSpPr/>
          <p:nvPr/>
        </p:nvCxnSpPr>
        <p:spPr>
          <a:xfrm>
            <a:off x="519545" y="1039091"/>
            <a:ext cx="7813964" cy="0"/>
          </a:xfrm>
          <a:prstGeom prst="line">
            <a:avLst/>
          </a:prstGeom>
          <a:ln w="38100">
            <a:solidFill>
              <a:schemeClr val="bg2">
                <a:lumMod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 8"/>
          <p:cNvSpPr/>
          <p:nvPr/>
        </p:nvSpPr>
        <p:spPr>
          <a:xfrm>
            <a:off x="11641282" y="342901"/>
            <a:ext cx="259773" cy="581891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文本框 9"/>
          <p:cNvSpPr txBox="1"/>
          <p:nvPr/>
        </p:nvSpPr>
        <p:spPr>
          <a:xfrm>
            <a:off x="550718" y="155351"/>
            <a:ext cx="2441694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4400" dirty="0">
                <a:latin typeface="华文中宋" panose="02010600040101010101" pitchFamily="2" charset="-122"/>
                <a:ea typeface="华文中宋" panose="02010600040101010101" pitchFamily="2" charset="-122"/>
              </a:rPr>
              <a:t>项目介绍</a:t>
            </a:r>
          </a:p>
        </p:txBody>
      </p:sp>
      <p:sp>
        <p:nvSpPr>
          <p:cNvPr id="11" name="文本框 10"/>
          <p:cNvSpPr txBox="1"/>
          <p:nvPr/>
        </p:nvSpPr>
        <p:spPr>
          <a:xfrm>
            <a:off x="687774" y="1153391"/>
            <a:ext cx="20901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华文中宋" panose="02010600040101010101" pitchFamily="2" charset="-122"/>
                <a:ea typeface="华文中宋" panose="02010600040101010101" pitchFamily="2" charset="-122"/>
              </a:rPr>
              <a:t>Introduction </a:t>
            </a:r>
            <a:endParaRPr lang="zh-CN" altLang="en-US" dirty="0">
              <a:latin typeface="华文中宋" panose="02010600040101010101" pitchFamily="2" charset="-122"/>
              <a:ea typeface="华文中宋" panose="02010600040101010101" pitchFamily="2" charset="-122"/>
            </a:endParaRPr>
          </a:p>
        </p:txBody>
      </p:sp>
      <p:sp>
        <p:nvSpPr>
          <p:cNvPr id="13" name="矩形 12"/>
          <p:cNvSpPr/>
          <p:nvPr/>
        </p:nvSpPr>
        <p:spPr>
          <a:xfrm>
            <a:off x="5948133" y="4121189"/>
            <a:ext cx="5527587" cy="2020408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63500" sx="102000" sy="102000" algn="ctr" rotWithShape="0">
              <a:prstClr val="black">
                <a:alpha val="18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5" name="文本框 14"/>
          <p:cNvSpPr txBox="1"/>
          <p:nvPr/>
        </p:nvSpPr>
        <p:spPr>
          <a:xfrm>
            <a:off x="6080760" y="4333963"/>
            <a:ext cx="203132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400" dirty="0">
                <a:solidFill>
                  <a:schemeClr val="bg2">
                    <a:lumMod val="25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涵盖内容包括</a:t>
            </a:r>
          </a:p>
        </p:txBody>
      </p:sp>
      <p:sp>
        <p:nvSpPr>
          <p:cNvPr id="17" name="矩形 16"/>
          <p:cNvSpPr/>
          <p:nvPr/>
        </p:nvSpPr>
        <p:spPr>
          <a:xfrm>
            <a:off x="5932892" y="1707297"/>
            <a:ext cx="5527587" cy="2020408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63500" sx="102000" sy="102000" algn="ctr" rotWithShape="0">
              <a:prstClr val="black">
                <a:alpha val="18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ct val="125000"/>
              </a:lnSpc>
            </a:pPr>
            <a:endParaRPr lang="zh-CN" altLang="en-US" dirty="0"/>
          </a:p>
        </p:txBody>
      </p:sp>
      <p:grpSp>
        <p:nvGrpSpPr>
          <p:cNvPr id="21" name="组合 20"/>
          <p:cNvGrpSpPr/>
          <p:nvPr/>
        </p:nvGrpSpPr>
        <p:grpSpPr>
          <a:xfrm rot="10800000">
            <a:off x="550718" y="5306600"/>
            <a:ext cx="847652" cy="850140"/>
            <a:chOff x="4144312" y="1707297"/>
            <a:chExt cx="958000" cy="955510"/>
          </a:xfrm>
        </p:grpSpPr>
        <p:sp>
          <p:nvSpPr>
            <p:cNvPr id="22" name="矩形 21"/>
            <p:cNvSpPr/>
            <p:nvPr/>
          </p:nvSpPr>
          <p:spPr>
            <a:xfrm>
              <a:off x="4199486" y="1707297"/>
              <a:ext cx="902826" cy="902826"/>
            </a:xfrm>
            <a:prstGeom prst="rect">
              <a:avLst/>
            </a:prstGeom>
            <a:solidFill>
              <a:schemeClr val="bg2">
                <a:lumMod val="2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3" name="矩形 22"/>
            <p:cNvSpPr/>
            <p:nvPr/>
          </p:nvSpPr>
          <p:spPr>
            <a:xfrm>
              <a:off x="4144312" y="1759981"/>
              <a:ext cx="902826" cy="90282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25" name="文本框 24"/>
          <p:cNvSpPr txBox="1"/>
          <p:nvPr/>
        </p:nvSpPr>
        <p:spPr>
          <a:xfrm>
            <a:off x="8333509" y="5061086"/>
            <a:ext cx="217664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dirty="0">
                <a:solidFill>
                  <a:srgbClr val="111111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ABI</a:t>
            </a:r>
            <a:endParaRPr lang="zh-CN" altLang="en-US" sz="3200" dirty="0">
              <a:latin typeface="华文中宋" panose="02010600040101010101" pitchFamily="2" charset="-122"/>
              <a:ea typeface="华文中宋" panose="02010600040101010101" pitchFamily="2" charset="-122"/>
            </a:endParaRPr>
          </a:p>
        </p:txBody>
      </p:sp>
      <p:sp>
        <p:nvSpPr>
          <p:cNvPr id="27" name="文本框 26"/>
          <p:cNvSpPr txBox="1"/>
          <p:nvPr/>
        </p:nvSpPr>
        <p:spPr>
          <a:xfrm>
            <a:off x="5996952" y="5131393"/>
            <a:ext cx="114646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dirty="0">
                <a:solidFill>
                  <a:schemeClr val="bg2">
                    <a:lumMod val="75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socket</a:t>
            </a:r>
            <a:endParaRPr lang="zh-CN" altLang="en-US" sz="2400" dirty="0">
              <a:solidFill>
                <a:schemeClr val="bg2">
                  <a:lumMod val="75000"/>
                </a:schemeClr>
              </a:solidFill>
              <a:latin typeface="华文中宋" panose="02010600040101010101" pitchFamily="2" charset="-122"/>
              <a:ea typeface="华文中宋" panose="02010600040101010101" pitchFamily="2" charset="-122"/>
            </a:endParaRPr>
          </a:p>
        </p:txBody>
      </p:sp>
      <p:sp>
        <p:nvSpPr>
          <p:cNvPr id="2" name="Text Box 1"/>
          <p:cNvSpPr txBox="1"/>
          <p:nvPr/>
        </p:nvSpPr>
        <p:spPr>
          <a:xfrm>
            <a:off x="3048000" y="2863850"/>
            <a:ext cx="6096000" cy="43751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25000"/>
              </a:lnSpc>
            </a:pPr>
            <a:endParaRPr lang="en-US" altLang="zh-CN" dirty="0" err="1">
              <a:solidFill>
                <a:schemeClr val="bg2">
                  <a:lumMod val="50000"/>
                </a:schemeClr>
              </a:solidFill>
              <a:latin typeface="华文中宋" panose="02010600040101010101" pitchFamily="2" charset="-122"/>
              <a:ea typeface="华文中宋" panose="02010600040101010101" pitchFamily="2" charset="-122"/>
              <a:cs typeface="等线" pitchFamily="34" charset="-120"/>
              <a:sym typeface="+mn-ea"/>
            </a:endParaRPr>
          </a:p>
        </p:txBody>
      </p:sp>
      <p:sp>
        <p:nvSpPr>
          <p:cNvPr id="14" name="文本框 29"/>
          <p:cNvSpPr txBox="1"/>
          <p:nvPr/>
        </p:nvSpPr>
        <p:spPr>
          <a:xfrm>
            <a:off x="6313360" y="2155631"/>
            <a:ext cx="4766649" cy="10993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5000"/>
              </a:lnSpc>
            </a:pPr>
            <a:r>
              <a:rPr lang="en-US" altLang="zh-CN" dirty="0" err="1">
                <a:solidFill>
                  <a:schemeClr val="bg2">
                    <a:lumMod val="50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  <a:cs typeface="等线" pitchFamily="34" charset="-120"/>
              </a:rPr>
              <a:t>项目目标</a:t>
            </a:r>
            <a:r>
              <a:rPr lang="en-US" altLang="zh-CN" dirty="0" err="1">
                <a:solidFill>
                  <a:srgbClr val="111111"/>
                </a:solidFill>
                <a:latin typeface="华文中宋" panose="02010600040101010101" pitchFamily="2" charset="-122"/>
                <a:ea typeface="华文中宋" panose="02010600040101010101" pitchFamily="2" charset="-122"/>
                <a:cs typeface="等线" pitchFamily="34" charset="-120"/>
              </a:rPr>
              <a:t>是在</a:t>
            </a:r>
            <a:r>
              <a:rPr lang="en-US" altLang="zh-CN" dirty="0">
                <a:solidFill>
                  <a:srgbClr val="111111"/>
                </a:solidFill>
                <a:latin typeface="华文中宋" panose="02010600040101010101" pitchFamily="2" charset="-122"/>
                <a:ea typeface="华文中宋" panose="02010600040101010101" pitchFamily="2" charset="-122"/>
                <a:cs typeface="等线" pitchFamily="34" charset="-120"/>
              </a:rPr>
              <a:t> </a:t>
            </a:r>
            <a:r>
              <a:rPr lang="en-US" altLang="zh-CN" dirty="0">
                <a:solidFill>
                  <a:schemeClr val="bg2">
                    <a:lumMod val="50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  <a:cs typeface="等线" pitchFamily="34" charset="-120"/>
              </a:rPr>
              <a:t>RISC-V 64 </a:t>
            </a:r>
            <a:r>
              <a:rPr lang="en-US" altLang="zh-CN" dirty="0">
                <a:solidFill>
                  <a:srgbClr val="111111"/>
                </a:solidFill>
                <a:latin typeface="华文中宋" panose="02010600040101010101" pitchFamily="2" charset="-122"/>
                <a:ea typeface="华文中宋" panose="02010600040101010101" pitchFamily="2" charset="-122"/>
                <a:cs typeface="等线" pitchFamily="34" charset="-120"/>
              </a:rPr>
              <a:t>和 </a:t>
            </a:r>
            <a:r>
              <a:rPr lang="en-US" altLang="zh-CN" dirty="0" err="1">
                <a:solidFill>
                  <a:schemeClr val="bg2">
                    <a:lumMod val="50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  <a:cs typeface="等线" pitchFamily="34" charset="-120"/>
              </a:rPr>
              <a:t>LoongArch</a:t>
            </a:r>
            <a:r>
              <a:rPr lang="en-US" altLang="zh-CN" dirty="0">
                <a:solidFill>
                  <a:schemeClr val="bg2">
                    <a:lumMod val="50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  <a:cs typeface="等线" pitchFamily="34" charset="-120"/>
              </a:rPr>
              <a:t> 64 </a:t>
            </a:r>
            <a:r>
              <a:rPr lang="en-US" altLang="zh-CN" dirty="0" err="1">
                <a:solidFill>
                  <a:srgbClr val="111111"/>
                </a:solidFill>
                <a:latin typeface="华文中宋" panose="02010600040101010101" pitchFamily="2" charset="-122"/>
                <a:ea typeface="华文中宋" panose="02010600040101010101" pitchFamily="2" charset="-122"/>
                <a:cs typeface="等线" pitchFamily="34" charset="-120"/>
              </a:rPr>
              <a:t>两种指令集上提供可启动、可构建、可复现、可运行官方测试盘中用户程序的</a:t>
            </a:r>
            <a:r>
              <a:rPr lang="en-US" altLang="zh-CN" dirty="0" err="1">
                <a:solidFill>
                  <a:schemeClr val="bg2">
                    <a:lumMod val="50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  <a:cs typeface="等线" pitchFamily="34" charset="-120"/>
              </a:rPr>
              <a:t>通用内核</a:t>
            </a:r>
            <a:endParaRPr lang="zh-CN" altLang="en-US" dirty="0">
              <a:solidFill>
                <a:schemeClr val="bg2">
                  <a:lumMod val="50000"/>
                </a:schemeClr>
              </a:solidFill>
              <a:latin typeface="华文中宋" panose="02010600040101010101" pitchFamily="2" charset="-122"/>
              <a:ea typeface="华文中宋" panose="02010600040101010101" pitchFamily="2" charset="-122"/>
            </a:endParaRP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FE50029D-9D20-AEC1-90BE-5ADC4437ECB9}"/>
              </a:ext>
            </a:extLst>
          </p:cNvPr>
          <p:cNvSpPr txBox="1"/>
          <p:nvPr/>
        </p:nvSpPr>
        <p:spPr>
          <a:xfrm>
            <a:off x="818282" y="2425431"/>
            <a:ext cx="4463517" cy="32694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en-US" sz="2000" dirty="0">
                <a:solidFill>
                  <a:schemeClr val="bg2">
                    <a:lumMod val="10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WHUSP </a:t>
            </a:r>
            <a:r>
              <a:rPr lang="zh-CN" altLang="en-US" sz="2000" dirty="0">
                <a:solidFill>
                  <a:schemeClr val="bg2">
                    <a:lumMod val="10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是武汉大学 最后一次入门</a:t>
            </a:r>
            <a:r>
              <a:rPr lang="en-US" altLang="zh-CN" sz="2000" dirty="0">
                <a:solidFill>
                  <a:schemeClr val="bg2">
                    <a:lumMod val="10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RUST </a:t>
            </a:r>
            <a:r>
              <a:rPr lang="zh-CN" altLang="en-US" sz="2000" dirty="0">
                <a:solidFill>
                  <a:schemeClr val="bg2">
                    <a:lumMod val="10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队开发的 </a:t>
            </a:r>
            <a:r>
              <a:rPr lang="en-US" altLang="en-US" sz="2000" dirty="0">
                <a:solidFill>
                  <a:schemeClr val="bg2">
                    <a:lumMod val="50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Rust </a:t>
            </a:r>
            <a:r>
              <a:rPr lang="zh-CN" altLang="en-US" sz="2000" dirty="0">
                <a:solidFill>
                  <a:schemeClr val="bg2">
                    <a:lumMod val="50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宏内核</a:t>
            </a:r>
            <a:r>
              <a:rPr lang="zh-CN" altLang="en-US" sz="2000" dirty="0">
                <a:solidFill>
                  <a:schemeClr val="bg2">
                    <a:lumMod val="10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，支持 </a:t>
            </a:r>
            <a:r>
              <a:rPr lang="en-US" altLang="en-US" sz="2000" dirty="0">
                <a:solidFill>
                  <a:schemeClr val="bg2">
                    <a:lumMod val="10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RISC-V 64 </a:t>
            </a:r>
            <a:r>
              <a:rPr lang="zh-CN" altLang="en-US" sz="2000" dirty="0">
                <a:solidFill>
                  <a:schemeClr val="bg2">
                    <a:lumMod val="10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与 </a:t>
            </a:r>
            <a:r>
              <a:rPr lang="en-US" altLang="en-US" sz="2000" dirty="0">
                <a:solidFill>
                  <a:schemeClr val="bg2">
                    <a:lumMod val="10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LoongArch 64 </a:t>
            </a:r>
            <a:r>
              <a:rPr lang="zh-CN" altLang="en-US" sz="2000" dirty="0">
                <a:solidFill>
                  <a:schemeClr val="bg2">
                    <a:lumMod val="50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双架构</a:t>
            </a:r>
            <a:r>
              <a:rPr lang="zh-CN" altLang="en-US" sz="2000" dirty="0">
                <a:solidFill>
                  <a:schemeClr val="bg2">
                    <a:lumMod val="10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，能够运行基于 </a:t>
            </a:r>
            <a:r>
              <a:rPr lang="en-US" altLang="en-US" sz="2000" dirty="0">
                <a:solidFill>
                  <a:schemeClr val="bg2">
                    <a:lumMod val="10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Linux ABI </a:t>
            </a:r>
            <a:r>
              <a:rPr lang="zh-CN" altLang="en-US" sz="2000" dirty="0">
                <a:solidFill>
                  <a:schemeClr val="bg2">
                    <a:lumMod val="10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的真实用户程序，并具备进程调度、虚拟内存、文件系统、网络与信号处理等核心能力。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250">
        <p159:morph option="byObject"/>
      </p:transition>
    </mc:Choice>
    <mc:Fallback xmlns="">
      <p:transition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直接连接符 7"/>
          <p:cNvCxnSpPr/>
          <p:nvPr/>
        </p:nvCxnSpPr>
        <p:spPr>
          <a:xfrm>
            <a:off x="519545" y="1039091"/>
            <a:ext cx="7813964" cy="0"/>
          </a:xfrm>
          <a:prstGeom prst="line">
            <a:avLst/>
          </a:prstGeom>
          <a:ln w="38100">
            <a:solidFill>
              <a:schemeClr val="bg2">
                <a:lumMod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 8"/>
          <p:cNvSpPr/>
          <p:nvPr/>
        </p:nvSpPr>
        <p:spPr>
          <a:xfrm>
            <a:off x="11641282" y="342901"/>
            <a:ext cx="259773" cy="581891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文本框 9"/>
          <p:cNvSpPr txBox="1"/>
          <p:nvPr/>
        </p:nvSpPr>
        <p:spPr>
          <a:xfrm>
            <a:off x="550718" y="155351"/>
            <a:ext cx="2441694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4400" dirty="0">
                <a:latin typeface="华文中宋" panose="02010600040101010101" pitchFamily="2" charset="-122"/>
                <a:ea typeface="华文中宋" panose="02010600040101010101" pitchFamily="2" charset="-122"/>
              </a:rPr>
              <a:t>项目介绍</a:t>
            </a:r>
          </a:p>
        </p:txBody>
      </p:sp>
      <p:sp>
        <p:nvSpPr>
          <p:cNvPr id="11" name="文本框 10"/>
          <p:cNvSpPr txBox="1"/>
          <p:nvPr/>
        </p:nvSpPr>
        <p:spPr>
          <a:xfrm>
            <a:off x="687774" y="1153391"/>
            <a:ext cx="20901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华文中宋" panose="02010600040101010101" pitchFamily="2" charset="-122"/>
                <a:ea typeface="华文中宋" panose="02010600040101010101" pitchFamily="2" charset="-122"/>
              </a:rPr>
              <a:t>Introduction </a:t>
            </a:r>
            <a:endParaRPr lang="zh-CN" altLang="en-US" dirty="0">
              <a:latin typeface="华文中宋" panose="02010600040101010101" pitchFamily="2" charset="-122"/>
              <a:ea typeface="华文中宋" panose="02010600040101010101" pitchFamily="2" charset="-122"/>
            </a:endParaRPr>
          </a:p>
        </p:txBody>
      </p:sp>
      <p:grpSp>
        <p:nvGrpSpPr>
          <p:cNvPr id="24" name="组合 23"/>
          <p:cNvGrpSpPr/>
          <p:nvPr/>
        </p:nvGrpSpPr>
        <p:grpSpPr>
          <a:xfrm>
            <a:off x="-178449" y="1637022"/>
            <a:ext cx="3170861" cy="511386"/>
            <a:chOff x="-178449" y="1764081"/>
            <a:chExt cx="3170861" cy="511386"/>
          </a:xfrm>
        </p:grpSpPr>
        <p:sp>
          <p:nvSpPr>
            <p:cNvPr id="14" name="矩形 13"/>
            <p:cNvSpPr/>
            <p:nvPr/>
          </p:nvSpPr>
          <p:spPr>
            <a:xfrm>
              <a:off x="-178449" y="1764081"/>
              <a:ext cx="3170861" cy="511386"/>
            </a:xfrm>
            <a:prstGeom prst="rect">
              <a:avLst/>
            </a:prstGeom>
            <a:solidFill>
              <a:schemeClr val="bg2">
                <a:lumMod val="2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2" name="文本框 1"/>
            <p:cNvSpPr txBox="1"/>
            <p:nvPr/>
          </p:nvSpPr>
          <p:spPr>
            <a:xfrm>
              <a:off x="875482" y="1782628"/>
              <a:ext cx="2031325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400" dirty="0">
                  <a:solidFill>
                    <a:schemeClr val="bg1"/>
                  </a:solidFill>
                  <a:latin typeface="华文中宋" panose="02010600040101010101" pitchFamily="2" charset="-122"/>
                  <a:ea typeface="华文中宋" panose="02010600040101010101" pitchFamily="2" charset="-122"/>
                </a:rPr>
                <a:t>具体特色如下</a:t>
              </a:r>
            </a:p>
          </p:txBody>
        </p:sp>
      </p:grpSp>
      <p:sp>
        <p:nvSpPr>
          <p:cNvPr id="32" name="矩形 31"/>
          <p:cNvSpPr/>
          <p:nvPr/>
        </p:nvSpPr>
        <p:spPr>
          <a:xfrm>
            <a:off x="5151576" y="2505163"/>
            <a:ext cx="1993081" cy="364958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76200" sx="101000" sy="101000" algn="ctr" rotWithShape="0">
              <a:prstClr val="black">
                <a:alpha val="23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42" name="组合 41"/>
          <p:cNvGrpSpPr/>
          <p:nvPr/>
        </p:nvGrpSpPr>
        <p:grpSpPr>
          <a:xfrm>
            <a:off x="5318458" y="2564408"/>
            <a:ext cx="1706880" cy="519305"/>
            <a:chOff x="717763" y="2535622"/>
            <a:chExt cx="1706880" cy="519305"/>
          </a:xfrm>
        </p:grpSpPr>
        <p:cxnSp>
          <p:nvCxnSpPr>
            <p:cNvPr id="43" name="直接连接符 42"/>
            <p:cNvCxnSpPr/>
            <p:nvPr/>
          </p:nvCxnSpPr>
          <p:spPr>
            <a:xfrm>
              <a:off x="789709" y="3054927"/>
              <a:ext cx="1517073" cy="0"/>
            </a:xfrm>
            <a:prstGeom prst="line">
              <a:avLst/>
            </a:prstGeom>
            <a:ln w="25400">
              <a:solidFill>
                <a:schemeClr val="bg2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4" name="文本框 43"/>
            <p:cNvSpPr txBox="1"/>
            <p:nvPr/>
          </p:nvSpPr>
          <p:spPr>
            <a:xfrm>
              <a:off x="717763" y="2535622"/>
              <a:ext cx="1706880" cy="4603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400" dirty="0">
                  <a:latin typeface="华文中宋" panose="02010600040101010101" pitchFamily="2" charset="-122"/>
                  <a:ea typeface="华文中宋" panose="02010600040101010101" pitchFamily="2" charset="-122"/>
                </a:rPr>
                <a:t>广泛兼容性</a:t>
              </a:r>
            </a:p>
          </p:txBody>
        </p:sp>
      </p:grpSp>
      <p:grpSp>
        <p:nvGrpSpPr>
          <p:cNvPr id="20" name="组合 19">
            <a:extLst>
              <a:ext uri="{FF2B5EF4-FFF2-40B4-BE49-F238E27FC236}">
                <a16:creationId xmlns:a16="http://schemas.microsoft.com/office/drawing/2014/main" id="{B2CC1839-6131-78BC-3FAD-F007A3797A47}"/>
              </a:ext>
            </a:extLst>
          </p:cNvPr>
          <p:cNvGrpSpPr/>
          <p:nvPr/>
        </p:nvGrpSpPr>
        <p:grpSpPr>
          <a:xfrm>
            <a:off x="542300" y="2488660"/>
            <a:ext cx="1993081" cy="3649580"/>
            <a:chOff x="542300" y="2488660"/>
            <a:chExt cx="1993081" cy="3649580"/>
          </a:xfrm>
        </p:grpSpPr>
        <p:sp>
          <p:nvSpPr>
            <p:cNvPr id="16" name="矩形 15"/>
            <p:cNvSpPr/>
            <p:nvPr/>
          </p:nvSpPr>
          <p:spPr>
            <a:xfrm>
              <a:off x="542300" y="2488660"/>
              <a:ext cx="1993081" cy="364958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sx="101000" sy="101000" algn="ctr" rotWithShape="0">
                <a:prstClr val="black">
                  <a:alpha val="23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pSp>
          <p:nvGrpSpPr>
            <p:cNvPr id="48" name="组合 47"/>
            <p:cNvGrpSpPr/>
            <p:nvPr/>
          </p:nvGrpSpPr>
          <p:grpSpPr>
            <a:xfrm>
              <a:off x="720853" y="2540961"/>
              <a:ext cx="1706880" cy="513966"/>
              <a:chOff x="720853" y="2540961"/>
              <a:chExt cx="1706880" cy="513966"/>
            </a:xfrm>
          </p:grpSpPr>
          <p:cxnSp>
            <p:nvCxnSpPr>
              <p:cNvPr id="49" name="直接连接符 48"/>
              <p:cNvCxnSpPr/>
              <p:nvPr/>
            </p:nvCxnSpPr>
            <p:spPr>
              <a:xfrm>
                <a:off x="789709" y="3054927"/>
                <a:ext cx="1517073" cy="0"/>
              </a:xfrm>
              <a:prstGeom prst="line">
                <a:avLst/>
              </a:prstGeom>
              <a:ln w="25400">
                <a:solidFill>
                  <a:schemeClr val="bg2">
                    <a:lumMod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0" name="文本框 49"/>
              <p:cNvSpPr txBox="1"/>
              <p:nvPr/>
            </p:nvSpPr>
            <p:spPr>
              <a:xfrm>
                <a:off x="720853" y="2540961"/>
                <a:ext cx="1706880" cy="4603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2400" dirty="0">
                    <a:latin typeface="华文中宋" panose="02010600040101010101" pitchFamily="2" charset="-122"/>
                    <a:ea typeface="华文中宋" panose="02010600040101010101" pitchFamily="2" charset="-122"/>
                  </a:rPr>
                  <a:t>双架构适配</a:t>
                </a:r>
              </a:p>
            </p:txBody>
          </p:sp>
        </p:grpSp>
        <p:sp>
          <p:nvSpPr>
            <p:cNvPr id="51" name="文本框 50"/>
            <p:cNvSpPr txBox="1"/>
            <p:nvPr/>
          </p:nvSpPr>
          <p:spPr>
            <a:xfrm flipH="1">
              <a:off x="674950" y="3200558"/>
              <a:ext cx="1801888" cy="144558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25000"/>
                </a:lnSpc>
              </a:pPr>
              <a:r>
                <a:rPr lang="en-US" altLang="zh-CN" dirty="0">
                  <a:solidFill>
                    <a:srgbClr val="111111"/>
                  </a:solidFill>
                  <a:latin typeface="华文中宋" panose="02010600040101010101" pitchFamily="2" charset="-122"/>
                  <a:ea typeface="华文中宋" panose="02010600040101010101" pitchFamily="2" charset="-122"/>
                  <a:cs typeface="等线" pitchFamily="34" charset="-120"/>
                </a:rPr>
                <a:t>RISC-V 64 与 </a:t>
              </a:r>
              <a:r>
                <a:rPr lang="en-US" altLang="zh-CN" dirty="0" err="1">
                  <a:solidFill>
                    <a:srgbClr val="111111"/>
                  </a:solidFill>
                  <a:latin typeface="华文中宋" panose="02010600040101010101" pitchFamily="2" charset="-122"/>
                  <a:ea typeface="华文中宋" panose="02010600040101010101" pitchFamily="2" charset="-122"/>
                  <a:cs typeface="等线" pitchFamily="34" charset="-120"/>
                </a:rPr>
                <a:t>LoongArch</a:t>
              </a:r>
              <a:r>
                <a:rPr lang="en-US" altLang="zh-CN" dirty="0">
                  <a:solidFill>
                    <a:srgbClr val="111111"/>
                  </a:solidFill>
                  <a:latin typeface="华文中宋" panose="02010600040101010101" pitchFamily="2" charset="-122"/>
                  <a:ea typeface="华文中宋" panose="02010600040101010101" pitchFamily="2" charset="-122"/>
                  <a:cs typeface="等线" pitchFamily="34" charset="-120"/>
                </a:rPr>
                <a:t> 64 </a:t>
              </a:r>
              <a:r>
                <a:rPr lang="en-US" altLang="zh-CN" dirty="0" err="1">
                  <a:solidFill>
                    <a:srgbClr val="111111"/>
                  </a:solidFill>
                  <a:latin typeface="华文中宋" panose="02010600040101010101" pitchFamily="2" charset="-122"/>
                  <a:ea typeface="华文中宋" panose="02010600040101010101" pitchFamily="2" charset="-122"/>
                  <a:cs typeface="等线" pitchFamily="34" charset="-120"/>
                </a:rPr>
                <a:t>共用主干，差异收敛在</a:t>
              </a:r>
              <a:r>
                <a:rPr lang="en-US" altLang="zh-CN" dirty="0">
                  <a:solidFill>
                    <a:srgbClr val="111111"/>
                  </a:solidFill>
                  <a:latin typeface="华文中宋" panose="02010600040101010101" pitchFamily="2" charset="-122"/>
                  <a:ea typeface="华文中宋" panose="02010600040101010101" pitchFamily="2" charset="-122"/>
                  <a:cs typeface="等线" pitchFamily="34" charset="-120"/>
                </a:rPr>
                <a:t> arch 层</a:t>
              </a:r>
              <a:endParaRPr lang="zh-CN" altLang="en-US" dirty="0">
                <a:latin typeface="华文中宋" panose="02010600040101010101" pitchFamily="2" charset="-122"/>
                <a:ea typeface="华文中宋" panose="02010600040101010101" pitchFamily="2" charset="-122"/>
              </a:endParaRPr>
            </a:p>
          </p:txBody>
        </p:sp>
      </p:grpSp>
      <p:sp>
        <p:nvSpPr>
          <p:cNvPr id="53" name="文本框 52"/>
          <p:cNvSpPr txBox="1"/>
          <p:nvPr/>
        </p:nvSpPr>
        <p:spPr>
          <a:xfrm flipH="1">
            <a:off x="5270954" y="3210003"/>
            <a:ext cx="1801888" cy="18224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25000"/>
              </a:lnSpc>
            </a:pPr>
            <a:r>
              <a:rPr lang="en-US" altLang="zh-CN" dirty="0" err="1">
                <a:solidFill>
                  <a:srgbClr val="111111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覆盖约</a:t>
            </a:r>
            <a:r>
              <a:rPr lang="en-US" altLang="zh-CN" dirty="0">
                <a:solidFill>
                  <a:srgbClr val="111111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 250 个 Linux generic </a:t>
            </a:r>
            <a:r>
              <a:rPr lang="en-US" altLang="zh-CN" dirty="0" err="1">
                <a:solidFill>
                  <a:srgbClr val="111111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syscall，</a:t>
            </a:r>
            <a:r>
              <a:rPr lang="zh-CN" altLang="en-US" dirty="0" err="1">
                <a:solidFill>
                  <a:srgbClr val="111111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能够运行</a:t>
            </a:r>
            <a:r>
              <a:rPr lang="en-US" altLang="zh-CN" dirty="0" err="1">
                <a:solidFill>
                  <a:srgbClr val="111111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gcc,git</a:t>
            </a:r>
            <a:r>
              <a:rPr lang="zh-CN" altLang="en-US" dirty="0" err="1">
                <a:solidFill>
                  <a:srgbClr val="111111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等真实程序</a:t>
            </a:r>
          </a:p>
        </p:txBody>
      </p:sp>
      <p:grpSp>
        <p:nvGrpSpPr>
          <p:cNvPr id="21" name="组合 20">
            <a:extLst>
              <a:ext uri="{FF2B5EF4-FFF2-40B4-BE49-F238E27FC236}">
                <a16:creationId xmlns:a16="http://schemas.microsoft.com/office/drawing/2014/main" id="{7A506CD0-5CF6-C83E-AAD2-13438D7C2128}"/>
              </a:ext>
            </a:extLst>
          </p:cNvPr>
          <p:cNvGrpSpPr/>
          <p:nvPr/>
        </p:nvGrpSpPr>
        <p:grpSpPr>
          <a:xfrm>
            <a:off x="2856053" y="2488660"/>
            <a:ext cx="1993081" cy="3649580"/>
            <a:chOff x="542300" y="2488660"/>
            <a:chExt cx="1993081" cy="3649580"/>
          </a:xfrm>
        </p:grpSpPr>
        <p:sp>
          <p:nvSpPr>
            <p:cNvPr id="22" name="矩形 21">
              <a:extLst>
                <a:ext uri="{FF2B5EF4-FFF2-40B4-BE49-F238E27FC236}">
                  <a16:creationId xmlns:a16="http://schemas.microsoft.com/office/drawing/2014/main" id="{1B566D93-D7C4-3D6C-16C2-F6DEC47DA7DD}"/>
                </a:ext>
              </a:extLst>
            </p:cNvPr>
            <p:cNvSpPr/>
            <p:nvPr/>
          </p:nvSpPr>
          <p:spPr>
            <a:xfrm>
              <a:off x="542300" y="2488660"/>
              <a:ext cx="1993081" cy="364958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sx="101000" sy="101000" algn="ctr" rotWithShape="0">
                <a:prstClr val="black">
                  <a:alpha val="23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pSp>
          <p:nvGrpSpPr>
            <p:cNvPr id="23" name="组合 22">
              <a:extLst>
                <a:ext uri="{FF2B5EF4-FFF2-40B4-BE49-F238E27FC236}">
                  <a16:creationId xmlns:a16="http://schemas.microsoft.com/office/drawing/2014/main" id="{ADBBDF82-C21E-F5B0-0099-BBB1411BDC45}"/>
                </a:ext>
              </a:extLst>
            </p:cNvPr>
            <p:cNvGrpSpPr/>
            <p:nvPr/>
          </p:nvGrpSpPr>
          <p:grpSpPr>
            <a:xfrm>
              <a:off x="789709" y="2540961"/>
              <a:ext cx="1517073" cy="513966"/>
              <a:chOff x="789709" y="2540961"/>
              <a:chExt cx="1517073" cy="513966"/>
            </a:xfrm>
          </p:grpSpPr>
          <p:cxnSp>
            <p:nvCxnSpPr>
              <p:cNvPr id="26" name="直接连接符 25">
                <a:extLst>
                  <a:ext uri="{FF2B5EF4-FFF2-40B4-BE49-F238E27FC236}">
                    <a16:creationId xmlns:a16="http://schemas.microsoft.com/office/drawing/2014/main" id="{57CA1F65-113E-7CCF-FA32-F8562BFACABE}"/>
                  </a:ext>
                </a:extLst>
              </p:cNvPr>
              <p:cNvCxnSpPr/>
              <p:nvPr/>
            </p:nvCxnSpPr>
            <p:spPr>
              <a:xfrm>
                <a:off x="789709" y="3054927"/>
                <a:ext cx="1517073" cy="0"/>
              </a:xfrm>
              <a:prstGeom prst="line">
                <a:avLst/>
              </a:prstGeom>
              <a:ln w="25400">
                <a:solidFill>
                  <a:schemeClr val="bg2">
                    <a:lumMod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" name="文本框 26">
                <a:extLst>
                  <a:ext uri="{FF2B5EF4-FFF2-40B4-BE49-F238E27FC236}">
                    <a16:creationId xmlns:a16="http://schemas.microsoft.com/office/drawing/2014/main" id="{6B5F9F84-5899-9AFB-5425-E37FBD5261FD}"/>
                  </a:ext>
                </a:extLst>
              </p:cNvPr>
              <p:cNvSpPr txBox="1"/>
              <p:nvPr/>
            </p:nvSpPr>
            <p:spPr>
              <a:xfrm>
                <a:off x="797606" y="2540961"/>
                <a:ext cx="1415772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2400" dirty="0">
                    <a:latin typeface="华文中宋" panose="02010600040101010101" pitchFamily="2" charset="-122"/>
                    <a:ea typeface="华文中宋" panose="02010600040101010101" pitchFamily="2" charset="-122"/>
                  </a:rPr>
                  <a:t>卓越性能</a:t>
                </a:r>
              </a:p>
            </p:txBody>
          </p:sp>
        </p:grpSp>
        <p:sp>
          <p:nvSpPr>
            <p:cNvPr id="25" name="文本框 24">
              <a:extLst>
                <a:ext uri="{FF2B5EF4-FFF2-40B4-BE49-F238E27FC236}">
                  <a16:creationId xmlns:a16="http://schemas.microsoft.com/office/drawing/2014/main" id="{255BAD8B-44ED-1EB0-8B35-8464BE2B85C2}"/>
                </a:ext>
              </a:extLst>
            </p:cNvPr>
            <p:cNvSpPr txBox="1"/>
            <p:nvPr/>
          </p:nvSpPr>
          <p:spPr>
            <a:xfrm flipH="1">
              <a:off x="674950" y="3200558"/>
              <a:ext cx="1801888" cy="144558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25000"/>
                </a:lnSpc>
              </a:pPr>
              <a:r>
                <a:rPr lang="zh-CN" altLang="en-US" dirty="0">
                  <a:solidFill>
                    <a:srgbClr val="111111"/>
                  </a:solidFill>
                  <a:latin typeface="华文中宋" panose="02010600040101010101" pitchFamily="2" charset="-122"/>
                  <a:ea typeface="华文中宋" panose="02010600040101010101" pitchFamily="2" charset="-122"/>
                </a:rPr>
                <a:t>在本机测试情况下，</a:t>
              </a:r>
              <a:r>
                <a:rPr lang="en-US" altLang="zh-CN" dirty="0">
                  <a:solidFill>
                    <a:srgbClr val="111111"/>
                  </a:solidFill>
                  <a:latin typeface="华文中宋" panose="02010600040101010101" pitchFamily="2" charset="-122"/>
                  <a:ea typeface="华文中宋" panose="02010600040101010101" pitchFamily="2" charset="-122"/>
                </a:rPr>
                <a:t>15</a:t>
              </a:r>
              <a:r>
                <a:rPr lang="zh-CN" altLang="en-US" dirty="0">
                  <a:solidFill>
                    <a:srgbClr val="111111"/>
                  </a:solidFill>
                  <a:latin typeface="华文中宋" panose="02010600040101010101" pitchFamily="2" charset="-122"/>
                  <a:ea typeface="华文中宋" panose="02010600040101010101" pitchFamily="2" charset="-122"/>
                </a:rPr>
                <a:t>分钟内能够跑完所有测例</a:t>
              </a:r>
              <a:endParaRPr lang="zh-CN" altLang="en-US" dirty="0">
                <a:latin typeface="华文中宋" panose="02010600040101010101" pitchFamily="2" charset="-122"/>
                <a:ea typeface="华文中宋" panose="02010600040101010101" pitchFamily="2" charset="-122"/>
              </a:endParaRPr>
            </a:p>
          </p:txBody>
        </p:sp>
      </p:grpSp>
      <p:grpSp>
        <p:nvGrpSpPr>
          <p:cNvPr id="28" name="组合 27">
            <a:extLst>
              <a:ext uri="{FF2B5EF4-FFF2-40B4-BE49-F238E27FC236}">
                <a16:creationId xmlns:a16="http://schemas.microsoft.com/office/drawing/2014/main" id="{1156D3D3-6600-C375-9957-189C2AFCC3EB}"/>
              </a:ext>
            </a:extLst>
          </p:cNvPr>
          <p:cNvGrpSpPr/>
          <p:nvPr/>
        </p:nvGrpSpPr>
        <p:grpSpPr>
          <a:xfrm>
            <a:off x="7465329" y="2505163"/>
            <a:ext cx="2049256" cy="3649580"/>
            <a:chOff x="542300" y="2488660"/>
            <a:chExt cx="2049256" cy="3649580"/>
          </a:xfrm>
        </p:grpSpPr>
        <p:sp>
          <p:nvSpPr>
            <p:cNvPr id="29" name="矩形 28">
              <a:extLst>
                <a:ext uri="{FF2B5EF4-FFF2-40B4-BE49-F238E27FC236}">
                  <a16:creationId xmlns:a16="http://schemas.microsoft.com/office/drawing/2014/main" id="{68A7731C-0A7E-4415-412D-2FD910D74D7A}"/>
                </a:ext>
              </a:extLst>
            </p:cNvPr>
            <p:cNvSpPr/>
            <p:nvPr/>
          </p:nvSpPr>
          <p:spPr>
            <a:xfrm>
              <a:off x="542300" y="2488660"/>
              <a:ext cx="1993081" cy="364958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sx="101000" sy="101000" algn="ctr" rotWithShape="0">
                <a:prstClr val="black">
                  <a:alpha val="23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pSp>
          <p:nvGrpSpPr>
            <p:cNvPr id="30" name="组合 29">
              <a:extLst>
                <a:ext uri="{FF2B5EF4-FFF2-40B4-BE49-F238E27FC236}">
                  <a16:creationId xmlns:a16="http://schemas.microsoft.com/office/drawing/2014/main" id="{A130701A-4CDB-757B-A445-D263741E37B4}"/>
                </a:ext>
              </a:extLst>
            </p:cNvPr>
            <p:cNvGrpSpPr/>
            <p:nvPr/>
          </p:nvGrpSpPr>
          <p:grpSpPr>
            <a:xfrm>
              <a:off x="560231" y="2540961"/>
              <a:ext cx="2031325" cy="513966"/>
              <a:chOff x="560231" y="2540961"/>
              <a:chExt cx="2031325" cy="513966"/>
            </a:xfrm>
          </p:grpSpPr>
          <p:cxnSp>
            <p:nvCxnSpPr>
              <p:cNvPr id="33" name="直接连接符 32">
                <a:extLst>
                  <a:ext uri="{FF2B5EF4-FFF2-40B4-BE49-F238E27FC236}">
                    <a16:creationId xmlns:a16="http://schemas.microsoft.com/office/drawing/2014/main" id="{ED94C686-0F8A-71C3-648D-624F0A601F37}"/>
                  </a:ext>
                </a:extLst>
              </p:cNvPr>
              <p:cNvCxnSpPr/>
              <p:nvPr/>
            </p:nvCxnSpPr>
            <p:spPr>
              <a:xfrm>
                <a:off x="789709" y="3054927"/>
                <a:ext cx="1517073" cy="0"/>
              </a:xfrm>
              <a:prstGeom prst="line">
                <a:avLst/>
              </a:prstGeom>
              <a:ln w="25400">
                <a:solidFill>
                  <a:schemeClr val="bg2">
                    <a:lumMod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4" name="文本框 33">
                <a:extLst>
                  <a:ext uri="{FF2B5EF4-FFF2-40B4-BE49-F238E27FC236}">
                    <a16:creationId xmlns:a16="http://schemas.microsoft.com/office/drawing/2014/main" id="{6C04C5C3-8369-F63B-FC58-0B93E4520437}"/>
                  </a:ext>
                </a:extLst>
              </p:cNvPr>
              <p:cNvSpPr txBox="1"/>
              <p:nvPr/>
            </p:nvSpPr>
            <p:spPr>
              <a:xfrm>
                <a:off x="560231" y="2540961"/>
                <a:ext cx="203132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2400" dirty="0">
                    <a:latin typeface="华文中宋" panose="02010600040101010101" pitchFamily="2" charset="-122"/>
                    <a:ea typeface="华文中宋" panose="02010600040101010101" pitchFamily="2" charset="-122"/>
                  </a:rPr>
                  <a:t>性能观测框架</a:t>
                </a:r>
              </a:p>
            </p:txBody>
          </p:sp>
        </p:grpSp>
        <p:sp>
          <p:nvSpPr>
            <p:cNvPr id="31" name="文本框 30">
              <a:extLst>
                <a:ext uri="{FF2B5EF4-FFF2-40B4-BE49-F238E27FC236}">
                  <a16:creationId xmlns:a16="http://schemas.microsoft.com/office/drawing/2014/main" id="{6E755ED5-D977-A528-EE6E-E7170AAE6954}"/>
                </a:ext>
              </a:extLst>
            </p:cNvPr>
            <p:cNvSpPr txBox="1"/>
            <p:nvPr/>
          </p:nvSpPr>
          <p:spPr>
            <a:xfrm flipH="1">
              <a:off x="674950" y="3200558"/>
              <a:ext cx="1801888" cy="179183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25000"/>
                </a:lnSpc>
              </a:pPr>
              <a:r>
                <a:rPr lang="zh-CN" altLang="en-US" dirty="0">
                  <a:solidFill>
                    <a:srgbClr val="111111"/>
                  </a:solidFill>
                  <a:latin typeface="华文中宋" panose="02010600040101010101" pitchFamily="2" charset="-122"/>
                  <a:ea typeface="华文中宋" panose="02010600040101010101" pitchFamily="2" charset="-122"/>
                </a:rPr>
                <a:t>低开销性能观测框架，支持关键路径计时、事件统计与双架构对比</a:t>
              </a:r>
            </a:p>
          </p:txBody>
        </p:sp>
      </p:grpSp>
      <p:grpSp>
        <p:nvGrpSpPr>
          <p:cNvPr id="35" name="组合 34">
            <a:extLst>
              <a:ext uri="{FF2B5EF4-FFF2-40B4-BE49-F238E27FC236}">
                <a16:creationId xmlns:a16="http://schemas.microsoft.com/office/drawing/2014/main" id="{4364ABBA-AC63-5A9A-E01E-AE86ADBA6260}"/>
              </a:ext>
            </a:extLst>
          </p:cNvPr>
          <p:cNvGrpSpPr/>
          <p:nvPr/>
        </p:nvGrpSpPr>
        <p:grpSpPr>
          <a:xfrm>
            <a:off x="9779082" y="2488660"/>
            <a:ext cx="2049256" cy="3649580"/>
            <a:chOff x="542300" y="2488660"/>
            <a:chExt cx="2049256" cy="3649580"/>
          </a:xfrm>
        </p:grpSpPr>
        <p:sp>
          <p:nvSpPr>
            <p:cNvPr id="36" name="矩形 35">
              <a:extLst>
                <a:ext uri="{FF2B5EF4-FFF2-40B4-BE49-F238E27FC236}">
                  <a16:creationId xmlns:a16="http://schemas.microsoft.com/office/drawing/2014/main" id="{95F0FEBD-3EA2-8900-9825-B25EA8214E84}"/>
                </a:ext>
              </a:extLst>
            </p:cNvPr>
            <p:cNvSpPr/>
            <p:nvPr/>
          </p:nvSpPr>
          <p:spPr>
            <a:xfrm>
              <a:off x="542300" y="2488660"/>
              <a:ext cx="1993081" cy="364958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sx="101000" sy="101000" algn="ctr" rotWithShape="0">
                <a:prstClr val="black">
                  <a:alpha val="23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pSp>
          <p:nvGrpSpPr>
            <p:cNvPr id="37" name="组合 36">
              <a:extLst>
                <a:ext uri="{FF2B5EF4-FFF2-40B4-BE49-F238E27FC236}">
                  <a16:creationId xmlns:a16="http://schemas.microsoft.com/office/drawing/2014/main" id="{D412F60B-67BC-A831-5BC5-2F91F4C82D08}"/>
                </a:ext>
              </a:extLst>
            </p:cNvPr>
            <p:cNvGrpSpPr/>
            <p:nvPr/>
          </p:nvGrpSpPr>
          <p:grpSpPr>
            <a:xfrm>
              <a:off x="560231" y="2540961"/>
              <a:ext cx="2031325" cy="513966"/>
              <a:chOff x="560231" y="2540961"/>
              <a:chExt cx="2031325" cy="513966"/>
            </a:xfrm>
          </p:grpSpPr>
          <p:cxnSp>
            <p:nvCxnSpPr>
              <p:cNvPr id="39" name="直接连接符 38">
                <a:extLst>
                  <a:ext uri="{FF2B5EF4-FFF2-40B4-BE49-F238E27FC236}">
                    <a16:creationId xmlns:a16="http://schemas.microsoft.com/office/drawing/2014/main" id="{07C7C383-E8C2-6887-24D4-F22D4790429E}"/>
                  </a:ext>
                </a:extLst>
              </p:cNvPr>
              <p:cNvCxnSpPr/>
              <p:nvPr/>
            </p:nvCxnSpPr>
            <p:spPr>
              <a:xfrm>
                <a:off x="789709" y="3054927"/>
                <a:ext cx="1517073" cy="0"/>
              </a:xfrm>
              <a:prstGeom prst="line">
                <a:avLst/>
              </a:prstGeom>
              <a:ln w="25400">
                <a:solidFill>
                  <a:schemeClr val="bg2">
                    <a:lumMod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0" name="文本框 39">
                <a:extLst>
                  <a:ext uri="{FF2B5EF4-FFF2-40B4-BE49-F238E27FC236}">
                    <a16:creationId xmlns:a16="http://schemas.microsoft.com/office/drawing/2014/main" id="{587BCDFC-F14A-5510-4B4E-108432F6CD34}"/>
                  </a:ext>
                </a:extLst>
              </p:cNvPr>
              <p:cNvSpPr txBox="1"/>
              <p:nvPr/>
            </p:nvSpPr>
            <p:spPr>
              <a:xfrm>
                <a:off x="560231" y="2540961"/>
                <a:ext cx="203132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2400" dirty="0">
                    <a:latin typeface="华文中宋" panose="02010600040101010101" pitchFamily="2" charset="-122"/>
                    <a:ea typeface="华文中宋" panose="02010600040101010101" pitchFamily="2" charset="-122"/>
                  </a:rPr>
                  <a:t>测试逻辑解耦</a:t>
                </a:r>
              </a:p>
            </p:txBody>
          </p:sp>
        </p:grpSp>
        <p:sp>
          <p:nvSpPr>
            <p:cNvPr id="38" name="文本框 37">
              <a:extLst>
                <a:ext uri="{FF2B5EF4-FFF2-40B4-BE49-F238E27FC236}">
                  <a16:creationId xmlns:a16="http://schemas.microsoft.com/office/drawing/2014/main" id="{C19B5B95-4C2C-66E8-B01C-43E887A6CD3F}"/>
                </a:ext>
              </a:extLst>
            </p:cNvPr>
            <p:cNvSpPr txBox="1"/>
            <p:nvPr/>
          </p:nvSpPr>
          <p:spPr>
            <a:xfrm flipH="1">
              <a:off x="674950" y="3200558"/>
              <a:ext cx="1801888" cy="179183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25000"/>
                </a:lnSpc>
              </a:pPr>
              <a:r>
                <a:rPr lang="zh-CN" altLang="en-US" dirty="0">
                  <a:latin typeface="华文中宋" panose="02010600040101010101" pitchFamily="2" charset="-122"/>
                  <a:ea typeface="华文中宋" panose="02010600040101010101" pitchFamily="2" charset="-122"/>
                </a:rPr>
                <a:t>将比赛所要运行的测试通过脚本分离解耦</a:t>
              </a:r>
              <a:r>
                <a:rPr lang="en-US" altLang="zh-CN" dirty="0">
                  <a:latin typeface="华文中宋" panose="02010600040101010101" pitchFamily="2" charset="-122"/>
                  <a:ea typeface="华文中宋" panose="02010600040101010101" pitchFamily="2" charset="-122"/>
                </a:rPr>
                <a:t>,</a:t>
              </a:r>
              <a:br>
                <a:rPr lang="en-US" altLang="zh-CN" dirty="0">
                  <a:latin typeface="华文中宋" panose="02010600040101010101" pitchFamily="2" charset="-122"/>
                  <a:ea typeface="华文中宋" panose="02010600040101010101" pitchFamily="2" charset="-122"/>
                </a:rPr>
              </a:br>
              <a:r>
                <a:rPr lang="zh-CN" altLang="en-US" dirty="0">
                  <a:latin typeface="华文中宋" panose="02010600040101010101" pitchFamily="2" charset="-122"/>
                  <a:ea typeface="华文中宋" panose="02010600040101010101" pitchFamily="2" charset="-122"/>
                </a:rPr>
                <a:t>不污染内核设计核心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640080" y="1858201"/>
            <a:ext cx="4572000" cy="914400"/>
          </a:xfrm>
          <a:prstGeom prst="rect">
            <a:avLst/>
          </a:prstGeom>
          <a:noFill/>
        </p:spPr>
        <p:txBody>
          <a:bodyPr wrap="square" lIns="381" tIns="381" rIns="381" bIns="381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dirty="0">
                <a:solidFill>
                  <a:srgbClr val="111111"/>
                </a:solidFill>
                <a:latin typeface="华文中宋" panose="02010600040101010101" pitchFamily="2" charset="-122"/>
                <a:ea typeface="华文中宋" panose="02010600040101010101" pitchFamily="2" charset="-122"/>
                <a:cs typeface="等线" pitchFamily="34" charset="-120"/>
              </a:rPr>
              <a:t>2026 年 6 月 29 日线上初赛评测：RISC-V 64 与 LoongArch 64 在 glibc / musl 两类环境下运行 11 个测试组，约 36 分钟完成。</a:t>
            </a:r>
            <a:endParaRPr lang="en-US" dirty="0">
              <a:latin typeface="华文中宋" panose="02010600040101010101" pitchFamily="2" charset="-122"/>
              <a:ea typeface="华文中宋" panose="02010600040101010101" pitchFamily="2" charset="-122"/>
            </a:endParaRPr>
          </a:p>
        </p:txBody>
      </p:sp>
      <p:sp>
        <p:nvSpPr>
          <p:cNvPr id="4" name="Text 2"/>
          <p:cNvSpPr/>
          <p:nvPr/>
        </p:nvSpPr>
        <p:spPr>
          <a:xfrm>
            <a:off x="1019782" y="3158836"/>
            <a:ext cx="4297680" cy="657093"/>
          </a:xfrm>
          <a:prstGeom prst="rect">
            <a:avLst/>
          </a:prstGeom>
          <a:noFill/>
        </p:spPr>
        <p:txBody>
          <a:bodyPr wrap="square" lIns="254" tIns="254" rIns="254" bIns="254" rtlCol="0" anchor="ctr"/>
          <a:lstStyle/>
          <a:p>
            <a:pPr>
              <a:lnSpc>
                <a:spcPct val="125000"/>
              </a:lnSpc>
            </a:pPr>
            <a:r>
              <a:rPr lang="zh-CN" altLang="en-US" sz="1600" dirty="0">
                <a:latin typeface="华文中宋" panose="02010600040101010101" pitchFamily="2" charset="-122"/>
                <a:ea typeface="华文中宋" panose="02010600040101010101" pitchFamily="2" charset="-122"/>
              </a:rPr>
              <a:t>相比于其他组，我们的内核在运行速度上有着</a:t>
            </a:r>
            <a:r>
              <a:rPr lang="zh-CN" altLang="en-US" sz="1600" dirty="0">
                <a:solidFill>
                  <a:schemeClr val="bg1">
                    <a:lumMod val="50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显著的优势</a:t>
            </a:r>
            <a:r>
              <a:rPr lang="zh-CN" altLang="en-US" sz="1600" dirty="0">
                <a:latin typeface="华文中宋" panose="02010600040101010101" pitchFamily="2" charset="-122"/>
                <a:ea typeface="华文中宋" panose="02010600040101010101" pitchFamily="2" charset="-122"/>
              </a:rPr>
              <a:t>。</a:t>
            </a:r>
          </a:p>
        </p:txBody>
      </p:sp>
      <p:sp>
        <p:nvSpPr>
          <p:cNvPr id="5" name="Text 3"/>
          <p:cNvSpPr/>
          <p:nvPr/>
        </p:nvSpPr>
        <p:spPr>
          <a:xfrm>
            <a:off x="1040564" y="4015752"/>
            <a:ext cx="4297680" cy="457200"/>
          </a:xfrm>
          <a:prstGeom prst="rect">
            <a:avLst/>
          </a:prstGeom>
          <a:noFill/>
        </p:spPr>
        <p:txBody>
          <a:bodyPr wrap="square" lIns="254" tIns="254" rIns="254" bIns="254" rtlCol="0" anchor="ctr"/>
          <a:lstStyle/>
          <a:p>
            <a:r>
              <a:rPr lang="en-US" sz="1600" dirty="0">
                <a:solidFill>
                  <a:srgbClr val="111111"/>
                </a:solidFill>
                <a:latin typeface="华文中宋" panose="02010600040101010101" pitchFamily="2" charset="-122"/>
                <a:ea typeface="华文中宋" panose="02010600040101010101" pitchFamily="2" charset="-122"/>
                <a:cs typeface="等线" pitchFamily="34" charset="-120"/>
              </a:rPr>
              <a:t>LTP 四个环境合计 33685,</a:t>
            </a:r>
            <a:r>
              <a:rPr lang="zh-CN" altLang="en-US" sz="1600" dirty="0">
                <a:solidFill>
                  <a:srgbClr val="111111"/>
                </a:solidFill>
                <a:latin typeface="华文中宋" panose="02010600040101010101" pitchFamily="2" charset="-122"/>
                <a:ea typeface="华文中宋" panose="02010600040101010101" pitchFamily="2" charset="-122"/>
                <a:cs typeface="等线" pitchFamily="34" charset="-120"/>
              </a:rPr>
              <a:t>展现了我们内核兼容性的强大</a:t>
            </a:r>
          </a:p>
        </p:txBody>
      </p:sp>
      <p:sp>
        <p:nvSpPr>
          <p:cNvPr id="6" name="Text 4"/>
          <p:cNvSpPr/>
          <p:nvPr/>
        </p:nvSpPr>
        <p:spPr>
          <a:xfrm>
            <a:off x="1019782" y="4719972"/>
            <a:ext cx="4297680" cy="657092"/>
          </a:xfrm>
          <a:prstGeom prst="rect">
            <a:avLst/>
          </a:prstGeom>
          <a:noFill/>
        </p:spPr>
        <p:txBody>
          <a:bodyPr wrap="square" lIns="254" tIns="254" rIns="254" bIns="254" rtlCol="0" anchor="ctr"/>
          <a:lstStyle/>
          <a:p>
            <a:pPr>
              <a:lnSpc>
                <a:spcPct val="125000"/>
              </a:lnSpc>
            </a:pPr>
            <a:r>
              <a:rPr lang="en-US" sz="1600" dirty="0" err="1">
                <a:solidFill>
                  <a:srgbClr val="111111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本地完整流程通常</a:t>
            </a:r>
            <a:r>
              <a:rPr lang="en-US" sz="1600" dirty="0">
                <a:solidFill>
                  <a:srgbClr val="111111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 </a:t>
            </a:r>
            <a:r>
              <a:rPr lang="en-US" sz="1600" dirty="0">
                <a:solidFill>
                  <a:schemeClr val="bg1">
                    <a:lumMod val="50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15 </a:t>
            </a:r>
            <a:r>
              <a:rPr lang="en-US" sz="1600" dirty="0" err="1">
                <a:solidFill>
                  <a:schemeClr val="bg1">
                    <a:lumMod val="50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分钟</a:t>
            </a:r>
            <a:r>
              <a:rPr lang="en-US" sz="1600" dirty="0" err="1">
                <a:solidFill>
                  <a:srgbClr val="111111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内结束!</a:t>
            </a:r>
            <a:endParaRPr lang="en-US" sz="1600" dirty="0">
              <a:solidFill>
                <a:schemeClr val="bg2">
                  <a:lumMod val="75000"/>
                </a:schemeClr>
              </a:solidFill>
              <a:latin typeface="华文中宋" panose="02010600040101010101" pitchFamily="2" charset="-122"/>
              <a:ea typeface="华文中宋" panose="02010600040101010101" pitchFamily="2" charset="-122"/>
            </a:endParaRPr>
          </a:p>
        </p:txBody>
      </p:sp>
      <p:sp>
        <p:nvSpPr>
          <p:cNvPr id="7" name="Text 5"/>
          <p:cNvSpPr/>
          <p:nvPr/>
        </p:nvSpPr>
        <p:spPr>
          <a:xfrm>
            <a:off x="1019782" y="5680283"/>
            <a:ext cx="4297680" cy="657092"/>
          </a:xfrm>
          <a:prstGeom prst="rect">
            <a:avLst/>
          </a:prstGeom>
          <a:noFill/>
        </p:spPr>
        <p:txBody>
          <a:bodyPr wrap="square" lIns="254" tIns="254" rIns="254" bIns="254" rtlCol="0" anchor="ctr"/>
          <a:lstStyle/>
          <a:p>
            <a:pPr>
              <a:lnSpc>
                <a:spcPct val="125000"/>
              </a:lnSpc>
            </a:pPr>
            <a:r>
              <a:rPr lang="en-US" sz="1600" dirty="0">
                <a:solidFill>
                  <a:srgbClr val="111111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线上评测约 36 </a:t>
            </a:r>
            <a:r>
              <a:rPr lang="en-US" sz="1600" dirty="0" err="1">
                <a:solidFill>
                  <a:srgbClr val="111111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分钟完成，在后期资源压力下仍明显</a:t>
            </a:r>
            <a:r>
              <a:rPr lang="en-US" sz="1600" dirty="0" err="1">
                <a:solidFill>
                  <a:schemeClr val="bg1">
                    <a:lumMod val="50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短于多数</a:t>
            </a:r>
            <a:r>
              <a:rPr lang="en-US" sz="1600" dirty="0" err="1">
                <a:solidFill>
                  <a:srgbClr val="111111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队伍</a:t>
            </a:r>
            <a:endParaRPr lang="en-US" sz="1600" dirty="0">
              <a:solidFill>
                <a:srgbClr val="111111"/>
              </a:solidFill>
              <a:latin typeface="华文中宋" panose="02010600040101010101" pitchFamily="2" charset="-122"/>
              <a:ea typeface="华文中宋" panose="02010600040101010101" pitchFamily="2" charset="-122"/>
            </a:endParaRPr>
          </a:p>
        </p:txBody>
      </p:sp>
      <p:graphicFrame>
        <p:nvGraphicFramePr>
          <p:cNvPr id="8" name="Table 0"/>
          <p:cNvGraphicFramePr>
            <a:graphicFrameLocks noGrp="1"/>
          </p:cNvGraphicFramePr>
          <p:nvPr/>
        </p:nvGraphicFramePr>
        <p:xfrm>
          <a:off x="5774575" y="1846783"/>
          <a:ext cx="6126480" cy="4389247"/>
        </p:xfrm>
        <a:graphic>
          <a:graphicData uri="http://schemas.openxmlformats.org/drawingml/2006/table">
            <a:tbl>
              <a:tblPr/>
              <a:tblGrid>
                <a:gridCol w="2042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42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42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37210">
                <a:tc>
                  <a:txBody>
                    <a:bodyPr/>
                    <a:lstStyle/>
                    <a:p>
                      <a:pPr marL="0" indent="0" algn="ctr" defTabSz="914400" rtl="0" eaLnBrk="1" latinLnBrk="0" hangingPunct="1">
                        <a:buNone/>
                      </a:pPr>
                      <a:r>
                        <a:rPr lang="en-US" sz="1800" b="0" kern="1200" dirty="0">
                          <a:solidFill>
                            <a:srgbClr val="111111"/>
                          </a:solidFill>
                          <a:latin typeface="仿宋" panose="02010609060101010101" pitchFamily="49" charset="-122"/>
                          <a:ea typeface="仿宋" panose="02010609060101010101" pitchFamily="49" charset="-122"/>
                          <a:cs typeface="等线" pitchFamily="34" charset="-120"/>
                        </a:rPr>
                        <a:t>测试项</a:t>
                      </a:r>
                      <a:endParaRPr lang="en-US" sz="1800" b="0" kern="1200" dirty="0">
                        <a:solidFill>
                          <a:srgbClr val="111111"/>
                        </a:solidFill>
                        <a:latin typeface="仿宋" panose="02010609060101010101" pitchFamily="49" charset="-122"/>
                        <a:ea typeface="仿宋" panose="02010609060101010101" pitchFamily="49" charset="-122"/>
                        <a:cs typeface="等线" pitchFamily="34" charset="0"/>
                      </a:endParaRPr>
                    </a:p>
                  </a:txBody>
                  <a:tcPr marL="36576" marR="36576" marT="36576" marB="36576" anchor="ctr">
                    <a:lnL w="762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0" hangingPunct="1">
                        <a:buNone/>
                      </a:pPr>
                      <a:r>
                        <a:rPr lang="en-US" sz="1800" b="0" kern="1200" dirty="0">
                          <a:solidFill>
                            <a:srgbClr val="111111"/>
                          </a:solidFill>
                          <a:latin typeface="仿宋" panose="02010609060101010101" pitchFamily="49" charset="-122"/>
                          <a:ea typeface="仿宋" panose="02010609060101010101" pitchFamily="49" charset="-122"/>
                          <a:cs typeface="等线" pitchFamily="34" charset="-120"/>
                        </a:rPr>
                        <a:t>小计</a:t>
                      </a:r>
                      <a:endParaRPr lang="en-US" sz="1800" b="0" kern="1200" dirty="0">
                        <a:solidFill>
                          <a:srgbClr val="111111"/>
                        </a:solidFill>
                        <a:latin typeface="仿宋" panose="02010609060101010101" pitchFamily="49" charset="-122"/>
                        <a:ea typeface="仿宋" panose="02010609060101010101" pitchFamily="49" charset="-122"/>
                        <a:cs typeface="等线" pitchFamily="34" charset="0"/>
                      </a:endParaRPr>
                    </a:p>
                  </a:txBody>
                  <a:tcPr marL="36576" marR="36576" marT="36576" marB="36576" anchor="ctr">
                    <a:lnL w="762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0" hangingPunct="1">
                        <a:buNone/>
                      </a:pPr>
                      <a:r>
                        <a:rPr lang="en-US" sz="1800" b="0" kern="1200" dirty="0">
                          <a:solidFill>
                            <a:srgbClr val="111111"/>
                          </a:solidFill>
                          <a:latin typeface="仿宋" panose="02010609060101010101" pitchFamily="49" charset="-122"/>
                          <a:ea typeface="仿宋" panose="02010609060101010101" pitchFamily="49" charset="-122"/>
                          <a:cs typeface="等线" pitchFamily="34" charset="-120"/>
                        </a:rPr>
                        <a:t>说明</a:t>
                      </a:r>
                      <a:endParaRPr lang="en-US" sz="1800" b="0" kern="1200" dirty="0">
                        <a:solidFill>
                          <a:srgbClr val="111111"/>
                        </a:solidFill>
                        <a:latin typeface="仿宋" panose="02010609060101010101" pitchFamily="49" charset="-122"/>
                        <a:ea typeface="仿宋" panose="02010609060101010101" pitchFamily="49" charset="-122"/>
                        <a:cs typeface="等线" pitchFamily="34" charset="0"/>
                      </a:endParaRPr>
                    </a:p>
                  </a:txBody>
                  <a:tcPr marL="36576" marR="36576" marT="36576" marB="36576" anchor="ctr">
                    <a:lnL w="762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7210">
                <a:tc>
                  <a:txBody>
                    <a:bodyPr/>
                    <a:lstStyle/>
                    <a:p>
                      <a:pPr marL="0" indent="0" algn="ctr" defTabSz="914400" rtl="0" eaLnBrk="1" latinLnBrk="0" hangingPunct="1">
                        <a:buNone/>
                      </a:pPr>
                      <a:r>
                        <a:rPr lang="en-US" sz="1800" b="0" kern="1200" dirty="0">
                          <a:solidFill>
                            <a:srgbClr val="111111"/>
                          </a:solidFill>
                          <a:latin typeface="仿宋" panose="02010609060101010101" pitchFamily="49" charset="-122"/>
                          <a:ea typeface="仿宋" panose="02010609060101010101" pitchFamily="49" charset="-122"/>
                          <a:cs typeface="等线" pitchFamily="34" charset="-120"/>
                        </a:rPr>
                        <a:t>basic</a:t>
                      </a:r>
                      <a:endParaRPr lang="en-US" sz="1800" b="0" kern="1200" dirty="0">
                        <a:solidFill>
                          <a:srgbClr val="111111"/>
                        </a:solidFill>
                        <a:latin typeface="仿宋" panose="02010609060101010101" pitchFamily="49" charset="-122"/>
                        <a:ea typeface="仿宋" panose="02010609060101010101" pitchFamily="49" charset="-122"/>
                        <a:cs typeface="等线" pitchFamily="34" charset="0"/>
                      </a:endParaRPr>
                    </a:p>
                  </a:txBody>
                  <a:tcPr marL="36576" marR="36576" marT="36576" marB="36576" anchor="ctr">
                    <a:lnL w="762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0" hangingPunct="1">
                        <a:buNone/>
                      </a:pPr>
                      <a:r>
                        <a:rPr lang="en-US" sz="1800" b="0" kern="1200" dirty="0">
                          <a:solidFill>
                            <a:srgbClr val="111111"/>
                          </a:solidFill>
                          <a:latin typeface="仿宋" panose="02010609060101010101" pitchFamily="49" charset="-122"/>
                          <a:ea typeface="仿宋" panose="02010609060101010101" pitchFamily="49" charset="-122"/>
                          <a:cs typeface="等线" pitchFamily="34" charset="-120"/>
                        </a:rPr>
                        <a:t>405</a:t>
                      </a:r>
                      <a:endParaRPr lang="en-US" sz="1800" b="0" kern="1200" dirty="0">
                        <a:solidFill>
                          <a:srgbClr val="111111"/>
                        </a:solidFill>
                        <a:latin typeface="仿宋" panose="02010609060101010101" pitchFamily="49" charset="-122"/>
                        <a:ea typeface="仿宋" panose="02010609060101010101" pitchFamily="49" charset="-122"/>
                        <a:cs typeface="等线" pitchFamily="34" charset="0"/>
                      </a:endParaRPr>
                    </a:p>
                  </a:txBody>
                  <a:tcPr marL="36576" marR="36576" marT="36576" marB="36576" anchor="ctr">
                    <a:lnL w="762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0" hangingPunct="1">
                        <a:buNone/>
                      </a:pPr>
                      <a:r>
                        <a:rPr lang="en-US" sz="1800" b="0" kern="1200" dirty="0">
                          <a:solidFill>
                            <a:srgbClr val="111111"/>
                          </a:solidFill>
                          <a:latin typeface="仿宋" panose="02010609060101010101" pitchFamily="49" charset="-122"/>
                          <a:ea typeface="仿宋" panose="02010609060101010101" pitchFamily="49" charset="-122"/>
                          <a:cs typeface="等线" pitchFamily="34" charset="-120"/>
                        </a:rPr>
                        <a:t>四环境基础功能</a:t>
                      </a:r>
                      <a:endParaRPr lang="en-US" sz="1800" b="0" kern="1200" dirty="0">
                        <a:solidFill>
                          <a:srgbClr val="111111"/>
                        </a:solidFill>
                        <a:latin typeface="仿宋" panose="02010609060101010101" pitchFamily="49" charset="-122"/>
                        <a:ea typeface="仿宋" panose="02010609060101010101" pitchFamily="49" charset="-122"/>
                        <a:cs typeface="等线" pitchFamily="34" charset="0"/>
                      </a:endParaRPr>
                    </a:p>
                  </a:txBody>
                  <a:tcPr marL="36576" marR="36576" marT="36576" marB="36576" anchor="ctr">
                    <a:lnL w="762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7210">
                <a:tc>
                  <a:txBody>
                    <a:bodyPr/>
                    <a:lstStyle/>
                    <a:p>
                      <a:pPr marL="0" indent="0" algn="ctr" defTabSz="914400" rtl="0" eaLnBrk="1" latinLnBrk="0" hangingPunct="1">
                        <a:buNone/>
                      </a:pPr>
                      <a:r>
                        <a:rPr lang="en-US" sz="1800" b="0" kern="1200" dirty="0">
                          <a:solidFill>
                            <a:srgbClr val="111111"/>
                          </a:solidFill>
                          <a:latin typeface="仿宋" panose="02010609060101010101" pitchFamily="49" charset="-122"/>
                          <a:ea typeface="仿宋" panose="02010609060101010101" pitchFamily="49" charset="-122"/>
                          <a:cs typeface="等线" pitchFamily="34" charset="-120"/>
                        </a:rPr>
                        <a:t>busybox</a:t>
                      </a:r>
                      <a:endParaRPr lang="en-US" sz="1800" b="0" kern="1200" dirty="0">
                        <a:solidFill>
                          <a:srgbClr val="111111"/>
                        </a:solidFill>
                        <a:latin typeface="仿宋" panose="02010609060101010101" pitchFamily="49" charset="-122"/>
                        <a:ea typeface="仿宋" panose="02010609060101010101" pitchFamily="49" charset="-122"/>
                        <a:cs typeface="等线" pitchFamily="34" charset="0"/>
                      </a:endParaRPr>
                    </a:p>
                  </a:txBody>
                  <a:tcPr marL="36576" marR="36576" marT="36576" marB="36576" anchor="ctr">
                    <a:lnL w="762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0" hangingPunct="1">
                        <a:buNone/>
                      </a:pPr>
                      <a:r>
                        <a:rPr lang="en-US" sz="1800" b="0" kern="1200" dirty="0">
                          <a:solidFill>
                            <a:srgbClr val="111111"/>
                          </a:solidFill>
                          <a:latin typeface="仿宋" panose="02010609060101010101" pitchFamily="49" charset="-122"/>
                          <a:ea typeface="仿宋" panose="02010609060101010101" pitchFamily="49" charset="-122"/>
                          <a:cs typeface="等线" pitchFamily="34" charset="-120"/>
                        </a:rPr>
                        <a:t>216</a:t>
                      </a:r>
                      <a:endParaRPr lang="en-US" sz="1800" b="0" kern="1200" dirty="0">
                        <a:solidFill>
                          <a:srgbClr val="111111"/>
                        </a:solidFill>
                        <a:latin typeface="仿宋" panose="02010609060101010101" pitchFamily="49" charset="-122"/>
                        <a:ea typeface="仿宋" panose="02010609060101010101" pitchFamily="49" charset="-122"/>
                        <a:cs typeface="等线" pitchFamily="34" charset="0"/>
                      </a:endParaRPr>
                    </a:p>
                  </a:txBody>
                  <a:tcPr marL="36576" marR="36576" marT="36576" marB="36576" anchor="ctr">
                    <a:lnL w="762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0" hangingPunct="1">
                        <a:buNone/>
                      </a:pPr>
                      <a:r>
                        <a:rPr lang="en-US" sz="1800" b="0" kern="1200" dirty="0">
                          <a:solidFill>
                            <a:srgbClr val="111111"/>
                          </a:solidFill>
                          <a:latin typeface="仿宋" panose="02010609060101010101" pitchFamily="49" charset="-122"/>
                          <a:ea typeface="仿宋" panose="02010609060101010101" pitchFamily="49" charset="-122"/>
                          <a:cs typeface="等线" pitchFamily="34" charset="-120"/>
                        </a:rPr>
                        <a:t>命令集运行</a:t>
                      </a:r>
                      <a:endParaRPr lang="en-US" sz="1800" b="0" kern="1200" dirty="0">
                        <a:solidFill>
                          <a:srgbClr val="111111"/>
                        </a:solidFill>
                        <a:latin typeface="仿宋" panose="02010609060101010101" pitchFamily="49" charset="-122"/>
                        <a:ea typeface="仿宋" panose="02010609060101010101" pitchFamily="49" charset="-122"/>
                        <a:cs typeface="等线" pitchFamily="34" charset="0"/>
                      </a:endParaRPr>
                    </a:p>
                  </a:txBody>
                  <a:tcPr marL="36576" marR="36576" marT="36576" marB="36576" anchor="ctr">
                    <a:lnL w="762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7210">
                <a:tc>
                  <a:txBody>
                    <a:bodyPr/>
                    <a:lstStyle/>
                    <a:p>
                      <a:pPr marL="0" indent="0" algn="ctr" defTabSz="914400" rtl="0" eaLnBrk="1" latinLnBrk="0" hangingPunct="1">
                        <a:buNone/>
                      </a:pPr>
                      <a:r>
                        <a:rPr lang="en-US" sz="1800" b="0" kern="1200" dirty="0">
                          <a:solidFill>
                            <a:srgbClr val="111111"/>
                          </a:solidFill>
                          <a:latin typeface="仿宋" panose="02010609060101010101" pitchFamily="49" charset="-122"/>
                          <a:ea typeface="仿宋" panose="02010609060101010101" pitchFamily="49" charset="-122"/>
                          <a:cs typeface="等线" pitchFamily="34" charset="-120"/>
                        </a:rPr>
                        <a:t>libctest</a:t>
                      </a:r>
                      <a:endParaRPr lang="en-US" sz="1800" b="0" kern="1200" dirty="0">
                        <a:solidFill>
                          <a:srgbClr val="111111"/>
                        </a:solidFill>
                        <a:latin typeface="仿宋" panose="02010609060101010101" pitchFamily="49" charset="-122"/>
                        <a:ea typeface="仿宋" panose="02010609060101010101" pitchFamily="49" charset="-122"/>
                        <a:cs typeface="等线" pitchFamily="34" charset="0"/>
                      </a:endParaRPr>
                    </a:p>
                  </a:txBody>
                  <a:tcPr marL="36576" marR="36576" marT="36576" marB="36576" anchor="ctr">
                    <a:lnL w="762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0" hangingPunct="1">
                        <a:buNone/>
                      </a:pPr>
                      <a:r>
                        <a:rPr lang="en-US" sz="1800" b="0" kern="1200" dirty="0">
                          <a:solidFill>
                            <a:srgbClr val="111111"/>
                          </a:solidFill>
                          <a:latin typeface="仿宋" panose="02010609060101010101" pitchFamily="49" charset="-122"/>
                          <a:ea typeface="仿宋" panose="02010609060101010101" pitchFamily="49" charset="-122"/>
                          <a:cs typeface="等线" pitchFamily="34" charset="-120"/>
                        </a:rPr>
                        <a:t>434</a:t>
                      </a:r>
                      <a:endParaRPr lang="en-US" sz="1800" b="0" kern="1200" dirty="0">
                        <a:solidFill>
                          <a:srgbClr val="111111"/>
                        </a:solidFill>
                        <a:latin typeface="仿宋" panose="02010609060101010101" pitchFamily="49" charset="-122"/>
                        <a:ea typeface="仿宋" panose="02010609060101010101" pitchFamily="49" charset="-122"/>
                        <a:cs typeface="等线" pitchFamily="34" charset="0"/>
                      </a:endParaRPr>
                    </a:p>
                  </a:txBody>
                  <a:tcPr marL="36576" marR="36576" marT="36576" marB="36576" anchor="ctr">
                    <a:lnL w="762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0" hangingPunct="1">
                        <a:buNone/>
                      </a:pPr>
                      <a:r>
                        <a:rPr lang="en-US" sz="1800" b="0" kern="1200" dirty="0">
                          <a:solidFill>
                            <a:srgbClr val="111111"/>
                          </a:solidFill>
                          <a:latin typeface="仿宋" panose="02010609060101010101" pitchFamily="49" charset="-122"/>
                          <a:ea typeface="仿宋" panose="02010609060101010101" pitchFamily="49" charset="-122"/>
                          <a:cs typeface="等线" pitchFamily="34" charset="-120"/>
                        </a:rPr>
                        <a:t>musl 路径计分</a:t>
                      </a:r>
                      <a:endParaRPr lang="en-US" sz="1800" b="0" kern="1200" dirty="0">
                        <a:solidFill>
                          <a:srgbClr val="111111"/>
                        </a:solidFill>
                        <a:latin typeface="仿宋" panose="02010609060101010101" pitchFamily="49" charset="-122"/>
                        <a:ea typeface="仿宋" panose="02010609060101010101" pitchFamily="49" charset="-122"/>
                        <a:cs typeface="等线" pitchFamily="34" charset="0"/>
                      </a:endParaRPr>
                    </a:p>
                  </a:txBody>
                  <a:tcPr marL="36576" marR="36576" marT="36576" marB="36576" anchor="ctr">
                    <a:lnL w="762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7210">
                <a:tc>
                  <a:txBody>
                    <a:bodyPr/>
                    <a:lstStyle/>
                    <a:p>
                      <a:pPr marL="0" indent="0" algn="ctr" defTabSz="914400" rtl="0" eaLnBrk="1" latinLnBrk="0" hangingPunct="1">
                        <a:buNone/>
                      </a:pPr>
                      <a:r>
                        <a:rPr lang="en-US" sz="1800" b="0" kern="1200" dirty="0">
                          <a:solidFill>
                            <a:srgbClr val="111111"/>
                          </a:solidFill>
                          <a:latin typeface="仿宋" panose="02010609060101010101" pitchFamily="49" charset="-122"/>
                          <a:ea typeface="仿宋" panose="02010609060101010101" pitchFamily="49" charset="-122"/>
                          <a:cs typeface="等线" pitchFamily="34" charset="-120"/>
                        </a:rPr>
                        <a:t>ltp</a:t>
                      </a:r>
                      <a:endParaRPr lang="en-US" sz="1800" b="0" kern="1200" dirty="0">
                        <a:solidFill>
                          <a:srgbClr val="111111"/>
                        </a:solidFill>
                        <a:latin typeface="仿宋" panose="02010609060101010101" pitchFamily="49" charset="-122"/>
                        <a:ea typeface="仿宋" panose="02010609060101010101" pitchFamily="49" charset="-122"/>
                        <a:cs typeface="等线" pitchFamily="34" charset="0"/>
                      </a:endParaRPr>
                    </a:p>
                  </a:txBody>
                  <a:tcPr marL="36576" marR="36576" marT="36576" marB="36576" anchor="ctr">
                    <a:lnL w="762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0" hangingPunct="1">
                        <a:buNone/>
                      </a:pPr>
                      <a:r>
                        <a:rPr lang="en-US" sz="1800" b="0" kern="1200" dirty="0">
                          <a:solidFill>
                            <a:srgbClr val="111111"/>
                          </a:solidFill>
                          <a:latin typeface="仿宋" panose="02010609060101010101" pitchFamily="49" charset="-122"/>
                          <a:ea typeface="仿宋" panose="02010609060101010101" pitchFamily="49" charset="-122"/>
                          <a:cs typeface="等线" pitchFamily="34" charset="-120"/>
                        </a:rPr>
                        <a:t>33685</a:t>
                      </a:r>
                      <a:endParaRPr lang="en-US" sz="1800" b="0" kern="1200" dirty="0">
                        <a:solidFill>
                          <a:srgbClr val="111111"/>
                        </a:solidFill>
                        <a:latin typeface="仿宋" panose="02010609060101010101" pitchFamily="49" charset="-122"/>
                        <a:ea typeface="仿宋" panose="02010609060101010101" pitchFamily="49" charset="-122"/>
                        <a:cs typeface="等线" pitchFamily="34" charset="0"/>
                      </a:endParaRPr>
                    </a:p>
                  </a:txBody>
                  <a:tcPr marL="36576" marR="36576" marT="36576" marB="36576" anchor="ctr">
                    <a:lnL w="762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0" hangingPunct="1">
                        <a:buNone/>
                      </a:pPr>
                      <a:r>
                        <a:rPr lang="en-US" sz="1800" b="0" kern="1200" dirty="0">
                          <a:solidFill>
                            <a:srgbClr val="111111"/>
                          </a:solidFill>
                          <a:latin typeface="仿宋" panose="02010609060101010101" pitchFamily="49" charset="-122"/>
                          <a:ea typeface="仿宋" panose="02010609060101010101" pitchFamily="49" charset="-122"/>
                          <a:cs typeface="等线" pitchFamily="34" charset="-120"/>
                        </a:rPr>
                        <a:t>系统调用兼容</a:t>
                      </a:r>
                      <a:endParaRPr lang="en-US" sz="1800" b="0" kern="1200" dirty="0">
                        <a:solidFill>
                          <a:srgbClr val="111111"/>
                        </a:solidFill>
                        <a:latin typeface="仿宋" panose="02010609060101010101" pitchFamily="49" charset="-122"/>
                        <a:ea typeface="仿宋" panose="02010609060101010101" pitchFamily="49" charset="-122"/>
                        <a:cs typeface="等线" pitchFamily="34" charset="0"/>
                      </a:endParaRPr>
                    </a:p>
                  </a:txBody>
                  <a:tcPr marL="36576" marR="36576" marT="36576" marB="36576" anchor="ctr">
                    <a:lnL w="762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37210">
                <a:tc>
                  <a:txBody>
                    <a:bodyPr/>
                    <a:lstStyle/>
                    <a:p>
                      <a:pPr marL="0" indent="0" algn="ctr" defTabSz="914400" rtl="0" eaLnBrk="1" latinLnBrk="0" hangingPunct="1">
                        <a:buNone/>
                      </a:pPr>
                      <a:r>
                        <a:rPr lang="en-US" sz="1800" b="0" kern="1200" dirty="0">
                          <a:solidFill>
                            <a:srgbClr val="111111"/>
                          </a:solidFill>
                          <a:latin typeface="仿宋" panose="02010609060101010101" pitchFamily="49" charset="-122"/>
                          <a:ea typeface="仿宋" panose="02010609060101010101" pitchFamily="49" charset="-122"/>
                          <a:cs typeface="等线" pitchFamily="34" charset="-120"/>
                        </a:rPr>
                        <a:t>iozone</a:t>
                      </a:r>
                      <a:endParaRPr lang="en-US" sz="1800" b="0" kern="1200" dirty="0">
                        <a:solidFill>
                          <a:srgbClr val="111111"/>
                        </a:solidFill>
                        <a:latin typeface="仿宋" panose="02010609060101010101" pitchFamily="49" charset="-122"/>
                        <a:ea typeface="仿宋" panose="02010609060101010101" pitchFamily="49" charset="-122"/>
                        <a:cs typeface="等线" pitchFamily="34" charset="0"/>
                      </a:endParaRPr>
                    </a:p>
                  </a:txBody>
                  <a:tcPr marL="36576" marR="36576" marT="36576" marB="36576" anchor="ctr">
                    <a:lnL w="762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0" hangingPunct="1">
                        <a:buNone/>
                      </a:pPr>
                      <a:r>
                        <a:rPr lang="en-US" sz="1800" b="0" kern="1200" dirty="0">
                          <a:solidFill>
                            <a:srgbClr val="111111"/>
                          </a:solidFill>
                          <a:latin typeface="仿宋" panose="02010609060101010101" pitchFamily="49" charset="-122"/>
                          <a:ea typeface="仿宋" panose="02010609060101010101" pitchFamily="49" charset="-122"/>
                          <a:cs typeface="等线" pitchFamily="34" charset="-120"/>
                        </a:rPr>
                        <a:t>80.0</a:t>
                      </a:r>
                      <a:endParaRPr lang="en-US" sz="1800" b="0" kern="1200" dirty="0">
                        <a:solidFill>
                          <a:srgbClr val="111111"/>
                        </a:solidFill>
                        <a:latin typeface="仿宋" panose="02010609060101010101" pitchFamily="49" charset="-122"/>
                        <a:ea typeface="仿宋" panose="02010609060101010101" pitchFamily="49" charset="-122"/>
                        <a:cs typeface="等线" pitchFamily="34" charset="0"/>
                      </a:endParaRPr>
                    </a:p>
                  </a:txBody>
                  <a:tcPr marL="36576" marR="36576" marT="36576" marB="36576" anchor="ctr">
                    <a:lnL w="762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0" hangingPunct="1">
                        <a:buNone/>
                      </a:pPr>
                      <a:r>
                        <a:rPr lang="en-US" sz="1800" b="0" kern="1200" dirty="0">
                          <a:solidFill>
                            <a:srgbClr val="111111"/>
                          </a:solidFill>
                          <a:latin typeface="仿宋" panose="02010609060101010101" pitchFamily="49" charset="-122"/>
                          <a:ea typeface="仿宋" panose="02010609060101010101" pitchFamily="49" charset="-122"/>
                          <a:cs typeface="等线" pitchFamily="34" charset="-120"/>
                        </a:rPr>
                        <a:t>文件 I/O</a:t>
                      </a:r>
                      <a:endParaRPr lang="en-US" sz="1800" b="0" kern="1200" dirty="0">
                        <a:solidFill>
                          <a:srgbClr val="111111"/>
                        </a:solidFill>
                        <a:latin typeface="仿宋" panose="02010609060101010101" pitchFamily="49" charset="-122"/>
                        <a:ea typeface="仿宋" panose="02010609060101010101" pitchFamily="49" charset="-122"/>
                        <a:cs typeface="等线" pitchFamily="34" charset="0"/>
                      </a:endParaRPr>
                    </a:p>
                  </a:txBody>
                  <a:tcPr marL="36576" marR="36576" marT="36576" marB="36576" anchor="ctr">
                    <a:lnL w="762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44195">
                <a:tc>
                  <a:txBody>
                    <a:bodyPr/>
                    <a:lstStyle/>
                    <a:p>
                      <a:pPr marL="0" indent="0" algn="ctr" defTabSz="914400" rtl="0" eaLnBrk="1" latinLnBrk="0" hangingPunct="1">
                        <a:buNone/>
                      </a:pPr>
                      <a:r>
                        <a:rPr lang="en-US" sz="1800" b="0" kern="1200" dirty="0">
                          <a:solidFill>
                            <a:srgbClr val="111111"/>
                          </a:solidFill>
                          <a:latin typeface="仿宋" panose="02010609060101010101" pitchFamily="49" charset="-122"/>
                          <a:ea typeface="仿宋" panose="02010609060101010101" pitchFamily="49" charset="-122"/>
                          <a:cs typeface="等线" pitchFamily="34" charset="-120"/>
                        </a:rPr>
                        <a:t>netperf / iperf</a:t>
                      </a:r>
                      <a:endParaRPr lang="en-US" sz="1800" b="0" kern="1200" dirty="0">
                        <a:solidFill>
                          <a:srgbClr val="111111"/>
                        </a:solidFill>
                        <a:latin typeface="仿宋" panose="02010609060101010101" pitchFamily="49" charset="-122"/>
                        <a:ea typeface="仿宋" panose="02010609060101010101" pitchFamily="49" charset="-122"/>
                        <a:cs typeface="等线" pitchFamily="34" charset="0"/>
                      </a:endParaRPr>
                    </a:p>
                  </a:txBody>
                  <a:tcPr marL="36576" marR="36576" marT="36576" marB="36576" anchor="ctr">
                    <a:lnL w="762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0" hangingPunct="1">
                        <a:buNone/>
                      </a:pPr>
                      <a:r>
                        <a:rPr lang="en-US" sz="1800" b="0" kern="1200" dirty="0">
                          <a:solidFill>
                            <a:srgbClr val="111111"/>
                          </a:solidFill>
                          <a:latin typeface="仿宋" panose="02010609060101010101" pitchFamily="49" charset="-122"/>
                          <a:ea typeface="仿宋" panose="02010609060101010101" pitchFamily="49" charset="-122"/>
                          <a:cs typeface="等线" pitchFamily="34" charset="-120"/>
                        </a:rPr>
                        <a:t>50.091</a:t>
                      </a:r>
                      <a:endParaRPr lang="en-US" sz="1800" b="0" kern="1200" dirty="0">
                        <a:solidFill>
                          <a:srgbClr val="111111"/>
                        </a:solidFill>
                        <a:latin typeface="仿宋" panose="02010609060101010101" pitchFamily="49" charset="-122"/>
                        <a:ea typeface="仿宋" panose="02010609060101010101" pitchFamily="49" charset="-122"/>
                        <a:cs typeface="等线" pitchFamily="34" charset="0"/>
                      </a:endParaRPr>
                    </a:p>
                  </a:txBody>
                  <a:tcPr marL="36576" marR="36576" marT="36576" marB="36576" anchor="ctr">
                    <a:lnL w="762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0" hangingPunct="1">
                        <a:buNone/>
                      </a:pPr>
                      <a:r>
                        <a:rPr lang="en-US" sz="1800" b="0" kern="1200" dirty="0">
                          <a:solidFill>
                            <a:srgbClr val="111111"/>
                          </a:solidFill>
                          <a:latin typeface="仿宋" panose="02010609060101010101" pitchFamily="49" charset="-122"/>
                          <a:ea typeface="仿宋" panose="02010609060101010101" pitchFamily="49" charset="-122"/>
                          <a:cs typeface="等线" pitchFamily="34" charset="-120"/>
                        </a:rPr>
                        <a:t>回环网络</a:t>
                      </a:r>
                      <a:endParaRPr lang="en-US" sz="1800" b="0" kern="1200" dirty="0">
                        <a:solidFill>
                          <a:srgbClr val="111111"/>
                        </a:solidFill>
                        <a:latin typeface="仿宋" panose="02010609060101010101" pitchFamily="49" charset="-122"/>
                        <a:ea typeface="仿宋" panose="02010609060101010101" pitchFamily="49" charset="-122"/>
                        <a:cs typeface="等线" pitchFamily="34" charset="0"/>
                      </a:endParaRPr>
                    </a:p>
                  </a:txBody>
                  <a:tcPr marL="36576" marR="36576" marT="36576" marB="36576" anchor="ctr">
                    <a:lnL w="762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37210">
                <a:tc>
                  <a:txBody>
                    <a:bodyPr/>
                    <a:lstStyle/>
                    <a:p>
                      <a:pPr marL="0" indent="0" algn="ctr" defTabSz="914400" rtl="0" eaLnBrk="1" latinLnBrk="0" hangingPunct="1">
                        <a:buNone/>
                      </a:pPr>
                      <a:r>
                        <a:rPr lang="en-US" sz="1800" b="0" kern="1200" dirty="0">
                          <a:solidFill>
                            <a:srgbClr val="111111"/>
                          </a:solidFill>
                          <a:latin typeface="仿宋" panose="02010609060101010101" pitchFamily="49" charset="-122"/>
                          <a:ea typeface="仿宋" panose="02010609060101010101" pitchFamily="49" charset="-122"/>
                          <a:cs typeface="等线" pitchFamily="34" charset="-120"/>
                        </a:rPr>
                        <a:t>libcbench / lmbench</a:t>
                      </a:r>
                      <a:endParaRPr lang="en-US" sz="1800" b="0" kern="1200" dirty="0">
                        <a:solidFill>
                          <a:srgbClr val="111111"/>
                        </a:solidFill>
                        <a:latin typeface="仿宋" panose="02010609060101010101" pitchFamily="49" charset="-122"/>
                        <a:ea typeface="仿宋" panose="02010609060101010101" pitchFamily="49" charset="-122"/>
                        <a:cs typeface="等线" pitchFamily="34" charset="0"/>
                      </a:endParaRPr>
                    </a:p>
                  </a:txBody>
                  <a:tcPr marL="36576" marR="36576" marT="36576" marB="36576" anchor="ctr">
                    <a:lnL w="762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0" hangingPunct="1">
                        <a:buNone/>
                      </a:pPr>
                      <a:r>
                        <a:rPr lang="en-US" sz="1800" b="0" kern="1200" dirty="0">
                          <a:solidFill>
                            <a:srgbClr val="111111"/>
                          </a:solidFill>
                          <a:latin typeface="仿宋" panose="02010609060101010101" pitchFamily="49" charset="-122"/>
                          <a:ea typeface="仿宋" panose="02010609060101010101" pitchFamily="49" charset="-122"/>
                          <a:cs typeface="等线" pitchFamily="34" charset="-120"/>
                        </a:rPr>
                        <a:t>280.359</a:t>
                      </a:r>
                      <a:endParaRPr lang="en-US" sz="1800" b="0" kern="1200" dirty="0">
                        <a:solidFill>
                          <a:srgbClr val="111111"/>
                        </a:solidFill>
                        <a:latin typeface="仿宋" panose="02010609060101010101" pitchFamily="49" charset="-122"/>
                        <a:ea typeface="仿宋" panose="02010609060101010101" pitchFamily="49" charset="-122"/>
                        <a:cs typeface="等线" pitchFamily="34" charset="0"/>
                      </a:endParaRPr>
                    </a:p>
                  </a:txBody>
                  <a:tcPr marL="36576" marR="36576" marT="36576" marB="36576" anchor="ctr">
                    <a:lnL w="762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0" hangingPunct="1">
                        <a:buNone/>
                      </a:pPr>
                      <a:r>
                        <a:rPr lang="en-US" sz="1800" b="0" kern="1200" dirty="0">
                          <a:solidFill>
                            <a:srgbClr val="111111"/>
                          </a:solidFill>
                          <a:latin typeface="仿宋" panose="02010609060101010101" pitchFamily="49" charset="-122"/>
                          <a:ea typeface="仿宋" panose="02010609060101010101" pitchFamily="49" charset="-122"/>
                          <a:cs typeface="等线" pitchFamily="34" charset="-120"/>
                        </a:rPr>
                        <a:t>综合性能</a:t>
                      </a:r>
                      <a:endParaRPr lang="en-US" sz="1800" b="0" kern="1200" dirty="0">
                        <a:solidFill>
                          <a:srgbClr val="111111"/>
                        </a:solidFill>
                        <a:latin typeface="仿宋" panose="02010609060101010101" pitchFamily="49" charset="-122"/>
                        <a:ea typeface="仿宋" panose="02010609060101010101" pitchFamily="49" charset="-122"/>
                        <a:cs typeface="等线" pitchFamily="34" charset="0"/>
                      </a:endParaRPr>
                    </a:p>
                  </a:txBody>
                  <a:tcPr marL="36576" marR="36576" marT="36576" marB="36576" anchor="ctr">
                    <a:lnL w="762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5532120" y="7651559"/>
            <a:ext cx="2926080" cy="320040"/>
          </a:xfrm>
          <a:prstGeom prst="rect">
            <a:avLst/>
          </a:prstGeom>
          <a:noFill/>
        </p:spPr>
        <p:txBody>
          <a:bodyPr wrap="square" lIns="381" tIns="381" rIns="381" bIns="381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111111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线上榜单折算总分：2517.449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5532120" y="8026463"/>
            <a:ext cx="5303520" cy="274320"/>
          </a:xfrm>
          <a:prstGeom prst="rect">
            <a:avLst/>
          </a:prstGeom>
          <a:noFill/>
        </p:spPr>
        <p:txBody>
          <a:bodyPr wrap="square" lIns="381" tIns="381" rIns="381" bIns="381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111111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本地 RV：17614.19 / 19141    本地 LA：17661.39 / 19168</a:t>
            </a:r>
            <a:endParaRPr lang="en-US" sz="1250" dirty="0"/>
          </a:p>
        </p:txBody>
      </p:sp>
      <p:cxnSp>
        <p:nvCxnSpPr>
          <p:cNvPr id="15" name="直接连接符 14"/>
          <p:cNvCxnSpPr/>
          <p:nvPr/>
        </p:nvCxnSpPr>
        <p:spPr>
          <a:xfrm>
            <a:off x="519545" y="1039091"/>
            <a:ext cx="7813964" cy="0"/>
          </a:xfrm>
          <a:prstGeom prst="line">
            <a:avLst/>
          </a:prstGeom>
          <a:ln w="38100">
            <a:solidFill>
              <a:schemeClr val="bg2">
                <a:lumMod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矩形 15"/>
          <p:cNvSpPr/>
          <p:nvPr/>
        </p:nvSpPr>
        <p:spPr>
          <a:xfrm>
            <a:off x="11641282" y="342901"/>
            <a:ext cx="259773" cy="581891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" name="文本框 16"/>
          <p:cNvSpPr txBox="1"/>
          <p:nvPr/>
        </p:nvSpPr>
        <p:spPr>
          <a:xfrm>
            <a:off x="550718" y="155351"/>
            <a:ext cx="2441694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4400" dirty="0">
                <a:latin typeface="华文中宋" panose="02010600040101010101" pitchFamily="2" charset="-122"/>
                <a:ea typeface="华文中宋" panose="02010600040101010101" pitchFamily="2" charset="-122"/>
              </a:rPr>
              <a:t>成果展示</a:t>
            </a:r>
          </a:p>
        </p:txBody>
      </p:sp>
      <p:sp>
        <p:nvSpPr>
          <p:cNvPr id="18" name="文本框 17"/>
          <p:cNvSpPr txBox="1"/>
          <p:nvPr/>
        </p:nvSpPr>
        <p:spPr>
          <a:xfrm>
            <a:off x="687774" y="1153391"/>
            <a:ext cx="209015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华文中宋" panose="02010600040101010101" pitchFamily="2" charset="-122"/>
                <a:ea typeface="华文中宋" panose="02010600040101010101" pitchFamily="2" charset="-122"/>
              </a:rPr>
              <a:t>Score</a:t>
            </a:r>
            <a:endParaRPr lang="zh-CN" altLang="en-US" dirty="0">
              <a:latin typeface="华文中宋" panose="02010600040101010101" pitchFamily="2" charset="-122"/>
              <a:ea typeface="华文中宋" panose="02010600040101010101" pitchFamily="2" charset="-122"/>
            </a:endParaRPr>
          </a:p>
        </p:txBody>
      </p:sp>
      <p:sp>
        <p:nvSpPr>
          <p:cNvPr id="19" name="矩形 18"/>
          <p:cNvSpPr/>
          <p:nvPr/>
        </p:nvSpPr>
        <p:spPr>
          <a:xfrm>
            <a:off x="581556" y="3273137"/>
            <a:ext cx="232756" cy="412092"/>
          </a:xfrm>
          <a:prstGeom prst="rect">
            <a:avLst/>
          </a:prstGeom>
          <a:solidFill>
            <a:schemeClr val="bg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矩形 19"/>
          <p:cNvSpPr/>
          <p:nvPr/>
        </p:nvSpPr>
        <p:spPr>
          <a:xfrm>
            <a:off x="575448" y="4026143"/>
            <a:ext cx="232756" cy="412092"/>
          </a:xfrm>
          <a:prstGeom prst="rect">
            <a:avLst/>
          </a:prstGeom>
          <a:solidFill>
            <a:schemeClr val="bg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矩形 20"/>
          <p:cNvSpPr/>
          <p:nvPr/>
        </p:nvSpPr>
        <p:spPr>
          <a:xfrm>
            <a:off x="577631" y="4833545"/>
            <a:ext cx="232756" cy="412092"/>
          </a:xfrm>
          <a:prstGeom prst="rect">
            <a:avLst/>
          </a:prstGeom>
          <a:solidFill>
            <a:schemeClr val="bg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" name="矩形 21"/>
          <p:cNvSpPr/>
          <p:nvPr/>
        </p:nvSpPr>
        <p:spPr>
          <a:xfrm>
            <a:off x="571396" y="5702837"/>
            <a:ext cx="232756" cy="412092"/>
          </a:xfrm>
          <a:prstGeom prst="rect">
            <a:avLst/>
          </a:prstGeom>
          <a:solidFill>
            <a:schemeClr val="bg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Text Box 10"/>
          <p:cNvSpPr txBox="1"/>
          <p:nvPr/>
        </p:nvSpPr>
        <p:spPr>
          <a:xfrm>
            <a:off x="9538335" y="969010"/>
            <a:ext cx="198755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去掉说明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633924" y="5200725"/>
            <a:ext cx="11368883" cy="902481"/>
          </a:xfrm>
          <a:prstGeom prst="rect">
            <a:avLst/>
          </a:prstGeom>
          <a:noFill/>
        </p:spPr>
        <p:txBody>
          <a:bodyPr wrap="square" lIns="381" tIns="381" rIns="381" bIns="381" rtlCol="0" anchor="t"/>
          <a:lstStyle/>
          <a:p>
            <a:pPr marL="0" indent="0">
              <a:lnSpc>
                <a:spcPct val="150000"/>
              </a:lnSpc>
              <a:buNone/>
            </a:pPr>
            <a:r>
              <a:rPr lang="en-US" sz="2000" dirty="0">
                <a:solidFill>
                  <a:srgbClr val="111111"/>
                </a:solidFill>
                <a:latin typeface="华文中宋" panose="02010600040101010101" pitchFamily="2" charset="-122"/>
                <a:ea typeface="华文中宋" panose="02010600040101010101" pitchFamily="2" charset="-122"/>
                <a:cs typeface="等线" pitchFamily="34" charset="-120"/>
              </a:rPr>
              <a:t>我们把竞赛相关的测试组选择、marker </a:t>
            </a:r>
            <a:r>
              <a:rPr lang="en-US" sz="2000" dirty="0" err="1">
                <a:solidFill>
                  <a:srgbClr val="111111"/>
                </a:solidFill>
                <a:latin typeface="华文中宋" panose="02010600040101010101" pitchFamily="2" charset="-122"/>
                <a:ea typeface="华文中宋" panose="02010600040101010101" pitchFamily="2" charset="-122"/>
                <a:cs typeface="等线" pitchFamily="34" charset="-120"/>
              </a:rPr>
              <a:t>输出和收尾动作放在脚本盘中，内核只负责通用执行环境</a:t>
            </a:r>
            <a:r>
              <a:rPr lang="en-US" sz="2000" dirty="0">
                <a:solidFill>
                  <a:srgbClr val="111111"/>
                </a:solidFill>
                <a:latin typeface="华文中宋" panose="02010600040101010101" pitchFamily="2" charset="-122"/>
                <a:ea typeface="华文中宋" panose="02010600040101010101" pitchFamily="2" charset="-122"/>
                <a:cs typeface="等线" pitchFamily="34" charset="-120"/>
              </a:rPr>
              <a:t>。</a:t>
            </a:r>
          </a:p>
          <a:p>
            <a:pPr>
              <a:lnSpc>
                <a:spcPct val="150000"/>
              </a:lnSpc>
            </a:pPr>
            <a:r>
              <a:rPr lang="en-US" altLang="zh-CN" sz="2000" dirty="0" err="1">
                <a:solidFill>
                  <a:srgbClr val="111111"/>
                </a:solidFill>
                <a:latin typeface="华文中宋" panose="02010600040101010101" pitchFamily="2" charset="-122"/>
                <a:ea typeface="华文中宋" panose="02010600040101010101" pitchFamily="2" charset="-122"/>
                <a:cs typeface="等线" pitchFamily="34" charset="-120"/>
              </a:rPr>
              <a:t>这个设计让测试编排可调整、内核语义更干净，也方便评审从脚本盘和日志复查运行路径</a:t>
            </a:r>
            <a:r>
              <a:rPr lang="en-US" altLang="zh-CN" sz="2000" dirty="0">
                <a:solidFill>
                  <a:srgbClr val="111111"/>
                </a:solidFill>
                <a:latin typeface="华文中宋" panose="02010600040101010101" pitchFamily="2" charset="-122"/>
                <a:ea typeface="华文中宋" panose="02010600040101010101" pitchFamily="2" charset="-122"/>
                <a:cs typeface="等线" pitchFamily="34" charset="-120"/>
              </a:rPr>
              <a:t>。</a:t>
            </a:r>
            <a:endParaRPr lang="en-US" altLang="zh-CN" sz="2000" dirty="0">
              <a:latin typeface="华文中宋" panose="02010600040101010101" pitchFamily="2" charset="-122"/>
              <a:ea typeface="华文中宋" panose="02010600040101010101" pitchFamily="2" charset="-122"/>
            </a:endParaRPr>
          </a:p>
          <a:p>
            <a:pPr marL="0" indent="0">
              <a:buNone/>
            </a:pPr>
            <a:endParaRPr lang="en-US" dirty="0">
              <a:latin typeface="华文中宋" panose="02010600040101010101" pitchFamily="2" charset="-122"/>
              <a:ea typeface="华文中宋" panose="02010600040101010101" pitchFamily="2" charset="-122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1243336" y="5877689"/>
            <a:ext cx="10247781" cy="1019339"/>
          </a:xfrm>
          <a:prstGeom prst="rect">
            <a:avLst/>
          </a:prstGeom>
          <a:noFill/>
        </p:spPr>
        <p:txBody>
          <a:bodyPr wrap="square" lIns="381" tIns="381" rIns="381" bIns="381" rtlCol="0" anchor="t"/>
          <a:lstStyle/>
          <a:p>
            <a:pPr marL="0" indent="0">
              <a:lnSpc>
                <a:spcPct val="150000"/>
              </a:lnSpc>
              <a:buNone/>
            </a:pPr>
            <a:endParaRPr lang="en-US" sz="2000" dirty="0">
              <a:latin typeface="华文中宋" panose="02010600040101010101" pitchFamily="2" charset="-122"/>
              <a:ea typeface="华文中宋" panose="02010600040101010101" pitchFamily="2" charset="-122"/>
            </a:endParaRPr>
          </a:p>
        </p:txBody>
      </p:sp>
      <p:cxnSp>
        <p:nvCxnSpPr>
          <p:cNvPr id="20" name="直接连接符 19"/>
          <p:cNvCxnSpPr/>
          <p:nvPr/>
        </p:nvCxnSpPr>
        <p:spPr>
          <a:xfrm>
            <a:off x="519545" y="1039091"/>
            <a:ext cx="7813964" cy="0"/>
          </a:xfrm>
          <a:prstGeom prst="line">
            <a:avLst/>
          </a:prstGeom>
          <a:ln w="38100">
            <a:solidFill>
              <a:schemeClr val="bg2">
                <a:lumMod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矩形 20"/>
          <p:cNvSpPr/>
          <p:nvPr/>
        </p:nvSpPr>
        <p:spPr>
          <a:xfrm>
            <a:off x="11641282" y="342901"/>
            <a:ext cx="259773" cy="581891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" name="文本框 21"/>
          <p:cNvSpPr txBox="1"/>
          <p:nvPr/>
        </p:nvSpPr>
        <p:spPr>
          <a:xfrm>
            <a:off x="550718" y="155351"/>
            <a:ext cx="2441694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4400" dirty="0">
                <a:latin typeface="华文中宋" panose="02010600040101010101" pitchFamily="2" charset="-122"/>
                <a:ea typeface="华文中宋" panose="02010600040101010101" pitchFamily="2" charset="-122"/>
              </a:rPr>
              <a:t>运行模式</a:t>
            </a:r>
          </a:p>
        </p:txBody>
      </p:sp>
      <p:sp>
        <p:nvSpPr>
          <p:cNvPr id="23" name="文本框 22"/>
          <p:cNvSpPr txBox="1"/>
          <p:nvPr/>
        </p:nvSpPr>
        <p:spPr>
          <a:xfrm>
            <a:off x="687774" y="1153391"/>
            <a:ext cx="209015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华文中宋" panose="02010600040101010101" pitchFamily="2" charset="-122"/>
                <a:ea typeface="华文中宋" panose="02010600040101010101" pitchFamily="2" charset="-122"/>
              </a:rPr>
              <a:t>Mode</a:t>
            </a:r>
            <a:endParaRPr lang="zh-CN" altLang="en-US" dirty="0">
              <a:latin typeface="华文中宋" panose="02010600040101010101" pitchFamily="2" charset="-122"/>
              <a:ea typeface="华文中宋" panose="02010600040101010101" pitchFamily="2" charset="-122"/>
            </a:endParaRPr>
          </a:p>
        </p:txBody>
      </p:sp>
      <p:grpSp>
        <p:nvGrpSpPr>
          <p:cNvPr id="50" name="组合 49"/>
          <p:cNvGrpSpPr/>
          <p:nvPr/>
        </p:nvGrpSpPr>
        <p:grpSpPr>
          <a:xfrm>
            <a:off x="406400" y="1810818"/>
            <a:ext cx="11344723" cy="1544769"/>
            <a:chOff x="325120" y="2433027"/>
            <a:chExt cx="11344723" cy="1544769"/>
          </a:xfrm>
        </p:grpSpPr>
        <p:grpSp>
          <p:nvGrpSpPr>
            <p:cNvPr id="44" name="组合 43"/>
            <p:cNvGrpSpPr/>
            <p:nvPr/>
          </p:nvGrpSpPr>
          <p:grpSpPr>
            <a:xfrm>
              <a:off x="325120" y="2433027"/>
              <a:ext cx="11344723" cy="1544769"/>
              <a:chOff x="325120" y="2433027"/>
              <a:chExt cx="11344723" cy="1544769"/>
            </a:xfrm>
          </p:grpSpPr>
          <p:sp>
            <p:nvSpPr>
              <p:cNvPr id="24" name="平行四边形 23"/>
              <p:cNvSpPr/>
              <p:nvPr/>
            </p:nvSpPr>
            <p:spPr>
              <a:xfrm>
                <a:off x="325120" y="2435670"/>
                <a:ext cx="3648133" cy="1540348"/>
              </a:xfrm>
              <a:prstGeom prst="parallelogram">
                <a:avLst/>
              </a:prstGeom>
              <a:solidFill>
                <a:schemeClr val="bg1"/>
              </a:solidFill>
              <a:ln>
                <a:noFill/>
              </a:ln>
              <a:effectLst>
                <a:outerShdw blurRad="50800" dist="38100" dir="10800000" algn="r" rotWithShape="0">
                  <a:prstClr val="black">
                    <a:alpha val="22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en-US" altLang="zh-CN" dirty="0">
                  <a:latin typeface="华文中宋" panose="02010600040101010101" pitchFamily="2" charset="-122"/>
                  <a:ea typeface="华文中宋" panose="02010600040101010101" pitchFamily="2" charset="-122"/>
                </a:endParaRPr>
              </a:p>
            </p:txBody>
          </p:sp>
          <p:sp>
            <p:nvSpPr>
              <p:cNvPr id="33" name="文本框 32"/>
              <p:cNvSpPr txBox="1"/>
              <p:nvPr/>
            </p:nvSpPr>
            <p:spPr>
              <a:xfrm>
                <a:off x="475354" y="2826965"/>
                <a:ext cx="2227206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111111"/>
                    </a:solidFill>
                    <a:latin typeface="华文中宋" panose="02010600040101010101" pitchFamily="2" charset="-122"/>
                    <a:ea typeface="华文中宋" panose="02010600040101010101" pitchFamily="2" charset="-122"/>
                    <a:cs typeface="等线" pitchFamily="34" charset="-120"/>
                  </a:rPr>
                  <a:t>make all</a:t>
                </a:r>
                <a:endParaRPr lang="en-US" altLang="zh-CN" dirty="0">
                  <a:latin typeface="华文中宋" panose="02010600040101010101" pitchFamily="2" charset="-122"/>
                  <a:ea typeface="华文中宋" panose="02010600040101010101" pitchFamily="2" charset="-122"/>
                </a:endParaRPr>
              </a:p>
              <a:p>
                <a:pPr algn="ctr"/>
                <a:r>
                  <a:rPr lang="en-US" altLang="zh-CN" dirty="0" err="1">
                    <a:solidFill>
                      <a:srgbClr val="111111"/>
                    </a:solidFill>
                    <a:latin typeface="华文中宋" panose="02010600040101010101" pitchFamily="2" charset="-122"/>
                    <a:ea typeface="华文中宋" panose="02010600040101010101" pitchFamily="2" charset="-122"/>
                    <a:cs typeface="等线" pitchFamily="34" charset="-120"/>
                  </a:rPr>
                  <a:t>生成</a:t>
                </a:r>
                <a:r>
                  <a:rPr lang="en-US" altLang="zh-CN" dirty="0">
                    <a:solidFill>
                      <a:srgbClr val="111111"/>
                    </a:solidFill>
                    <a:latin typeface="华文中宋" panose="02010600040101010101" pitchFamily="2" charset="-122"/>
                    <a:ea typeface="华文中宋" panose="02010600040101010101" pitchFamily="2" charset="-122"/>
                    <a:cs typeface="等线" pitchFamily="34" charset="-120"/>
                  </a:rPr>
                  <a:t> kernel-</a:t>
                </a:r>
                <a:r>
                  <a:rPr lang="en-US" altLang="zh-CN" dirty="0" err="1">
                    <a:solidFill>
                      <a:srgbClr val="111111"/>
                    </a:solidFill>
                    <a:latin typeface="华文中宋" panose="02010600040101010101" pitchFamily="2" charset="-122"/>
                    <a:ea typeface="华文中宋" panose="02010600040101010101" pitchFamily="2" charset="-122"/>
                    <a:cs typeface="等线" pitchFamily="34" charset="-120"/>
                  </a:rPr>
                  <a:t>rv</a:t>
                </a:r>
                <a:r>
                  <a:rPr lang="en-US" altLang="zh-CN" dirty="0">
                    <a:solidFill>
                      <a:srgbClr val="111111"/>
                    </a:solidFill>
                    <a:latin typeface="华文中宋" panose="02010600040101010101" pitchFamily="2" charset="-122"/>
                    <a:ea typeface="华文中宋" panose="02010600040101010101" pitchFamily="2" charset="-122"/>
                    <a:cs typeface="等线" pitchFamily="34" charset="-120"/>
                  </a:rPr>
                  <a:t> / kernel-la</a:t>
                </a:r>
                <a:endParaRPr lang="en-US" altLang="zh-CN" dirty="0">
                  <a:latin typeface="华文中宋" panose="02010600040101010101" pitchFamily="2" charset="-122"/>
                  <a:ea typeface="华文中宋" panose="02010600040101010101" pitchFamily="2" charset="-122"/>
                </a:endParaRPr>
              </a:p>
            </p:txBody>
          </p:sp>
          <p:sp>
            <p:nvSpPr>
              <p:cNvPr id="37" name="平行四边形 36"/>
              <p:cNvSpPr/>
              <p:nvPr/>
            </p:nvSpPr>
            <p:spPr>
              <a:xfrm>
                <a:off x="2448560" y="2435670"/>
                <a:ext cx="3788526" cy="1540348"/>
              </a:xfrm>
              <a:prstGeom prst="parallelogram">
                <a:avLst/>
              </a:prstGeom>
              <a:solidFill>
                <a:schemeClr val="bg2">
                  <a:lumMod val="25000"/>
                </a:schemeClr>
              </a:solidFill>
              <a:ln>
                <a:noFill/>
              </a:ln>
              <a:effectLst>
                <a:outerShdw blurRad="50800" dist="38100" dir="10800000" algn="r" rotWithShape="0">
                  <a:prstClr val="black">
                    <a:alpha val="23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en-US" altLang="zh-CN" dirty="0">
                  <a:latin typeface="华文中宋" panose="02010600040101010101" pitchFamily="2" charset="-122"/>
                  <a:ea typeface="华文中宋" panose="02010600040101010101" pitchFamily="2" charset="-122"/>
                </a:endParaRPr>
              </a:p>
            </p:txBody>
          </p:sp>
          <p:sp>
            <p:nvSpPr>
              <p:cNvPr id="38" name="平行四边形 37"/>
              <p:cNvSpPr/>
              <p:nvPr/>
            </p:nvSpPr>
            <p:spPr>
              <a:xfrm>
                <a:off x="4575997" y="2435670"/>
                <a:ext cx="4010935" cy="1542126"/>
              </a:xfrm>
              <a:prstGeom prst="parallelogram">
                <a:avLst/>
              </a:prstGeom>
              <a:solidFill>
                <a:schemeClr val="bg1"/>
              </a:solidFill>
              <a:ln>
                <a:noFill/>
              </a:ln>
              <a:effectLst>
                <a:outerShdw blurRad="50800" dist="38100" dir="10800000" algn="r" rotWithShape="0">
                  <a:prstClr val="black">
                    <a:alpha val="28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en-US" altLang="zh-CN" dirty="0">
                  <a:latin typeface="华文中宋" panose="02010600040101010101" pitchFamily="2" charset="-122"/>
                  <a:ea typeface="华文中宋" panose="02010600040101010101" pitchFamily="2" charset="-122"/>
                </a:endParaRPr>
              </a:p>
            </p:txBody>
          </p:sp>
          <p:sp>
            <p:nvSpPr>
              <p:cNvPr id="39" name="平行四边形 38"/>
              <p:cNvSpPr/>
              <p:nvPr/>
            </p:nvSpPr>
            <p:spPr>
              <a:xfrm>
                <a:off x="6593774" y="2433027"/>
                <a:ext cx="3713365" cy="1540348"/>
              </a:xfrm>
              <a:prstGeom prst="parallelogram">
                <a:avLst/>
              </a:prstGeom>
              <a:solidFill>
                <a:schemeClr val="bg2">
                  <a:lumMod val="25000"/>
                </a:schemeClr>
              </a:solidFill>
              <a:ln>
                <a:noFill/>
              </a:ln>
              <a:effectLst>
                <a:outerShdw blurRad="50800" dist="38100" dir="10800000" algn="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en-US" altLang="zh-CN" dirty="0">
                  <a:latin typeface="华文中宋" panose="02010600040101010101" pitchFamily="2" charset="-122"/>
                  <a:ea typeface="华文中宋" panose="02010600040101010101" pitchFamily="2" charset="-122"/>
                </a:endParaRPr>
              </a:p>
            </p:txBody>
          </p:sp>
          <p:sp>
            <p:nvSpPr>
              <p:cNvPr id="40" name="平行四边形 39"/>
              <p:cNvSpPr/>
              <p:nvPr/>
            </p:nvSpPr>
            <p:spPr>
              <a:xfrm>
                <a:off x="8804723" y="2433027"/>
                <a:ext cx="2865120" cy="1536538"/>
              </a:xfrm>
              <a:prstGeom prst="parallelogram">
                <a:avLst/>
              </a:prstGeom>
              <a:solidFill>
                <a:schemeClr val="bg1"/>
              </a:solidFill>
              <a:ln>
                <a:noFill/>
              </a:ln>
              <a:effectLst>
                <a:outerShdw blurRad="63500" sx="102000" sy="102000" algn="ctr" rotWithShape="0">
                  <a:prstClr val="black">
                    <a:alpha val="16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en-US" altLang="zh-CN" dirty="0">
                  <a:latin typeface="华文中宋" panose="02010600040101010101" pitchFamily="2" charset="-122"/>
                  <a:ea typeface="华文中宋" panose="02010600040101010101" pitchFamily="2" charset="-122"/>
                </a:endParaRPr>
              </a:p>
            </p:txBody>
          </p:sp>
          <p:sp>
            <p:nvSpPr>
              <p:cNvPr id="34" name="文本框 33"/>
              <p:cNvSpPr txBox="1"/>
              <p:nvPr/>
            </p:nvSpPr>
            <p:spPr>
              <a:xfrm>
                <a:off x="2574477" y="2909440"/>
                <a:ext cx="2227206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chemeClr val="bg1"/>
                    </a:solidFill>
                    <a:latin typeface="华文中宋" panose="02010600040101010101" pitchFamily="2" charset="-122"/>
                    <a:ea typeface="华文中宋" panose="02010600040101010101" pitchFamily="2" charset="-122"/>
                    <a:cs typeface="等线" pitchFamily="34" charset="-120"/>
                  </a:rPr>
                  <a:t>QEMU</a:t>
                </a:r>
                <a:endParaRPr lang="en-US" altLang="zh-CN" dirty="0">
                  <a:solidFill>
                    <a:schemeClr val="bg1"/>
                  </a:solidFill>
                  <a:latin typeface="华文中宋" panose="02010600040101010101" pitchFamily="2" charset="-122"/>
                  <a:ea typeface="华文中宋" panose="02010600040101010101" pitchFamily="2" charset="-122"/>
                </a:endParaRPr>
              </a:p>
              <a:p>
                <a:pPr algn="ctr"/>
                <a:r>
                  <a:rPr lang="en-US" altLang="zh-CN" dirty="0" err="1">
                    <a:solidFill>
                      <a:schemeClr val="bg1"/>
                    </a:solidFill>
                    <a:latin typeface="华文中宋" panose="02010600040101010101" pitchFamily="2" charset="-122"/>
                    <a:ea typeface="华文中宋" panose="02010600040101010101" pitchFamily="2" charset="-122"/>
                    <a:cs typeface="等线" pitchFamily="34" charset="-120"/>
                  </a:rPr>
                  <a:t>挂载</a:t>
                </a:r>
                <a:r>
                  <a:rPr lang="en-US" altLang="zh-CN" dirty="0">
                    <a:solidFill>
                      <a:schemeClr val="bg1"/>
                    </a:solidFill>
                    <a:latin typeface="华文中宋" panose="02010600040101010101" pitchFamily="2" charset="-122"/>
                    <a:ea typeface="华文中宋" panose="02010600040101010101" pitchFamily="2" charset="-122"/>
                    <a:cs typeface="等线" pitchFamily="34" charset="-120"/>
                  </a:rPr>
                  <a:t> x0 / x1</a:t>
                </a:r>
                <a:endParaRPr lang="en-US" altLang="zh-CN" dirty="0">
                  <a:solidFill>
                    <a:schemeClr val="bg1"/>
                  </a:solidFill>
                  <a:latin typeface="华文中宋" panose="02010600040101010101" pitchFamily="2" charset="-122"/>
                  <a:ea typeface="华文中宋" panose="02010600040101010101" pitchFamily="2" charset="-122"/>
                </a:endParaRPr>
              </a:p>
            </p:txBody>
          </p:sp>
          <p:sp>
            <p:nvSpPr>
              <p:cNvPr id="41" name="文本框 40"/>
              <p:cNvSpPr txBox="1"/>
              <p:nvPr/>
            </p:nvSpPr>
            <p:spPr>
              <a:xfrm>
                <a:off x="4691380" y="2846505"/>
                <a:ext cx="2227206" cy="75309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>
                  <a:lnSpc>
                    <a:spcPct val="125000"/>
                  </a:lnSpc>
                </a:pPr>
                <a:r>
                  <a:rPr lang="en-US" altLang="zh-CN" dirty="0" err="1">
                    <a:solidFill>
                      <a:srgbClr val="111111"/>
                    </a:solidFill>
                    <a:latin typeface="华文中宋" panose="02010600040101010101" pitchFamily="2" charset="-122"/>
                    <a:ea typeface="华文中宋" panose="02010600040101010101" pitchFamily="2" charset="-122"/>
                    <a:cs typeface="等线" pitchFamily="34" charset="-120"/>
                  </a:rPr>
                  <a:t>rust_main</a:t>
                </a:r>
                <a:endParaRPr lang="en-US" altLang="zh-CN" dirty="0">
                  <a:latin typeface="华文中宋" panose="02010600040101010101" pitchFamily="2" charset="-122"/>
                  <a:ea typeface="华文中宋" panose="02010600040101010101" pitchFamily="2" charset="-122"/>
                </a:endParaRPr>
              </a:p>
              <a:p>
                <a:pPr algn="ctr">
                  <a:lnSpc>
                    <a:spcPct val="125000"/>
                  </a:lnSpc>
                </a:pPr>
                <a:r>
                  <a:rPr lang="en-US" altLang="zh-CN" dirty="0" err="1">
                    <a:solidFill>
                      <a:srgbClr val="111111"/>
                    </a:solidFill>
                    <a:latin typeface="华文中宋" panose="02010600040101010101" pitchFamily="2" charset="-122"/>
                    <a:ea typeface="华文中宋" panose="02010600040101010101" pitchFamily="2" charset="-122"/>
                    <a:cs typeface="等线" pitchFamily="34" charset="-120"/>
                  </a:rPr>
                  <a:t>初始化内核</a:t>
                </a:r>
                <a:endParaRPr lang="en-US" altLang="zh-CN" dirty="0">
                  <a:latin typeface="华文中宋" panose="02010600040101010101" pitchFamily="2" charset="-122"/>
                  <a:ea typeface="华文中宋" panose="02010600040101010101" pitchFamily="2" charset="-122"/>
                </a:endParaRPr>
              </a:p>
            </p:txBody>
          </p:sp>
          <p:sp>
            <p:nvSpPr>
              <p:cNvPr id="42" name="文本框 41"/>
              <p:cNvSpPr txBox="1"/>
              <p:nvPr/>
            </p:nvSpPr>
            <p:spPr>
              <a:xfrm>
                <a:off x="6840055" y="2819525"/>
                <a:ext cx="2215671" cy="1022396"/>
              </a:xfrm>
              <a:prstGeom prst="rect">
                <a:avLst/>
              </a:prstGeom>
              <a:noFill/>
              <a:effectLst>
                <a:outerShdw blurRad="50800" dist="38100" dir="5400000" algn="t" rotWithShape="0">
                  <a:prstClr val="black">
                    <a:alpha val="24000"/>
                  </a:prstClr>
                </a:outerShdw>
              </a:effectLst>
            </p:spPr>
            <p:txBody>
              <a:bodyPr wrap="none" rtlCol="0">
                <a:spAutoFit/>
              </a:bodyPr>
              <a:lstStyle/>
              <a:p>
                <a:pPr algn="ctr">
                  <a:lnSpc>
                    <a:spcPct val="125000"/>
                  </a:lnSpc>
                </a:pPr>
                <a:r>
                  <a:rPr lang="en-US" altLang="zh-CN" sz="1600" dirty="0">
                    <a:solidFill>
                      <a:schemeClr val="bg1"/>
                    </a:solidFill>
                    <a:latin typeface="华文中宋" panose="02010600040101010101" pitchFamily="2" charset="-122"/>
                    <a:ea typeface="华文中宋" panose="02010600040101010101" pitchFamily="2" charset="-122"/>
                    <a:cs typeface="等线" pitchFamily="34" charset="-120"/>
                  </a:rPr>
                  <a:t>/</a:t>
                </a:r>
                <a:r>
                  <a:rPr lang="en-US" altLang="zh-CN" sz="1600" dirty="0" err="1">
                    <a:solidFill>
                      <a:schemeClr val="bg1"/>
                    </a:solidFill>
                    <a:latin typeface="华文中宋" panose="02010600040101010101" pitchFamily="2" charset="-122"/>
                    <a:ea typeface="华文中宋" panose="02010600040101010101" pitchFamily="2" charset="-122"/>
                    <a:cs typeface="等线" pitchFamily="34" charset="-120"/>
                  </a:rPr>
                  <a:t>musl</a:t>
                </a:r>
                <a:r>
                  <a:rPr lang="en-US" altLang="zh-CN" sz="1600" dirty="0">
                    <a:solidFill>
                      <a:schemeClr val="bg1"/>
                    </a:solidFill>
                    <a:latin typeface="华文中宋" panose="02010600040101010101" pitchFamily="2" charset="-122"/>
                    <a:ea typeface="华文中宋" panose="02010600040101010101" pitchFamily="2" charset="-122"/>
                    <a:cs typeface="等线" pitchFamily="34" charset="-120"/>
                  </a:rPr>
                  <a:t>/</a:t>
                </a:r>
                <a:r>
                  <a:rPr lang="en-US" altLang="zh-CN" sz="1600" dirty="0" err="1">
                    <a:solidFill>
                      <a:schemeClr val="bg1"/>
                    </a:solidFill>
                    <a:latin typeface="华文中宋" panose="02010600040101010101" pitchFamily="2" charset="-122"/>
                    <a:ea typeface="华文中宋" panose="02010600040101010101" pitchFamily="2" charset="-122"/>
                    <a:cs typeface="等线" pitchFamily="34" charset="-120"/>
                  </a:rPr>
                  <a:t>busybox</a:t>
                </a:r>
                <a:r>
                  <a:rPr lang="en-US" altLang="zh-CN" sz="1600" dirty="0">
                    <a:solidFill>
                      <a:schemeClr val="bg1"/>
                    </a:solidFill>
                    <a:latin typeface="华文中宋" panose="02010600040101010101" pitchFamily="2" charset="-122"/>
                    <a:ea typeface="华文中宋" panose="02010600040101010101" pitchFamily="2" charset="-122"/>
                    <a:cs typeface="等线" pitchFamily="34" charset="-120"/>
                  </a:rPr>
                  <a:t> </a:t>
                </a:r>
                <a:r>
                  <a:rPr lang="en-US" altLang="zh-CN" sz="1600" dirty="0" err="1">
                    <a:solidFill>
                      <a:schemeClr val="bg1"/>
                    </a:solidFill>
                    <a:latin typeface="华文中宋" panose="02010600040101010101" pitchFamily="2" charset="-122"/>
                    <a:ea typeface="华文中宋" panose="02010600040101010101" pitchFamily="2" charset="-122"/>
                    <a:cs typeface="等线" pitchFamily="34" charset="-120"/>
                  </a:rPr>
                  <a:t>sh</a:t>
                </a:r>
                <a:endParaRPr lang="en-US" altLang="zh-CN" sz="1600" dirty="0">
                  <a:solidFill>
                    <a:schemeClr val="bg1"/>
                  </a:solidFill>
                  <a:latin typeface="华文中宋" panose="02010600040101010101" pitchFamily="2" charset="-122"/>
                  <a:ea typeface="华文中宋" panose="02010600040101010101" pitchFamily="2" charset="-122"/>
                </a:endParaRPr>
              </a:p>
              <a:p>
                <a:pPr algn="ctr">
                  <a:lnSpc>
                    <a:spcPct val="125000"/>
                  </a:lnSpc>
                </a:pPr>
                <a:r>
                  <a:rPr lang="en-US" altLang="zh-CN" sz="1600" dirty="0" err="1">
                    <a:solidFill>
                      <a:schemeClr val="bg1"/>
                    </a:solidFill>
                    <a:latin typeface="华文中宋" panose="02010600040101010101" pitchFamily="2" charset="-122"/>
                    <a:ea typeface="华文中宋" panose="02010600040101010101" pitchFamily="2" charset="-122"/>
                    <a:cs typeface="等线" pitchFamily="34" charset="-120"/>
                  </a:rPr>
                  <a:t>执行</a:t>
                </a:r>
                <a:r>
                  <a:rPr lang="en-US" altLang="zh-CN" sz="1600" dirty="0">
                    <a:solidFill>
                      <a:schemeClr val="bg1"/>
                    </a:solidFill>
                    <a:latin typeface="华文中宋" panose="02010600040101010101" pitchFamily="2" charset="-122"/>
                    <a:ea typeface="华文中宋" panose="02010600040101010101" pitchFamily="2" charset="-122"/>
                    <a:cs typeface="等线" pitchFamily="34" charset="-120"/>
                  </a:rPr>
                  <a:t> /x1/entry.sh</a:t>
                </a:r>
                <a:endParaRPr lang="en-US" altLang="zh-CN" sz="1600" dirty="0">
                  <a:solidFill>
                    <a:schemeClr val="bg1"/>
                  </a:solidFill>
                  <a:latin typeface="华文中宋" panose="02010600040101010101" pitchFamily="2" charset="-122"/>
                  <a:ea typeface="华文中宋" panose="02010600040101010101" pitchFamily="2" charset="-122"/>
                </a:endParaRPr>
              </a:p>
              <a:p>
                <a:pPr>
                  <a:lnSpc>
                    <a:spcPct val="125000"/>
                  </a:lnSpc>
                </a:pPr>
                <a:endParaRPr lang="zh-CN" altLang="en-US" dirty="0">
                  <a:solidFill>
                    <a:schemeClr val="bg1"/>
                  </a:solidFill>
                  <a:latin typeface="华文中宋" panose="02010600040101010101" pitchFamily="2" charset="-122"/>
                  <a:ea typeface="华文中宋" panose="02010600040101010101" pitchFamily="2" charset="-122"/>
                </a:endParaRPr>
              </a:p>
            </p:txBody>
          </p:sp>
          <p:sp>
            <p:nvSpPr>
              <p:cNvPr id="43" name="文本框 42"/>
              <p:cNvSpPr txBox="1"/>
              <p:nvPr/>
            </p:nvSpPr>
            <p:spPr>
              <a:xfrm>
                <a:off x="9123161" y="2961728"/>
                <a:ext cx="2367956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altLang="zh-CN" sz="1600" dirty="0">
                    <a:solidFill>
                      <a:srgbClr val="111111"/>
                    </a:solidFill>
                    <a:latin typeface="华文中宋" panose="02010600040101010101" pitchFamily="2" charset="-122"/>
                    <a:ea typeface="华文中宋" panose="02010600040101010101" pitchFamily="2" charset="-122"/>
                  </a:rPr>
                  <a:t>START / END marker</a:t>
                </a:r>
              </a:p>
              <a:p>
                <a:pPr algn="ctr"/>
                <a:r>
                  <a:rPr lang="en-US" altLang="zh-CN" sz="1600" dirty="0">
                    <a:solidFill>
                      <a:srgbClr val="111111"/>
                    </a:solidFill>
                    <a:latin typeface="华文中宋" panose="02010600040101010101" pitchFamily="2" charset="-122"/>
                    <a:ea typeface="华文中宋" panose="02010600040101010101" pitchFamily="2" charset="-122"/>
                  </a:rPr>
                  <a:t>sync; reboot -f</a:t>
                </a:r>
              </a:p>
            </p:txBody>
          </p:sp>
        </p:grpSp>
        <p:sp>
          <p:nvSpPr>
            <p:cNvPr id="45" name="箭头: 右 44"/>
            <p:cNvSpPr/>
            <p:nvPr/>
          </p:nvSpPr>
          <p:spPr>
            <a:xfrm>
              <a:off x="2068377" y="2519766"/>
              <a:ext cx="1323642" cy="305579"/>
            </a:xfrm>
            <a:prstGeom prst="rightArrow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6" name="箭头: 右 45"/>
            <p:cNvSpPr/>
            <p:nvPr/>
          </p:nvSpPr>
          <p:spPr>
            <a:xfrm>
              <a:off x="4216980" y="2527436"/>
              <a:ext cx="1323642" cy="305579"/>
            </a:xfrm>
            <a:prstGeom prst="rightArrow">
              <a:avLst/>
            </a:prstGeom>
            <a:solidFill>
              <a:schemeClr val="bg2">
                <a:lumMod val="2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7" name="箭头: 右 46"/>
            <p:cNvSpPr/>
            <p:nvPr/>
          </p:nvSpPr>
          <p:spPr>
            <a:xfrm>
              <a:off x="6241899" y="2527435"/>
              <a:ext cx="1323642" cy="305579"/>
            </a:xfrm>
            <a:prstGeom prst="rightArrow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8" name="箭头: 右 47"/>
            <p:cNvSpPr/>
            <p:nvPr/>
          </p:nvSpPr>
          <p:spPr>
            <a:xfrm>
              <a:off x="8353389" y="2553906"/>
              <a:ext cx="1323642" cy="305579"/>
            </a:xfrm>
            <a:prstGeom prst="rightArrow">
              <a:avLst/>
            </a:prstGeom>
            <a:solidFill>
              <a:schemeClr val="bg2">
                <a:lumMod val="2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51" name="组合 50"/>
          <p:cNvGrpSpPr/>
          <p:nvPr/>
        </p:nvGrpSpPr>
        <p:grpSpPr>
          <a:xfrm>
            <a:off x="195578" y="3818300"/>
            <a:ext cx="3788526" cy="731520"/>
            <a:chOff x="946132" y="4128306"/>
            <a:chExt cx="4391934" cy="731520"/>
          </a:xfrm>
        </p:grpSpPr>
        <p:sp>
          <p:nvSpPr>
            <p:cNvPr id="14" name="Text 12"/>
            <p:cNvSpPr/>
            <p:nvPr/>
          </p:nvSpPr>
          <p:spPr>
            <a:xfrm>
              <a:off x="1327131" y="4128306"/>
              <a:ext cx="4010935" cy="73152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0160">
              <a:noFill/>
            </a:ln>
            <a:effectLst/>
          </p:spPr>
          <p:txBody>
            <a:bodyPr wrap="square" lIns="635" tIns="635" rIns="635" bIns="635" rtlCol="0" anchor="ctr"/>
            <a:lstStyle/>
            <a:p>
              <a:pPr marL="0" indent="0" algn="ctr">
                <a:buNone/>
              </a:pPr>
              <a:r>
                <a:rPr lang="en-US" sz="1600" dirty="0">
                  <a:solidFill>
                    <a:srgbClr val="111111"/>
                  </a:solidFill>
                  <a:latin typeface="华文中宋" panose="02010600040101010101" pitchFamily="2" charset="-122"/>
                  <a:ea typeface="华文中宋" panose="02010600040101010101" pitchFamily="2" charset="-122"/>
                  <a:cs typeface="等线" pitchFamily="34" charset="-120"/>
                </a:rPr>
                <a:t>x0: 官方 EXT4 测试盘</a:t>
              </a:r>
              <a:endParaRPr lang="en-US" sz="1600" dirty="0">
                <a:latin typeface="华文中宋" panose="02010600040101010101" pitchFamily="2" charset="-122"/>
                <a:ea typeface="华文中宋" panose="02010600040101010101" pitchFamily="2" charset="-122"/>
              </a:endParaRPr>
            </a:p>
            <a:p>
              <a:pPr marL="0" indent="0" algn="ctr">
                <a:buNone/>
              </a:pPr>
              <a:r>
                <a:rPr lang="en-US" sz="1600" dirty="0">
                  <a:solidFill>
                    <a:srgbClr val="111111"/>
                  </a:solidFill>
                  <a:latin typeface="华文中宋" panose="02010600040101010101" pitchFamily="2" charset="-122"/>
                  <a:ea typeface="华文中宋" panose="02010600040101010101" pitchFamily="2" charset="-122"/>
                  <a:cs typeface="等线" pitchFamily="34" charset="-120"/>
                </a:rPr>
                <a:t>作为根文件系统挂载</a:t>
              </a:r>
              <a:endParaRPr lang="en-US" sz="1600" dirty="0">
                <a:latin typeface="华文中宋" panose="02010600040101010101" pitchFamily="2" charset="-122"/>
                <a:ea typeface="华文中宋" panose="02010600040101010101" pitchFamily="2" charset="-122"/>
              </a:endParaRPr>
            </a:p>
          </p:txBody>
        </p:sp>
        <p:sp>
          <p:nvSpPr>
            <p:cNvPr id="13" name="Text 11"/>
            <p:cNvSpPr/>
            <p:nvPr/>
          </p:nvSpPr>
          <p:spPr>
            <a:xfrm>
              <a:off x="946132" y="4231865"/>
              <a:ext cx="2011680" cy="256032"/>
            </a:xfrm>
            <a:prstGeom prst="rect">
              <a:avLst/>
            </a:prstGeom>
            <a:noFill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2400" dirty="0">
                  <a:solidFill>
                    <a:srgbClr val="666666"/>
                  </a:solidFill>
                  <a:latin typeface="华文中宋" panose="02010600040101010101" pitchFamily="2" charset="-122"/>
                  <a:ea typeface="华文中宋" panose="02010600040101010101" pitchFamily="2" charset="-122"/>
                  <a:cs typeface="等线" pitchFamily="34" charset="-120"/>
                </a:rPr>
                <a:t>测试盘</a:t>
              </a:r>
              <a:endParaRPr lang="en-US" sz="2400" dirty="0">
                <a:latin typeface="华文中宋" panose="02010600040101010101" pitchFamily="2" charset="-122"/>
                <a:ea typeface="华文中宋" panose="02010600040101010101" pitchFamily="2" charset="-122"/>
              </a:endParaRPr>
            </a:p>
          </p:txBody>
        </p:sp>
      </p:grpSp>
      <p:grpSp>
        <p:nvGrpSpPr>
          <p:cNvPr id="52" name="组合 51"/>
          <p:cNvGrpSpPr/>
          <p:nvPr/>
        </p:nvGrpSpPr>
        <p:grpSpPr>
          <a:xfrm>
            <a:off x="4108737" y="3818300"/>
            <a:ext cx="3474588" cy="731520"/>
            <a:chOff x="946132" y="5083297"/>
            <a:chExt cx="4391934" cy="731520"/>
          </a:xfrm>
          <a:solidFill>
            <a:schemeClr val="bg1">
              <a:lumMod val="95000"/>
            </a:schemeClr>
          </a:solidFill>
          <a:effectLst/>
        </p:grpSpPr>
        <p:sp>
          <p:nvSpPr>
            <p:cNvPr id="16" name="Text 14"/>
            <p:cNvSpPr/>
            <p:nvPr/>
          </p:nvSpPr>
          <p:spPr>
            <a:xfrm>
              <a:off x="1327132" y="5083297"/>
              <a:ext cx="4010934" cy="731520"/>
            </a:xfrm>
            <a:prstGeom prst="rect">
              <a:avLst/>
            </a:prstGeom>
            <a:grpFill/>
            <a:ln w="10160">
              <a:noFill/>
            </a:ln>
            <a:effectLst/>
          </p:spPr>
          <p:txBody>
            <a:bodyPr wrap="square" lIns="635" tIns="635" rIns="635" bIns="635" rtlCol="0" anchor="ctr"/>
            <a:lstStyle/>
            <a:p>
              <a:pPr marL="0" indent="0" algn="ctr">
                <a:buNone/>
              </a:pPr>
              <a:r>
                <a:rPr lang="en-US" sz="1600" dirty="0">
                  <a:solidFill>
                    <a:srgbClr val="111111"/>
                  </a:solidFill>
                  <a:latin typeface="华文中宋" panose="02010600040101010101" pitchFamily="2" charset="-122"/>
                  <a:ea typeface="华文中宋" panose="02010600040101010101" pitchFamily="2" charset="-122"/>
                  <a:cs typeface="等线" pitchFamily="34" charset="-120"/>
                </a:rPr>
                <a:t>x1: 仓库生成脚本盘</a:t>
              </a:r>
              <a:endParaRPr lang="en-US" sz="1600" dirty="0">
                <a:latin typeface="华文中宋" panose="02010600040101010101" pitchFamily="2" charset="-122"/>
                <a:ea typeface="华文中宋" panose="02010600040101010101" pitchFamily="2" charset="-122"/>
              </a:endParaRPr>
            </a:p>
            <a:p>
              <a:pPr marL="0" indent="0" algn="ctr">
                <a:buNone/>
              </a:pPr>
              <a:r>
                <a:rPr lang="en-US" sz="1600" dirty="0">
                  <a:solidFill>
                    <a:srgbClr val="111111"/>
                  </a:solidFill>
                  <a:latin typeface="华文中宋" panose="02010600040101010101" pitchFamily="2" charset="-122"/>
                  <a:ea typeface="华文中宋" panose="02010600040101010101" pitchFamily="2" charset="-122"/>
                  <a:cs typeface="等线" pitchFamily="34" charset="-120"/>
                </a:rPr>
                <a:t>提供 /x1/entry.sh</a:t>
              </a:r>
              <a:endParaRPr lang="en-US" sz="1600" dirty="0">
                <a:latin typeface="华文中宋" panose="02010600040101010101" pitchFamily="2" charset="-122"/>
                <a:ea typeface="华文中宋" panose="02010600040101010101" pitchFamily="2" charset="-122"/>
              </a:endParaRPr>
            </a:p>
          </p:txBody>
        </p:sp>
        <p:sp>
          <p:nvSpPr>
            <p:cNvPr id="15" name="Text 13"/>
            <p:cNvSpPr/>
            <p:nvPr/>
          </p:nvSpPr>
          <p:spPr>
            <a:xfrm>
              <a:off x="946132" y="5171564"/>
              <a:ext cx="2011680" cy="256032"/>
            </a:xfrm>
            <a:prstGeom prst="rect">
              <a:avLst/>
            </a:prstGeom>
            <a:grpFill/>
          </p:spPr>
          <p:txBody>
            <a:bodyPr wrap="square" lIns="0" tIns="0" rIns="0" bIns="0" rtlCol="0" anchor="ctr"/>
            <a:lstStyle/>
            <a:p>
              <a:r>
                <a:rPr lang="en-US" sz="2400" dirty="0" err="1">
                  <a:solidFill>
                    <a:srgbClr val="666666"/>
                  </a:solidFill>
                  <a:latin typeface="华文中宋" panose="02010600040101010101" pitchFamily="2" charset="-122"/>
                  <a:ea typeface="华文中宋" panose="02010600040101010101" pitchFamily="2" charset="-122"/>
                </a:rPr>
                <a:t>脚本盘</a:t>
              </a:r>
              <a:endParaRPr lang="en-US" sz="2400" dirty="0">
                <a:solidFill>
                  <a:srgbClr val="666666"/>
                </a:solidFill>
                <a:latin typeface="华文中宋" panose="02010600040101010101" pitchFamily="2" charset="-122"/>
                <a:ea typeface="华文中宋" panose="02010600040101010101" pitchFamily="2" charset="-122"/>
              </a:endParaRPr>
            </a:p>
          </p:txBody>
        </p:sp>
      </p:grpSp>
      <p:grpSp>
        <p:nvGrpSpPr>
          <p:cNvPr id="53" name="组合 52"/>
          <p:cNvGrpSpPr/>
          <p:nvPr/>
        </p:nvGrpSpPr>
        <p:grpSpPr>
          <a:xfrm>
            <a:off x="7563463" y="3818300"/>
            <a:ext cx="4382442" cy="731520"/>
            <a:chOff x="646758" y="5971129"/>
            <a:chExt cx="4691308" cy="731520"/>
          </a:xfrm>
        </p:grpSpPr>
        <p:sp>
          <p:nvSpPr>
            <p:cNvPr id="18" name="Text 16"/>
            <p:cNvSpPr/>
            <p:nvPr/>
          </p:nvSpPr>
          <p:spPr>
            <a:xfrm>
              <a:off x="1327132" y="5971129"/>
              <a:ext cx="4010934" cy="73152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0160">
              <a:noFill/>
            </a:ln>
            <a:effectLst/>
          </p:spPr>
          <p:txBody>
            <a:bodyPr wrap="square" lIns="635" tIns="635" rIns="635" bIns="635" rtlCol="0" anchor="ctr"/>
            <a:lstStyle/>
            <a:p>
              <a:pPr marL="0" indent="0" algn="ctr">
                <a:buNone/>
              </a:pPr>
              <a:r>
                <a:rPr lang="en-US" sz="1600" dirty="0">
                  <a:solidFill>
                    <a:srgbClr val="111111"/>
                  </a:solidFill>
                  <a:latin typeface="华文中宋" panose="02010600040101010101" pitchFamily="2" charset="-122"/>
                  <a:ea typeface="华文中宋" panose="02010600040101010101" pitchFamily="2" charset="-122"/>
                  <a:cs typeface="等线" pitchFamily="34" charset="-120"/>
                </a:rPr>
                <a:t>不识别具体测例</a:t>
              </a:r>
              <a:endParaRPr lang="en-US" sz="1600" dirty="0">
                <a:latin typeface="华文中宋" panose="02010600040101010101" pitchFamily="2" charset="-122"/>
                <a:ea typeface="华文中宋" panose="02010600040101010101" pitchFamily="2" charset="-122"/>
              </a:endParaRPr>
            </a:p>
            <a:p>
              <a:pPr marL="0" indent="0" algn="ctr">
                <a:buNone/>
              </a:pPr>
              <a:r>
                <a:rPr lang="en-US" sz="1600" dirty="0">
                  <a:solidFill>
                    <a:srgbClr val="111111"/>
                  </a:solidFill>
                  <a:latin typeface="华文中宋" panose="02010600040101010101" pitchFamily="2" charset="-122"/>
                  <a:ea typeface="华文中宋" panose="02010600040101010101" pitchFamily="2" charset="-122"/>
                  <a:cs typeface="等线" pitchFamily="34" charset="-120"/>
                </a:rPr>
                <a:t>只提供通用进程、文件和 syscall 语义</a:t>
              </a:r>
              <a:endParaRPr lang="en-US" sz="1600" dirty="0">
                <a:latin typeface="华文中宋" panose="02010600040101010101" pitchFamily="2" charset="-122"/>
                <a:ea typeface="华文中宋" panose="02010600040101010101" pitchFamily="2" charset="-122"/>
              </a:endParaRPr>
            </a:p>
          </p:txBody>
        </p:sp>
        <p:sp>
          <p:nvSpPr>
            <p:cNvPr id="17" name="Text 15"/>
            <p:cNvSpPr/>
            <p:nvPr/>
          </p:nvSpPr>
          <p:spPr>
            <a:xfrm>
              <a:off x="646758" y="6036057"/>
              <a:ext cx="2011680" cy="256032"/>
            </a:xfrm>
            <a:prstGeom prst="rect">
              <a:avLst/>
            </a:prstGeom>
            <a:noFill/>
          </p:spPr>
          <p:txBody>
            <a:bodyPr wrap="square" lIns="0" tIns="0" rIns="0" bIns="0" rtlCol="0" anchor="ctr"/>
            <a:lstStyle/>
            <a:p>
              <a:pPr indent="0">
                <a:buNone/>
              </a:pPr>
              <a:r>
                <a:rPr lang="en-US" sz="2400" dirty="0" err="1">
                  <a:solidFill>
                    <a:srgbClr val="666666"/>
                  </a:solidFill>
                  <a:latin typeface="华文中宋" panose="02010600040101010101" pitchFamily="2" charset="-122"/>
                  <a:ea typeface="华文中宋" panose="02010600040101010101" pitchFamily="2" charset="-122"/>
                </a:rPr>
                <a:t>内核边界</a:t>
              </a:r>
              <a:endParaRPr lang="en-US" sz="2400" dirty="0">
                <a:solidFill>
                  <a:srgbClr val="666666"/>
                </a:solidFill>
                <a:latin typeface="华文中宋" panose="02010600040101010101" pitchFamily="2" charset="-122"/>
                <a:ea typeface="华文中宋" panose="02010600040101010101" pitchFamily="2" charset="-122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" name="直接连接符 15"/>
          <p:cNvCxnSpPr/>
          <p:nvPr/>
        </p:nvCxnSpPr>
        <p:spPr>
          <a:xfrm>
            <a:off x="519545" y="1039091"/>
            <a:ext cx="7813964" cy="0"/>
          </a:xfrm>
          <a:prstGeom prst="line">
            <a:avLst/>
          </a:prstGeom>
          <a:ln w="38100">
            <a:solidFill>
              <a:schemeClr val="bg2">
                <a:lumMod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矩形 16"/>
          <p:cNvSpPr/>
          <p:nvPr/>
        </p:nvSpPr>
        <p:spPr>
          <a:xfrm>
            <a:off x="11641282" y="342901"/>
            <a:ext cx="259773" cy="581891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" name="文本框 17"/>
          <p:cNvSpPr txBox="1"/>
          <p:nvPr/>
        </p:nvSpPr>
        <p:spPr>
          <a:xfrm>
            <a:off x="550718" y="155351"/>
            <a:ext cx="2441694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4400" dirty="0">
                <a:latin typeface="华文中宋" panose="02010600040101010101" pitchFamily="2" charset="-122"/>
                <a:ea typeface="华文中宋" panose="02010600040101010101" pitchFamily="2" charset="-122"/>
              </a:rPr>
              <a:t>总体架构</a:t>
            </a:r>
          </a:p>
        </p:txBody>
      </p:sp>
      <p:sp>
        <p:nvSpPr>
          <p:cNvPr id="19" name="文本框 18"/>
          <p:cNvSpPr txBox="1"/>
          <p:nvPr/>
        </p:nvSpPr>
        <p:spPr>
          <a:xfrm>
            <a:off x="687774" y="1153391"/>
            <a:ext cx="209015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华文中宋" panose="02010600040101010101" pitchFamily="2" charset="-122"/>
                <a:ea typeface="华文中宋" panose="02010600040101010101" pitchFamily="2" charset="-122"/>
              </a:rPr>
              <a:t>Arch</a:t>
            </a:r>
            <a:endParaRPr lang="zh-CN" altLang="en-US" dirty="0">
              <a:latin typeface="华文中宋" panose="02010600040101010101" pitchFamily="2" charset="-122"/>
              <a:ea typeface="华文中宋" panose="02010600040101010101" pitchFamily="2" charset="-122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rcRect t="4356"/>
          <a:stretch>
            <a:fillRect/>
          </a:stretch>
        </p:blipFill>
        <p:spPr>
          <a:xfrm>
            <a:off x="770890" y="1622425"/>
            <a:ext cx="10468610" cy="432625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777240" y="1552956"/>
            <a:ext cx="10424160" cy="320040"/>
          </a:xfrm>
          <a:prstGeom prst="rect">
            <a:avLst/>
          </a:prstGeom>
          <a:noFill/>
        </p:spPr>
        <p:txBody>
          <a:bodyPr wrap="square" lIns="381" tIns="381" rIns="381" bIns="381" rtlCol="0" anchor="t"/>
          <a:lstStyle/>
          <a:p>
            <a:pPr marL="0" indent="0">
              <a:buNone/>
            </a:pPr>
            <a:r>
              <a:rPr lang="zh-CN" altLang="en-US" sz="1520" dirty="0"/>
              <a:t>同一套 </a:t>
            </a:r>
            <a:r>
              <a:rPr lang="en-US" altLang="en-US" sz="1520" dirty="0"/>
              <a:t>Rust </a:t>
            </a:r>
            <a:r>
              <a:rPr lang="zh-CN" altLang="en-US" sz="1520" dirty="0"/>
              <a:t>内核主干同时支持 </a:t>
            </a:r>
            <a:r>
              <a:rPr lang="en-US" altLang="en-US" sz="1520" dirty="0"/>
              <a:t>RISC-V 64 </a:t>
            </a:r>
            <a:r>
              <a:rPr lang="zh-CN" altLang="en-US" sz="1520" dirty="0"/>
              <a:t>和 </a:t>
            </a:r>
            <a:r>
              <a:rPr lang="en-US" altLang="en-US" sz="1520" dirty="0"/>
              <a:t>LoongArch 64，</a:t>
            </a:r>
            <a:r>
              <a:rPr lang="zh-CN" altLang="en-US" sz="1520" dirty="0"/>
              <a:t>架构差异集中在 </a:t>
            </a:r>
            <a:r>
              <a:rPr lang="en-US" altLang="en-US" sz="1520" dirty="0"/>
              <a:t>arch </a:t>
            </a:r>
            <a:r>
              <a:rPr lang="zh-CN" altLang="en-US" sz="1520" dirty="0"/>
              <a:t>层处理。</a:t>
            </a:r>
          </a:p>
        </p:txBody>
      </p:sp>
      <p:sp>
        <p:nvSpPr>
          <p:cNvPr id="4" name="Text 2"/>
          <p:cNvSpPr/>
          <p:nvPr/>
        </p:nvSpPr>
        <p:spPr>
          <a:xfrm>
            <a:off x="1203960" y="2158993"/>
            <a:ext cx="2971800" cy="1874520"/>
          </a:xfrm>
          <a:prstGeom prst="rect">
            <a:avLst/>
          </a:prstGeom>
          <a:solidFill>
            <a:srgbClr val="F2F2F2"/>
          </a:solidFill>
          <a:ln w="10160">
            <a:noFill/>
          </a:ln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111111"/>
                </a:solidFill>
                <a:latin typeface="华文中宋" panose="02010600040101010101" pitchFamily="2" charset="-122"/>
                <a:ea typeface="华文中宋" panose="02010600040101010101" pitchFamily="2" charset="-122"/>
                <a:cs typeface="等线" pitchFamily="34" charset="-120"/>
              </a:rPr>
              <a:t>RISC-V 64</a:t>
            </a:r>
            <a:endParaRPr lang="en-US" sz="1600" dirty="0">
              <a:latin typeface="华文中宋" panose="02010600040101010101" pitchFamily="2" charset="-122"/>
              <a:ea typeface="华文中宋" panose="02010600040101010101" pitchFamily="2" charset="-122"/>
            </a:endParaRPr>
          </a:p>
          <a:p>
            <a:pPr marL="0" indent="0" algn="ctr">
              <a:buNone/>
            </a:pPr>
            <a:r>
              <a:rPr lang="en-US" sz="1600" dirty="0">
                <a:solidFill>
                  <a:srgbClr val="111111"/>
                </a:solidFill>
                <a:latin typeface="华文中宋" panose="02010600040101010101" pitchFamily="2" charset="-122"/>
                <a:ea typeface="华文中宋" panose="02010600040101010101" pitchFamily="2" charset="-122"/>
                <a:cs typeface="等线" pitchFamily="34" charset="-120"/>
              </a:rPr>
              <a:t>entry.asm</a:t>
            </a:r>
            <a:endParaRPr lang="en-US" sz="1600" dirty="0">
              <a:latin typeface="华文中宋" panose="02010600040101010101" pitchFamily="2" charset="-122"/>
              <a:ea typeface="华文中宋" panose="02010600040101010101" pitchFamily="2" charset="-122"/>
            </a:endParaRPr>
          </a:p>
          <a:p>
            <a:pPr marL="0" indent="0" algn="ctr">
              <a:buNone/>
            </a:pPr>
            <a:r>
              <a:rPr lang="en-US" sz="1600" dirty="0">
                <a:solidFill>
                  <a:srgbClr val="111111"/>
                </a:solidFill>
                <a:latin typeface="华文中宋" panose="02010600040101010101" pitchFamily="2" charset="-122"/>
                <a:ea typeface="华文中宋" panose="02010600040101010101" pitchFamily="2" charset="-122"/>
                <a:cs typeface="等线" pitchFamily="34" charset="-120"/>
              </a:rPr>
              <a:t>switch.S</a:t>
            </a:r>
            <a:endParaRPr lang="en-US" sz="1600" dirty="0">
              <a:latin typeface="华文中宋" panose="02010600040101010101" pitchFamily="2" charset="-122"/>
              <a:ea typeface="华文中宋" panose="02010600040101010101" pitchFamily="2" charset="-122"/>
            </a:endParaRPr>
          </a:p>
          <a:p>
            <a:pPr marL="0" indent="0" algn="ctr">
              <a:buNone/>
            </a:pPr>
            <a:r>
              <a:rPr lang="en-US" sz="1600" dirty="0">
                <a:solidFill>
                  <a:srgbClr val="111111"/>
                </a:solidFill>
                <a:latin typeface="华文中宋" panose="02010600040101010101" pitchFamily="2" charset="-122"/>
                <a:ea typeface="华文中宋" panose="02010600040101010101" pitchFamily="2" charset="-122"/>
                <a:cs typeface="等线" pitchFamily="34" charset="-120"/>
              </a:rPr>
              <a:t>trap.S</a:t>
            </a:r>
            <a:endParaRPr lang="en-US" sz="1600" dirty="0">
              <a:latin typeface="华文中宋" panose="02010600040101010101" pitchFamily="2" charset="-122"/>
              <a:ea typeface="华文中宋" panose="02010600040101010101" pitchFamily="2" charset="-122"/>
            </a:endParaRPr>
          </a:p>
          <a:p>
            <a:pPr marL="0" indent="0" algn="ctr">
              <a:buNone/>
            </a:pPr>
            <a:r>
              <a:rPr lang="en-US" sz="1600" dirty="0">
                <a:solidFill>
                  <a:srgbClr val="111111"/>
                </a:solidFill>
                <a:latin typeface="华文中宋" panose="02010600040101010101" pitchFamily="2" charset="-122"/>
                <a:ea typeface="华文中宋" panose="02010600040101010101" pitchFamily="2" charset="-122"/>
                <a:cs typeface="等线" pitchFamily="34" charset="-120"/>
              </a:rPr>
              <a:t>SBI timer / PLIC</a:t>
            </a:r>
            <a:endParaRPr lang="en-US" sz="1600" dirty="0">
              <a:latin typeface="华文中宋" panose="02010600040101010101" pitchFamily="2" charset="-122"/>
              <a:ea typeface="华文中宋" panose="02010600040101010101" pitchFamily="2" charset="-122"/>
            </a:endParaRPr>
          </a:p>
          <a:p>
            <a:pPr marL="0" indent="0" algn="ctr">
              <a:buNone/>
            </a:pPr>
            <a:r>
              <a:rPr lang="en-US" sz="1600" dirty="0">
                <a:solidFill>
                  <a:srgbClr val="111111"/>
                </a:solidFill>
                <a:latin typeface="华文中宋" panose="02010600040101010101" pitchFamily="2" charset="-122"/>
                <a:ea typeface="华文中宋" panose="02010600040101010101" pitchFamily="2" charset="-122"/>
                <a:cs typeface="等线" pitchFamily="34" charset="-120"/>
              </a:rPr>
              <a:t>Sv39/Sv48 页表</a:t>
            </a:r>
            <a:endParaRPr lang="en-US" sz="1600" dirty="0">
              <a:latin typeface="华文中宋" panose="02010600040101010101" pitchFamily="2" charset="-122"/>
              <a:ea typeface="华文中宋" panose="02010600040101010101" pitchFamily="2" charset="-122"/>
            </a:endParaRPr>
          </a:p>
        </p:txBody>
      </p:sp>
      <p:sp>
        <p:nvSpPr>
          <p:cNvPr id="5" name="Text 3"/>
          <p:cNvSpPr/>
          <p:nvPr/>
        </p:nvSpPr>
        <p:spPr>
          <a:xfrm>
            <a:off x="4175760" y="2158994"/>
            <a:ext cx="3429000" cy="1874520"/>
          </a:xfrm>
          <a:prstGeom prst="rect">
            <a:avLst/>
          </a:prstGeom>
          <a:solidFill>
            <a:srgbClr val="FFFFFF"/>
          </a:solidFill>
          <a:ln w="10160">
            <a:noFill/>
          </a:ln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111111"/>
                </a:solidFill>
                <a:latin typeface="华文中宋" panose="02010600040101010101" pitchFamily="2" charset="-122"/>
                <a:ea typeface="华文中宋" panose="02010600040101010101" pitchFamily="2" charset="-122"/>
                <a:cs typeface="等线" pitchFamily="34" charset="-120"/>
              </a:rPr>
              <a:t>共享主干</a:t>
            </a:r>
            <a:endParaRPr lang="en-US" sz="1600" dirty="0">
              <a:latin typeface="华文中宋" panose="02010600040101010101" pitchFamily="2" charset="-122"/>
              <a:ea typeface="华文中宋" panose="02010600040101010101" pitchFamily="2" charset="-122"/>
            </a:endParaRPr>
          </a:p>
          <a:p>
            <a:pPr marL="0" indent="0" algn="ctr">
              <a:buNone/>
            </a:pPr>
            <a:r>
              <a:rPr lang="en-US" sz="1600" dirty="0">
                <a:solidFill>
                  <a:srgbClr val="111111"/>
                </a:solidFill>
                <a:latin typeface="华文中宋" panose="02010600040101010101" pitchFamily="2" charset="-122"/>
                <a:ea typeface="华文中宋" panose="02010600040101010101" pitchFamily="2" charset="-122"/>
                <a:cs typeface="等线" pitchFamily="34" charset="-120"/>
              </a:rPr>
              <a:t> task / mm / fs / syscall / drivers / sync</a:t>
            </a:r>
            <a:endParaRPr lang="en-US" sz="1600" dirty="0">
              <a:latin typeface="华文中宋" panose="02010600040101010101" pitchFamily="2" charset="-122"/>
              <a:ea typeface="华文中宋" panose="02010600040101010101" pitchFamily="2" charset="-122"/>
            </a:endParaRPr>
          </a:p>
          <a:p>
            <a:pPr marL="0" indent="0" algn="ctr">
              <a:buNone/>
            </a:pPr>
            <a:r>
              <a:rPr lang="en-US" sz="1600" dirty="0">
                <a:solidFill>
                  <a:srgbClr val="111111"/>
                </a:solidFill>
                <a:latin typeface="华文中宋" panose="02010600040101010101" pitchFamily="2" charset="-122"/>
                <a:ea typeface="华文中宋" panose="02010600040101010101" pitchFamily="2" charset="-122"/>
                <a:cs typeface="等线" pitchFamily="34" charset="-120"/>
              </a:rPr>
              <a:t>统一 syscall 语义</a:t>
            </a:r>
            <a:endParaRPr lang="en-US" sz="1600" dirty="0">
              <a:latin typeface="华文中宋" panose="02010600040101010101" pitchFamily="2" charset="-122"/>
              <a:ea typeface="华文中宋" panose="02010600040101010101" pitchFamily="2" charset="-122"/>
            </a:endParaRPr>
          </a:p>
          <a:p>
            <a:pPr marL="0" indent="0" algn="ctr">
              <a:buNone/>
            </a:pPr>
            <a:r>
              <a:rPr lang="en-US" sz="1600" dirty="0">
                <a:solidFill>
                  <a:srgbClr val="111111"/>
                </a:solidFill>
                <a:latin typeface="华文中宋" panose="02010600040101010101" pitchFamily="2" charset="-122"/>
                <a:ea typeface="华文中宋" panose="02010600040101010101" pitchFamily="2" charset="-122"/>
                <a:cs typeface="等线" pitchFamily="34" charset="-120"/>
              </a:rPr>
              <a:t>统一 VFS 和进程模型</a:t>
            </a:r>
            <a:endParaRPr lang="en-US" sz="1600" dirty="0">
              <a:latin typeface="华文中宋" panose="02010600040101010101" pitchFamily="2" charset="-122"/>
              <a:ea typeface="华文中宋" panose="02010600040101010101" pitchFamily="2" charset="-122"/>
            </a:endParaRPr>
          </a:p>
        </p:txBody>
      </p:sp>
      <p:sp>
        <p:nvSpPr>
          <p:cNvPr id="6" name="Text 4"/>
          <p:cNvSpPr/>
          <p:nvPr/>
        </p:nvSpPr>
        <p:spPr>
          <a:xfrm>
            <a:off x="7604760" y="2158994"/>
            <a:ext cx="2971800" cy="1874520"/>
          </a:xfrm>
          <a:prstGeom prst="rect">
            <a:avLst/>
          </a:prstGeom>
          <a:solidFill>
            <a:srgbClr val="F2F2F2"/>
          </a:solidFill>
          <a:ln w="10160">
            <a:noFill/>
          </a:ln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111111"/>
                </a:solidFill>
                <a:latin typeface="华文中宋" panose="02010600040101010101" pitchFamily="2" charset="-122"/>
                <a:ea typeface="华文中宋" panose="02010600040101010101" pitchFamily="2" charset="-122"/>
                <a:cs typeface="等线" pitchFamily="34" charset="-120"/>
              </a:rPr>
              <a:t>LoongArch 64</a:t>
            </a:r>
            <a:endParaRPr lang="en-US" sz="1600" dirty="0">
              <a:latin typeface="华文中宋" panose="02010600040101010101" pitchFamily="2" charset="-122"/>
              <a:ea typeface="华文中宋" panose="02010600040101010101" pitchFamily="2" charset="-122"/>
            </a:endParaRPr>
          </a:p>
          <a:p>
            <a:pPr marL="0" indent="0" algn="ctr">
              <a:buNone/>
            </a:pPr>
            <a:r>
              <a:rPr lang="en-US" sz="1600" dirty="0">
                <a:solidFill>
                  <a:srgbClr val="111111"/>
                </a:solidFill>
                <a:latin typeface="华文中宋" panose="02010600040101010101" pitchFamily="2" charset="-122"/>
                <a:ea typeface="华文中宋" panose="02010600040101010101" pitchFamily="2" charset="-122"/>
                <a:cs typeface="等线" pitchFamily="34" charset="-120"/>
              </a:rPr>
              <a:t>entry.asm</a:t>
            </a:r>
            <a:endParaRPr lang="en-US" sz="1600" dirty="0">
              <a:latin typeface="华文中宋" panose="02010600040101010101" pitchFamily="2" charset="-122"/>
              <a:ea typeface="华文中宋" panose="02010600040101010101" pitchFamily="2" charset="-122"/>
            </a:endParaRPr>
          </a:p>
          <a:p>
            <a:pPr marL="0" indent="0" algn="ctr">
              <a:buNone/>
            </a:pPr>
            <a:r>
              <a:rPr lang="en-US" sz="1600" dirty="0">
                <a:solidFill>
                  <a:srgbClr val="111111"/>
                </a:solidFill>
                <a:latin typeface="华文中宋" panose="02010600040101010101" pitchFamily="2" charset="-122"/>
                <a:ea typeface="华文中宋" panose="02010600040101010101" pitchFamily="2" charset="-122"/>
                <a:cs typeface="等线" pitchFamily="34" charset="-120"/>
              </a:rPr>
              <a:t>switch.S</a:t>
            </a:r>
            <a:endParaRPr lang="en-US" sz="1600" dirty="0">
              <a:latin typeface="华文中宋" panose="02010600040101010101" pitchFamily="2" charset="-122"/>
              <a:ea typeface="华文中宋" panose="02010600040101010101" pitchFamily="2" charset="-122"/>
            </a:endParaRPr>
          </a:p>
          <a:p>
            <a:pPr marL="0" indent="0" algn="ctr">
              <a:buNone/>
            </a:pPr>
            <a:r>
              <a:rPr lang="en-US" sz="1600" dirty="0">
                <a:solidFill>
                  <a:srgbClr val="111111"/>
                </a:solidFill>
                <a:latin typeface="华文中宋" panose="02010600040101010101" pitchFamily="2" charset="-122"/>
                <a:ea typeface="华文中宋" panose="02010600040101010101" pitchFamily="2" charset="-122"/>
                <a:cs typeface="等线" pitchFamily="34" charset="-120"/>
              </a:rPr>
              <a:t>trap.S</a:t>
            </a:r>
            <a:endParaRPr lang="en-US" sz="1600" dirty="0">
              <a:latin typeface="华文中宋" panose="02010600040101010101" pitchFamily="2" charset="-122"/>
              <a:ea typeface="华文中宋" panose="02010600040101010101" pitchFamily="2" charset="-122"/>
            </a:endParaRPr>
          </a:p>
          <a:p>
            <a:pPr marL="0" indent="0" algn="ctr">
              <a:buNone/>
            </a:pPr>
            <a:r>
              <a:rPr lang="en-US" sz="1600" dirty="0">
                <a:solidFill>
                  <a:srgbClr val="111111"/>
                </a:solidFill>
                <a:latin typeface="华文中宋" panose="02010600040101010101" pitchFamily="2" charset="-122"/>
                <a:ea typeface="华文中宋" panose="02010600040101010101" pitchFamily="2" charset="-122"/>
                <a:cs typeface="等线" pitchFamily="34" charset="-120"/>
              </a:rPr>
              <a:t>架构定时器 / PCI</a:t>
            </a:r>
            <a:endParaRPr lang="en-US" sz="1600" dirty="0">
              <a:latin typeface="华文中宋" panose="02010600040101010101" pitchFamily="2" charset="-122"/>
              <a:ea typeface="华文中宋" panose="02010600040101010101" pitchFamily="2" charset="-122"/>
            </a:endParaRPr>
          </a:p>
          <a:p>
            <a:pPr marL="0" indent="0" algn="ctr">
              <a:buNone/>
            </a:pPr>
            <a:r>
              <a:rPr lang="en-US" sz="1600" dirty="0">
                <a:solidFill>
                  <a:srgbClr val="111111"/>
                </a:solidFill>
                <a:latin typeface="华文中宋" panose="02010600040101010101" pitchFamily="2" charset="-122"/>
                <a:ea typeface="华文中宋" panose="02010600040101010101" pitchFamily="2" charset="-122"/>
                <a:cs typeface="等线" pitchFamily="34" charset="-120"/>
              </a:rPr>
              <a:t>LoongArch 页表</a:t>
            </a:r>
            <a:endParaRPr lang="en-US" sz="1600" dirty="0">
              <a:latin typeface="华文中宋" panose="02010600040101010101" pitchFamily="2" charset="-122"/>
              <a:ea typeface="华文中宋" panose="02010600040101010101" pitchFamily="2" charset="-122"/>
            </a:endParaRPr>
          </a:p>
        </p:txBody>
      </p:sp>
      <p:graphicFrame>
        <p:nvGraphicFramePr>
          <p:cNvPr id="9" name="Table 0"/>
          <p:cNvGraphicFramePr>
            <a:graphicFrameLocks noGrp="1"/>
          </p:cNvGraphicFramePr>
          <p:nvPr/>
        </p:nvGraphicFramePr>
        <p:xfrm>
          <a:off x="1203960" y="4484116"/>
          <a:ext cx="9372600" cy="1874522"/>
        </p:xfrm>
        <a:graphic>
          <a:graphicData uri="http://schemas.openxmlformats.org/drawingml/2006/table">
            <a:tbl>
              <a:tblPr/>
              <a:tblGrid>
                <a:gridCol w="3469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902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2748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0" kern="1200" dirty="0">
                          <a:solidFill>
                            <a:srgbClr val="111111"/>
                          </a:solidFill>
                          <a:latin typeface="仿宋" panose="02010609060101010101" pitchFamily="49" charset="-122"/>
                          <a:ea typeface="仿宋" panose="02010609060101010101" pitchFamily="49" charset="-122"/>
                          <a:cs typeface="等线" pitchFamily="34" charset="-120"/>
                        </a:rPr>
                        <a:t>适配点</a:t>
                      </a:r>
                      <a:endParaRPr lang="en-US" sz="1600" b="0" kern="1200" dirty="0">
                        <a:solidFill>
                          <a:srgbClr val="111111"/>
                        </a:solidFill>
                        <a:latin typeface="仿宋" panose="02010609060101010101" pitchFamily="49" charset="-122"/>
                        <a:ea typeface="仿宋" panose="02010609060101010101" pitchFamily="49" charset="-122"/>
                        <a:cs typeface="等线" pitchFamily="34" charset="0"/>
                      </a:endParaRPr>
                    </a:p>
                  </a:txBody>
                  <a:tcPr marL="36576" marR="36576" marT="36576" marB="36576" anchor="ctr">
                    <a:lnL w="762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0" kern="1200" dirty="0">
                          <a:solidFill>
                            <a:srgbClr val="111111"/>
                          </a:solidFill>
                          <a:latin typeface="仿宋" panose="02010609060101010101" pitchFamily="49" charset="-122"/>
                          <a:ea typeface="仿宋" panose="02010609060101010101" pitchFamily="49" charset="-122"/>
                          <a:cs typeface="等线" pitchFamily="34" charset="-120"/>
                        </a:rPr>
                        <a:t>收敛方式</a:t>
                      </a:r>
                      <a:endParaRPr lang="en-US" sz="1600" b="0" kern="1200" dirty="0">
                        <a:solidFill>
                          <a:srgbClr val="111111"/>
                        </a:solidFill>
                        <a:latin typeface="仿宋" panose="02010609060101010101" pitchFamily="49" charset="-122"/>
                        <a:ea typeface="仿宋" panose="02010609060101010101" pitchFamily="49" charset="-122"/>
                        <a:cs typeface="等线" pitchFamily="34" charset="0"/>
                      </a:endParaRPr>
                    </a:p>
                  </a:txBody>
                  <a:tcPr marL="36576" marR="36576" marT="36576" marB="36576" anchor="ctr">
                    <a:lnL w="762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748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0" kern="1200" dirty="0">
                          <a:solidFill>
                            <a:srgbClr val="111111"/>
                          </a:solidFill>
                          <a:latin typeface="仿宋" panose="02010609060101010101" pitchFamily="49" charset="-122"/>
                          <a:ea typeface="仿宋" panose="02010609060101010101" pitchFamily="49" charset="-122"/>
                          <a:cs typeface="等线" pitchFamily="34" charset="-120"/>
                        </a:rPr>
                        <a:t>入口与上下文</a:t>
                      </a:r>
                      <a:endParaRPr lang="en-US" sz="1600" b="0" kern="1200" dirty="0">
                        <a:solidFill>
                          <a:srgbClr val="111111"/>
                        </a:solidFill>
                        <a:latin typeface="仿宋" panose="02010609060101010101" pitchFamily="49" charset="-122"/>
                        <a:ea typeface="仿宋" panose="02010609060101010101" pitchFamily="49" charset="-122"/>
                        <a:cs typeface="等线" pitchFamily="34" charset="0"/>
                      </a:endParaRPr>
                    </a:p>
                  </a:txBody>
                  <a:tcPr marL="36576" marR="36576" marT="36576" marB="36576" anchor="ctr">
                    <a:lnL w="762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0" kern="1200" dirty="0">
                          <a:solidFill>
                            <a:srgbClr val="111111"/>
                          </a:solidFill>
                          <a:latin typeface="仿宋" panose="02010609060101010101" pitchFamily="49" charset="-122"/>
                          <a:ea typeface="仿宋" panose="02010609060101010101" pitchFamily="49" charset="-122"/>
                          <a:cs typeface="等线" pitchFamily="34" charset="-120"/>
                        </a:rPr>
                        <a:t>各架构独立 entry / switch / TrapContext</a:t>
                      </a:r>
                      <a:endParaRPr lang="en-US" sz="1600" b="0" kern="1200" dirty="0">
                        <a:solidFill>
                          <a:srgbClr val="111111"/>
                        </a:solidFill>
                        <a:latin typeface="仿宋" panose="02010609060101010101" pitchFamily="49" charset="-122"/>
                        <a:ea typeface="仿宋" panose="02010609060101010101" pitchFamily="49" charset="-122"/>
                        <a:cs typeface="等线" pitchFamily="34" charset="0"/>
                      </a:endParaRPr>
                    </a:p>
                  </a:txBody>
                  <a:tcPr marL="36576" marR="36576" marT="36576" marB="36576" anchor="ctr">
                    <a:lnL w="762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748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0" kern="1200" dirty="0">
                          <a:solidFill>
                            <a:srgbClr val="111111"/>
                          </a:solidFill>
                          <a:latin typeface="仿宋" panose="02010609060101010101" pitchFamily="49" charset="-122"/>
                          <a:ea typeface="仿宋" panose="02010609060101010101" pitchFamily="49" charset="-122"/>
                          <a:cs typeface="等线" pitchFamily="34" charset="-120"/>
                        </a:rPr>
                        <a:t>陷阱处理</a:t>
                      </a:r>
                      <a:endParaRPr lang="en-US" sz="1600" b="0" kern="1200" dirty="0">
                        <a:solidFill>
                          <a:srgbClr val="111111"/>
                        </a:solidFill>
                        <a:latin typeface="仿宋" panose="02010609060101010101" pitchFamily="49" charset="-122"/>
                        <a:ea typeface="仿宋" panose="02010609060101010101" pitchFamily="49" charset="-122"/>
                        <a:cs typeface="等线" pitchFamily="34" charset="0"/>
                      </a:endParaRPr>
                    </a:p>
                  </a:txBody>
                  <a:tcPr marL="36576" marR="36576" marT="36576" marB="36576" anchor="ctr">
                    <a:lnL w="762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0" kern="1200" dirty="0">
                          <a:solidFill>
                            <a:srgbClr val="111111"/>
                          </a:solidFill>
                          <a:latin typeface="仿宋" panose="02010609060101010101" pitchFamily="49" charset="-122"/>
                          <a:ea typeface="仿宋" panose="02010609060101010101" pitchFamily="49" charset="-122"/>
                          <a:cs typeface="等线" pitchFamily="34" charset="-120"/>
                        </a:rPr>
                        <a:t>最终都调用 syscall_with_current_task</a:t>
                      </a:r>
                      <a:endParaRPr lang="en-US" sz="1600" b="0" kern="1200" dirty="0">
                        <a:solidFill>
                          <a:srgbClr val="111111"/>
                        </a:solidFill>
                        <a:latin typeface="仿宋" panose="02010609060101010101" pitchFamily="49" charset="-122"/>
                        <a:ea typeface="仿宋" panose="02010609060101010101" pitchFamily="49" charset="-122"/>
                        <a:cs typeface="等线" pitchFamily="34" charset="0"/>
                      </a:endParaRPr>
                    </a:p>
                  </a:txBody>
                  <a:tcPr marL="36576" marR="36576" marT="36576" marB="36576" anchor="ctr">
                    <a:lnL w="762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459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0" kern="1200" dirty="0">
                          <a:solidFill>
                            <a:srgbClr val="111111"/>
                          </a:solidFill>
                          <a:latin typeface="仿宋" panose="02010609060101010101" pitchFamily="49" charset="-122"/>
                          <a:ea typeface="仿宋" panose="02010609060101010101" pitchFamily="49" charset="-122"/>
                          <a:cs typeface="等线" pitchFamily="34" charset="-120"/>
                        </a:rPr>
                        <a:t>块设备</a:t>
                      </a:r>
                      <a:endParaRPr lang="en-US" sz="1600" b="0" kern="1200" dirty="0">
                        <a:solidFill>
                          <a:srgbClr val="111111"/>
                        </a:solidFill>
                        <a:latin typeface="仿宋" panose="02010609060101010101" pitchFamily="49" charset="-122"/>
                        <a:ea typeface="仿宋" panose="02010609060101010101" pitchFamily="49" charset="-122"/>
                        <a:cs typeface="等线" pitchFamily="34" charset="0"/>
                      </a:endParaRPr>
                    </a:p>
                  </a:txBody>
                  <a:tcPr marL="36576" marR="36576" marT="36576" marB="36576" anchor="ctr">
                    <a:lnL w="762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0" kern="1200" dirty="0">
                          <a:solidFill>
                            <a:srgbClr val="111111"/>
                          </a:solidFill>
                          <a:latin typeface="仿宋" panose="02010609060101010101" pitchFamily="49" charset="-122"/>
                          <a:ea typeface="仿宋" panose="02010609060101010101" pitchFamily="49" charset="-122"/>
                          <a:cs typeface="等线" pitchFamily="34" charset="-120"/>
                        </a:rPr>
                        <a:t>RV 用 virtio-mmio，LA 用 virtio-pci，向上统一为 VirtIOBlock</a:t>
                      </a:r>
                      <a:endParaRPr lang="en-US" sz="1600" b="0" kern="1200" dirty="0">
                        <a:solidFill>
                          <a:srgbClr val="111111"/>
                        </a:solidFill>
                        <a:latin typeface="仿宋" panose="02010609060101010101" pitchFamily="49" charset="-122"/>
                        <a:ea typeface="仿宋" panose="02010609060101010101" pitchFamily="49" charset="-122"/>
                        <a:cs typeface="等线" pitchFamily="34" charset="0"/>
                      </a:endParaRPr>
                    </a:p>
                  </a:txBody>
                  <a:tcPr marL="36576" marR="36576" marT="36576" marB="36576" anchor="ctr">
                    <a:lnL w="762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748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0" kern="1200" dirty="0">
                          <a:solidFill>
                            <a:srgbClr val="111111"/>
                          </a:solidFill>
                          <a:latin typeface="仿宋" panose="02010609060101010101" pitchFamily="49" charset="-122"/>
                          <a:ea typeface="仿宋" panose="02010609060101010101" pitchFamily="49" charset="-122"/>
                          <a:cs typeface="等线" pitchFamily="34" charset="-120"/>
                        </a:rPr>
                        <a:t>信号返回</a:t>
                      </a:r>
                      <a:endParaRPr lang="en-US" sz="1600" b="0" kern="1200" dirty="0">
                        <a:solidFill>
                          <a:srgbClr val="111111"/>
                        </a:solidFill>
                        <a:latin typeface="仿宋" panose="02010609060101010101" pitchFamily="49" charset="-122"/>
                        <a:ea typeface="仿宋" panose="02010609060101010101" pitchFamily="49" charset="-122"/>
                        <a:cs typeface="等线" pitchFamily="34" charset="0"/>
                      </a:endParaRPr>
                    </a:p>
                  </a:txBody>
                  <a:tcPr marL="36576" marR="36576" marT="36576" marB="36576" anchor="ctr">
                    <a:lnL w="762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0" kern="1200" dirty="0">
                          <a:solidFill>
                            <a:srgbClr val="111111"/>
                          </a:solidFill>
                          <a:latin typeface="仿宋" panose="02010609060101010101" pitchFamily="49" charset="-122"/>
                          <a:ea typeface="仿宋" panose="02010609060101010101" pitchFamily="49" charset="-122"/>
                          <a:cs typeface="等线" pitchFamily="34" charset="-120"/>
                        </a:rPr>
                        <a:t>rt_sigreturn 架构相关，syscall 层语义一致</a:t>
                      </a:r>
                      <a:endParaRPr lang="en-US" sz="1600" b="0" kern="1200" dirty="0">
                        <a:solidFill>
                          <a:srgbClr val="111111"/>
                        </a:solidFill>
                        <a:latin typeface="仿宋" panose="02010609060101010101" pitchFamily="49" charset="-122"/>
                        <a:ea typeface="仿宋" panose="02010609060101010101" pitchFamily="49" charset="-122"/>
                        <a:cs typeface="等线" pitchFamily="34" charset="0"/>
                      </a:endParaRPr>
                    </a:p>
                  </a:txBody>
                  <a:tcPr marL="36576" marR="36576" marT="36576" marB="36576" anchor="ctr">
                    <a:lnL w="762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cxnSp>
        <p:nvCxnSpPr>
          <p:cNvPr id="10" name="直接连接符 9"/>
          <p:cNvCxnSpPr/>
          <p:nvPr/>
        </p:nvCxnSpPr>
        <p:spPr>
          <a:xfrm>
            <a:off x="519545" y="1039091"/>
            <a:ext cx="7813964" cy="0"/>
          </a:xfrm>
          <a:prstGeom prst="line">
            <a:avLst/>
          </a:prstGeom>
          <a:ln w="38100">
            <a:solidFill>
              <a:schemeClr val="bg2">
                <a:lumMod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矩形 10"/>
          <p:cNvSpPr/>
          <p:nvPr/>
        </p:nvSpPr>
        <p:spPr>
          <a:xfrm>
            <a:off x="11641282" y="342901"/>
            <a:ext cx="259773" cy="581891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文本框 11"/>
          <p:cNvSpPr txBox="1"/>
          <p:nvPr/>
        </p:nvSpPr>
        <p:spPr>
          <a:xfrm>
            <a:off x="550718" y="155351"/>
            <a:ext cx="2441694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4400" dirty="0">
                <a:latin typeface="华文中宋" panose="02010600040101010101" pitchFamily="2" charset="-122"/>
                <a:ea typeface="华文中宋" panose="02010600040101010101" pitchFamily="2" charset="-122"/>
              </a:rPr>
              <a:t>总体架构</a:t>
            </a:r>
          </a:p>
        </p:txBody>
      </p:sp>
      <p:sp>
        <p:nvSpPr>
          <p:cNvPr id="13" name="文本框 12"/>
          <p:cNvSpPr txBox="1"/>
          <p:nvPr/>
        </p:nvSpPr>
        <p:spPr>
          <a:xfrm>
            <a:off x="687774" y="1153391"/>
            <a:ext cx="209015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华文中宋" panose="02010600040101010101" pitchFamily="2" charset="-122"/>
                <a:ea typeface="华文中宋" panose="02010600040101010101" pitchFamily="2" charset="-122"/>
              </a:rPr>
              <a:t>Dual</a:t>
            </a:r>
            <a:endParaRPr lang="zh-CN" altLang="en-US" dirty="0">
              <a:latin typeface="华文中宋" panose="02010600040101010101" pitchFamily="2" charset="-122"/>
              <a:ea typeface="华文中宋" panose="02010600040101010101" pitchFamily="2" charset="-122"/>
            </a:endParaRPr>
          </a:p>
        </p:txBody>
      </p:sp>
      <p:sp>
        <p:nvSpPr>
          <p:cNvPr id="14" name="文本框 13"/>
          <p:cNvSpPr txBox="1"/>
          <p:nvPr/>
        </p:nvSpPr>
        <p:spPr>
          <a:xfrm>
            <a:off x="3067764" y="463127"/>
            <a:ext cx="110799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400" dirty="0">
                <a:latin typeface="华文中宋" panose="02010600040101010101" pitchFamily="2" charset="-122"/>
                <a:ea typeface="华文中宋" panose="02010600040101010101" pitchFamily="2" charset="-122"/>
              </a:rPr>
              <a:t>双架构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660400" y="2021816"/>
            <a:ext cx="6532880" cy="812819"/>
          </a:xfrm>
          <a:prstGeom prst="rect">
            <a:avLst/>
          </a:prstGeom>
          <a:noFill/>
        </p:spPr>
        <p:txBody>
          <a:bodyPr wrap="square" lIns="381" tIns="381" rIns="381" bIns="381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dirty="0">
                <a:solidFill>
                  <a:srgbClr val="111111"/>
                </a:solidFill>
                <a:latin typeface="华文中宋" panose="02010600040101010101" pitchFamily="2" charset="-122"/>
                <a:ea typeface="华文中宋" panose="02010600040101010101" pitchFamily="2" charset="-122"/>
                <a:cs typeface="等线" pitchFamily="34" charset="-120"/>
              </a:rPr>
              <a:t>系统调用是用户态进入内核的唯一接口，我们按 Linux generic syscall ABI </a:t>
            </a:r>
            <a:r>
              <a:rPr lang="en-US" dirty="0" err="1">
                <a:solidFill>
                  <a:srgbClr val="111111"/>
                </a:solidFill>
                <a:latin typeface="华文中宋" panose="02010600040101010101" pitchFamily="2" charset="-122"/>
                <a:ea typeface="华文中宋" panose="02010600040101010101" pitchFamily="2" charset="-122"/>
                <a:cs typeface="等线" pitchFamily="34" charset="-120"/>
              </a:rPr>
              <a:t>组织分发</a:t>
            </a:r>
            <a:r>
              <a:rPr lang="zh-CN" altLang="en-US" dirty="0">
                <a:solidFill>
                  <a:srgbClr val="111111"/>
                </a:solidFill>
                <a:latin typeface="华文中宋" panose="02010600040101010101" pitchFamily="2" charset="-122"/>
                <a:ea typeface="华文中宋" panose="02010600040101010101" pitchFamily="2" charset="-122"/>
                <a:cs typeface="等线" pitchFamily="34" charset="-120"/>
              </a:rPr>
              <a:t>，同时有如下兼容策略</a:t>
            </a:r>
            <a:endParaRPr lang="en-US" dirty="0">
              <a:latin typeface="华文中宋" panose="02010600040101010101" pitchFamily="2" charset="-122"/>
              <a:ea typeface="华文中宋" panose="02010600040101010101" pitchFamily="2" charset="-122"/>
            </a:endParaRPr>
          </a:p>
        </p:txBody>
      </p:sp>
      <p:grpSp>
        <p:nvGrpSpPr>
          <p:cNvPr id="20" name="组合 19"/>
          <p:cNvGrpSpPr/>
          <p:nvPr/>
        </p:nvGrpSpPr>
        <p:grpSpPr>
          <a:xfrm>
            <a:off x="7589520" y="1907770"/>
            <a:ext cx="3942080" cy="4283729"/>
            <a:chOff x="7589520" y="1907771"/>
            <a:chExt cx="3942080" cy="2927120"/>
          </a:xfrm>
        </p:grpSpPr>
        <p:sp>
          <p:nvSpPr>
            <p:cNvPr id="4" name="Text 2"/>
            <p:cNvSpPr/>
            <p:nvPr/>
          </p:nvSpPr>
          <p:spPr>
            <a:xfrm>
              <a:off x="7589520" y="1907771"/>
              <a:ext cx="3942080" cy="731520"/>
            </a:xfrm>
            <a:prstGeom prst="rect">
              <a:avLst/>
            </a:prstGeom>
            <a:solidFill>
              <a:srgbClr val="F2F2F2"/>
            </a:solidFill>
            <a:ln w="10160">
              <a:noFill/>
            </a:ln>
          </p:spPr>
          <p:txBody>
            <a:bodyPr wrap="square" lIns="635" tIns="635" rIns="635" bIns="635" rtlCol="0" anchor="ctr"/>
            <a:lstStyle/>
            <a:p>
              <a:pPr marL="0" indent="0" algn="ctr">
                <a:buNone/>
              </a:pPr>
              <a:r>
                <a:rPr lang="en-US" sz="1600" dirty="0">
                  <a:solidFill>
                    <a:srgbClr val="111111"/>
                  </a:solidFill>
                  <a:latin typeface="华文中宋" panose="02010600040101010101" pitchFamily="2" charset="-122"/>
                  <a:ea typeface="华文中宋" panose="02010600040101010101" pitchFamily="2" charset="-122"/>
                  <a:cs typeface="等线" pitchFamily="34" charset="-120"/>
                </a:rPr>
                <a:t>trap handler</a:t>
              </a:r>
              <a:endParaRPr lang="en-US" sz="1600" dirty="0">
                <a:latin typeface="华文中宋" panose="02010600040101010101" pitchFamily="2" charset="-122"/>
                <a:ea typeface="华文中宋" panose="02010600040101010101" pitchFamily="2" charset="-122"/>
              </a:endParaRPr>
            </a:p>
            <a:p>
              <a:pPr marL="0" indent="0" algn="ctr">
                <a:buNone/>
              </a:pPr>
              <a:r>
                <a:rPr lang="en-US" sz="1600" dirty="0">
                  <a:solidFill>
                    <a:srgbClr val="111111"/>
                  </a:solidFill>
                  <a:latin typeface="华文中宋" panose="02010600040101010101" pitchFamily="2" charset="-122"/>
                  <a:ea typeface="华文中宋" panose="02010600040101010101" pitchFamily="2" charset="-122"/>
                  <a:cs typeface="等线" pitchFamily="34" charset="-120"/>
                </a:rPr>
                <a:t>提取 syscall id 与 6 个参数</a:t>
              </a:r>
              <a:endParaRPr lang="en-US" sz="1600" dirty="0">
                <a:latin typeface="华文中宋" panose="02010600040101010101" pitchFamily="2" charset="-122"/>
                <a:ea typeface="华文中宋" panose="02010600040101010101" pitchFamily="2" charset="-122"/>
              </a:endParaRPr>
            </a:p>
          </p:txBody>
        </p:sp>
        <p:sp>
          <p:nvSpPr>
            <p:cNvPr id="6" name="Text 4"/>
            <p:cNvSpPr/>
            <p:nvPr/>
          </p:nvSpPr>
          <p:spPr>
            <a:xfrm>
              <a:off x="7589520" y="2639291"/>
              <a:ext cx="3942080" cy="731520"/>
            </a:xfrm>
            <a:prstGeom prst="rect">
              <a:avLst/>
            </a:prstGeom>
            <a:solidFill>
              <a:srgbClr val="FFFFFF"/>
            </a:solidFill>
            <a:ln w="10160">
              <a:noFill/>
            </a:ln>
          </p:spPr>
          <p:txBody>
            <a:bodyPr wrap="square" lIns="635" tIns="635" rIns="635" bIns="635" rtlCol="0" anchor="ctr"/>
            <a:lstStyle/>
            <a:p>
              <a:pPr algn="ctr"/>
              <a:r>
                <a:rPr lang="en-US" sz="1600" dirty="0" err="1">
                  <a:solidFill>
                    <a:srgbClr val="111111"/>
                  </a:solidFill>
                  <a:latin typeface="华文中宋" panose="02010600040101010101" pitchFamily="2" charset="-122"/>
                  <a:ea typeface="华文中宋" panose="02010600040101010101" pitchFamily="2" charset="-122"/>
                </a:rPr>
                <a:t>syscall_with_current_task</a:t>
              </a:r>
              <a:endParaRPr lang="en-US" sz="1600" dirty="0">
                <a:solidFill>
                  <a:srgbClr val="111111"/>
                </a:solidFill>
                <a:latin typeface="华文中宋" panose="02010600040101010101" pitchFamily="2" charset="-122"/>
                <a:ea typeface="华文中宋" panose="02010600040101010101" pitchFamily="2" charset="-122"/>
              </a:endParaRPr>
            </a:p>
            <a:p>
              <a:pPr algn="ctr"/>
              <a:r>
                <a:rPr lang="en-US" sz="1600" dirty="0">
                  <a:solidFill>
                    <a:srgbClr val="111111"/>
                  </a:solidFill>
                  <a:latin typeface="华文中宋" panose="02010600040101010101" pitchFamily="2" charset="-122"/>
                  <a:ea typeface="华文中宋" panose="02010600040101010101" pitchFamily="2" charset="-122"/>
                </a:rPr>
                <a:t>exit / seccomp / </a:t>
              </a:r>
              <a:r>
                <a:rPr lang="en-US" sz="1600" dirty="0" err="1">
                  <a:solidFill>
                    <a:srgbClr val="111111"/>
                  </a:solidFill>
                  <a:latin typeface="华文中宋" panose="02010600040101010101" pitchFamily="2" charset="-122"/>
                  <a:ea typeface="华文中宋" panose="02010600040101010101" pitchFamily="2" charset="-122"/>
                </a:rPr>
                <a:t>快速路径</a:t>
              </a:r>
              <a:endParaRPr lang="en-US" sz="1600" dirty="0">
                <a:solidFill>
                  <a:srgbClr val="111111"/>
                </a:solidFill>
                <a:latin typeface="华文中宋" panose="02010600040101010101" pitchFamily="2" charset="-122"/>
                <a:ea typeface="华文中宋" panose="02010600040101010101" pitchFamily="2" charset="-122"/>
              </a:endParaRPr>
            </a:p>
          </p:txBody>
        </p:sp>
        <p:sp>
          <p:nvSpPr>
            <p:cNvPr id="8" name="Text 6"/>
            <p:cNvSpPr/>
            <p:nvPr/>
          </p:nvSpPr>
          <p:spPr>
            <a:xfrm>
              <a:off x="7589520" y="3371851"/>
              <a:ext cx="3942080" cy="73152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0160">
              <a:noFill/>
            </a:ln>
          </p:spPr>
          <p:txBody>
            <a:bodyPr wrap="square" lIns="635" tIns="635" rIns="635" bIns="635" rtlCol="0" anchor="ctr"/>
            <a:lstStyle/>
            <a:p>
              <a:pPr indent="0" algn="ctr">
                <a:buNone/>
              </a:pPr>
              <a:r>
                <a:rPr lang="en-US" sz="1600" dirty="0" err="1">
                  <a:solidFill>
                    <a:srgbClr val="111111"/>
                  </a:solidFill>
                  <a:latin typeface="华文中宋" panose="02010600040101010101" pitchFamily="2" charset="-122"/>
                  <a:ea typeface="华文中宋" panose="02010600040101010101" pitchFamily="2" charset="-122"/>
                </a:rPr>
                <a:t>SyscallContext</a:t>
              </a:r>
              <a:endParaRPr lang="en-US" sz="1600" dirty="0">
                <a:solidFill>
                  <a:srgbClr val="111111"/>
                </a:solidFill>
                <a:latin typeface="华文中宋" panose="02010600040101010101" pitchFamily="2" charset="-122"/>
                <a:ea typeface="华文中宋" panose="02010600040101010101" pitchFamily="2" charset="-122"/>
              </a:endParaRPr>
            </a:p>
            <a:p>
              <a:pPr indent="0" algn="ctr">
                <a:buNone/>
              </a:pPr>
              <a:r>
                <a:rPr lang="en-US" sz="1600" dirty="0">
                  <a:solidFill>
                    <a:srgbClr val="111111"/>
                  </a:solidFill>
                  <a:latin typeface="华文中宋" panose="02010600040101010101" pitchFamily="2" charset="-122"/>
                  <a:ea typeface="华文中宋" panose="02010600040101010101" pitchFamily="2" charset="-122"/>
                </a:rPr>
                <a:t>current task + process</a:t>
              </a:r>
            </a:p>
          </p:txBody>
        </p:sp>
        <p:sp>
          <p:nvSpPr>
            <p:cNvPr id="10" name="Text 8"/>
            <p:cNvSpPr/>
            <p:nvPr/>
          </p:nvSpPr>
          <p:spPr>
            <a:xfrm>
              <a:off x="7589520" y="4103371"/>
              <a:ext cx="3942080" cy="731520"/>
            </a:xfrm>
            <a:prstGeom prst="rect">
              <a:avLst/>
            </a:prstGeom>
            <a:solidFill>
              <a:schemeClr val="bg1"/>
            </a:solidFill>
            <a:ln w="10160">
              <a:noFill/>
            </a:ln>
          </p:spPr>
          <p:txBody>
            <a:bodyPr wrap="square" lIns="635" tIns="635" rIns="635" bIns="635" rtlCol="0" anchor="ctr"/>
            <a:lstStyle/>
            <a:p>
              <a:pPr algn="ctr"/>
              <a:r>
                <a:rPr lang="en-US" sz="1600" dirty="0">
                  <a:solidFill>
                    <a:srgbClr val="111111"/>
                  </a:solidFill>
                  <a:latin typeface="华文中宋" panose="02010600040101010101" pitchFamily="2" charset="-122"/>
                  <a:ea typeface="华文中宋" panose="02010600040101010101" pitchFamily="2" charset="-122"/>
                </a:rPr>
                <a:t>handler</a:t>
              </a:r>
            </a:p>
            <a:p>
              <a:pPr algn="ctr"/>
              <a:r>
                <a:rPr lang="en-US" sz="1600" dirty="0">
                  <a:solidFill>
                    <a:srgbClr val="111111"/>
                  </a:solidFill>
                  <a:latin typeface="华文中宋" panose="02010600040101010101" pitchFamily="2" charset="-122"/>
                  <a:ea typeface="华文中宋" panose="02010600040101010101" pitchFamily="2" charset="-122"/>
                </a:rPr>
                <a:t>fs / process / mm / signal / net</a:t>
              </a:r>
            </a:p>
          </p:txBody>
        </p:sp>
      </p:grpSp>
      <p:sp>
        <p:nvSpPr>
          <p:cNvPr id="11" name="Text 9"/>
          <p:cNvSpPr/>
          <p:nvPr/>
        </p:nvSpPr>
        <p:spPr>
          <a:xfrm>
            <a:off x="14587024" y="3350880"/>
            <a:ext cx="2194560" cy="320040"/>
          </a:xfrm>
          <a:prstGeom prst="rect">
            <a:avLst/>
          </a:prstGeom>
          <a:noFill/>
        </p:spPr>
        <p:txBody>
          <a:bodyPr wrap="square" lIns="381" tIns="381" rIns="381" bIns="381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111111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兼容策略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4724184" y="3853800"/>
            <a:ext cx="9784080" cy="393192"/>
          </a:xfrm>
          <a:prstGeom prst="rect">
            <a:avLst/>
          </a:prstGeom>
          <a:noFill/>
        </p:spPr>
        <p:txBody>
          <a:bodyPr wrap="square" lIns="254" tIns="254" rIns="254" bIns="254" rtlCol="0" anchor="ctr"/>
          <a:lstStyle/>
          <a:p>
            <a:r>
              <a:rPr lang="en-US" sz="1420" dirty="0">
                <a:solidFill>
                  <a:srgbClr val="111111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ABI 层：寄存器参数、返回值编码、errno 映射与 Linux 保持一致</a:t>
            </a:r>
            <a:endParaRPr lang="en-US" sz="1420" dirty="0"/>
          </a:p>
        </p:txBody>
      </p:sp>
      <p:sp>
        <p:nvSpPr>
          <p:cNvPr id="13" name="Text 11"/>
          <p:cNvSpPr/>
          <p:nvPr/>
        </p:nvSpPr>
        <p:spPr>
          <a:xfrm>
            <a:off x="14724184" y="4384152"/>
            <a:ext cx="9784080" cy="393192"/>
          </a:xfrm>
          <a:prstGeom prst="rect">
            <a:avLst/>
          </a:prstGeom>
          <a:noFill/>
        </p:spPr>
        <p:txBody>
          <a:bodyPr wrap="square" lIns="254" tIns="254" rIns="254" bIns="254" rtlCol="0" anchor="ctr"/>
          <a:lstStyle/>
          <a:p>
            <a:r>
              <a:rPr lang="en-US" sz="1420" dirty="0">
                <a:solidFill>
                  <a:srgbClr val="111111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语义层：对 busybox、musl、glibc、libctest、LTP 的常用路径实现真实资源变化</a:t>
            </a:r>
            <a:endParaRPr lang="en-US" sz="1420" dirty="0"/>
          </a:p>
        </p:txBody>
      </p:sp>
      <p:sp>
        <p:nvSpPr>
          <p:cNvPr id="14" name="Text 12"/>
          <p:cNvSpPr/>
          <p:nvPr/>
        </p:nvSpPr>
        <p:spPr>
          <a:xfrm>
            <a:off x="14724184" y="4914504"/>
            <a:ext cx="9784080" cy="393192"/>
          </a:xfrm>
          <a:prstGeom prst="rect">
            <a:avLst/>
          </a:prstGeom>
          <a:noFill/>
        </p:spPr>
        <p:txBody>
          <a:bodyPr wrap="square" lIns="254" tIns="254" rIns="254" bIns="254" rtlCol="0" anchor="ctr"/>
          <a:lstStyle/>
          <a:p>
            <a:r>
              <a:rPr lang="en-US" sz="1420" dirty="0">
                <a:solidFill>
                  <a:srgbClr val="111111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折中层：对可安全 no-op 的 flag 用 CONTEXT / UNFINISHED 注释标明边界</a:t>
            </a:r>
            <a:endParaRPr lang="en-US" sz="1420" dirty="0"/>
          </a:p>
        </p:txBody>
      </p:sp>
      <p:cxnSp>
        <p:nvCxnSpPr>
          <p:cNvPr id="15" name="直接连接符 14"/>
          <p:cNvCxnSpPr/>
          <p:nvPr/>
        </p:nvCxnSpPr>
        <p:spPr>
          <a:xfrm>
            <a:off x="519545" y="1039091"/>
            <a:ext cx="7813964" cy="0"/>
          </a:xfrm>
          <a:prstGeom prst="line">
            <a:avLst/>
          </a:prstGeom>
          <a:ln w="38100">
            <a:solidFill>
              <a:schemeClr val="bg2">
                <a:lumMod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矩形 15"/>
          <p:cNvSpPr/>
          <p:nvPr/>
        </p:nvSpPr>
        <p:spPr>
          <a:xfrm>
            <a:off x="11641282" y="342901"/>
            <a:ext cx="259773" cy="581891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" name="文本框 16"/>
          <p:cNvSpPr txBox="1"/>
          <p:nvPr/>
        </p:nvSpPr>
        <p:spPr>
          <a:xfrm>
            <a:off x="550718" y="155351"/>
            <a:ext cx="2418080" cy="7683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4400" dirty="0">
                <a:latin typeface="华文中宋" panose="02010600040101010101" pitchFamily="2" charset="-122"/>
                <a:ea typeface="华文中宋" panose="02010600040101010101" pitchFamily="2" charset="-122"/>
              </a:rPr>
              <a:t>内核模块</a:t>
            </a:r>
          </a:p>
        </p:txBody>
      </p:sp>
      <p:sp>
        <p:nvSpPr>
          <p:cNvPr id="18" name="文本框 17"/>
          <p:cNvSpPr txBox="1"/>
          <p:nvPr/>
        </p:nvSpPr>
        <p:spPr>
          <a:xfrm>
            <a:off x="687774" y="1153391"/>
            <a:ext cx="209015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err="1">
                <a:latin typeface="华文中宋" panose="02010600040101010101" pitchFamily="2" charset="-122"/>
                <a:ea typeface="华文中宋" panose="02010600040101010101" pitchFamily="2" charset="-122"/>
              </a:rPr>
              <a:t>Syscall</a:t>
            </a:r>
            <a:endParaRPr lang="zh-CN" altLang="en-US" dirty="0">
              <a:latin typeface="华文中宋" panose="02010600040101010101" pitchFamily="2" charset="-122"/>
              <a:ea typeface="华文中宋" panose="02010600040101010101" pitchFamily="2" charset="-122"/>
            </a:endParaRPr>
          </a:p>
        </p:txBody>
      </p:sp>
      <p:sp>
        <p:nvSpPr>
          <p:cNvPr id="19" name="文本框 18"/>
          <p:cNvSpPr txBox="1"/>
          <p:nvPr/>
        </p:nvSpPr>
        <p:spPr>
          <a:xfrm>
            <a:off x="3067764" y="463127"/>
            <a:ext cx="203132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400" dirty="0">
                <a:latin typeface="华文中宋" panose="02010600040101010101" pitchFamily="2" charset="-122"/>
                <a:ea typeface="华文中宋" panose="02010600040101010101" pitchFamily="2" charset="-122"/>
              </a:rPr>
              <a:t>系统调用兼容</a:t>
            </a:r>
          </a:p>
        </p:txBody>
      </p:sp>
      <p:sp>
        <p:nvSpPr>
          <p:cNvPr id="21" name="矩形 20"/>
          <p:cNvSpPr/>
          <p:nvPr/>
        </p:nvSpPr>
        <p:spPr>
          <a:xfrm>
            <a:off x="-708660" y="3108389"/>
            <a:ext cx="2971800" cy="450678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" name="矩形 21"/>
          <p:cNvSpPr/>
          <p:nvPr/>
        </p:nvSpPr>
        <p:spPr>
          <a:xfrm>
            <a:off x="-708660" y="4130070"/>
            <a:ext cx="2971800" cy="450678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" name="矩形 22"/>
          <p:cNvSpPr/>
          <p:nvPr/>
        </p:nvSpPr>
        <p:spPr>
          <a:xfrm>
            <a:off x="-708660" y="5126028"/>
            <a:ext cx="2971800" cy="450678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 dirty="0"/>
          </a:p>
        </p:txBody>
      </p:sp>
      <p:sp>
        <p:nvSpPr>
          <p:cNvPr id="24" name="文本框 23"/>
          <p:cNvSpPr txBox="1"/>
          <p:nvPr/>
        </p:nvSpPr>
        <p:spPr>
          <a:xfrm>
            <a:off x="984165" y="3141568"/>
            <a:ext cx="11887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solidFill>
                  <a:schemeClr val="bg1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ABI </a:t>
            </a:r>
            <a:r>
              <a:rPr lang="zh-CN" altLang="en-US" dirty="0">
                <a:solidFill>
                  <a:schemeClr val="bg1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层</a:t>
            </a:r>
          </a:p>
        </p:txBody>
      </p:sp>
      <p:sp>
        <p:nvSpPr>
          <p:cNvPr id="25" name="文本框 24"/>
          <p:cNvSpPr txBox="1"/>
          <p:nvPr/>
        </p:nvSpPr>
        <p:spPr>
          <a:xfrm>
            <a:off x="984165" y="4170743"/>
            <a:ext cx="11887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solidFill>
                  <a:schemeClr val="bg1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语义层</a:t>
            </a:r>
          </a:p>
        </p:txBody>
      </p:sp>
      <p:sp>
        <p:nvSpPr>
          <p:cNvPr id="26" name="文本框 25"/>
          <p:cNvSpPr txBox="1"/>
          <p:nvPr/>
        </p:nvSpPr>
        <p:spPr>
          <a:xfrm>
            <a:off x="984165" y="5151751"/>
            <a:ext cx="11887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solidFill>
                  <a:schemeClr val="bg1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折中层</a:t>
            </a:r>
          </a:p>
        </p:txBody>
      </p:sp>
      <p:sp>
        <p:nvSpPr>
          <p:cNvPr id="27" name="文本框 26"/>
          <p:cNvSpPr txBox="1"/>
          <p:nvPr/>
        </p:nvSpPr>
        <p:spPr>
          <a:xfrm>
            <a:off x="2415365" y="3129488"/>
            <a:ext cx="4777915" cy="7530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5000"/>
              </a:lnSpc>
            </a:pPr>
            <a:r>
              <a:rPr lang="en-US" altLang="zh-CN" dirty="0" err="1">
                <a:solidFill>
                  <a:srgbClr val="111111"/>
                </a:solidFill>
                <a:latin typeface="华文中宋" panose="02010600040101010101" pitchFamily="2" charset="-122"/>
                <a:ea typeface="华文中宋" panose="02010600040101010101" pitchFamily="2" charset="-122"/>
                <a:cs typeface="等线" pitchFamily="34" charset="-120"/>
              </a:rPr>
              <a:t>寄存器参数、返回值编码、errno</a:t>
            </a:r>
            <a:r>
              <a:rPr lang="en-US" altLang="zh-CN" dirty="0">
                <a:solidFill>
                  <a:srgbClr val="111111"/>
                </a:solidFill>
                <a:latin typeface="华文中宋" panose="02010600040101010101" pitchFamily="2" charset="-122"/>
                <a:ea typeface="华文中宋" panose="02010600040101010101" pitchFamily="2" charset="-122"/>
                <a:cs typeface="等线" pitchFamily="34" charset="-120"/>
              </a:rPr>
              <a:t> </a:t>
            </a:r>
            <a:r>
              <a:rPr lang="en-US" altLang="zh-CN" dirty="0" err="1">
                <a:solidFill>
                  <a:srgbClr val="111111"/>
                </a:solidFill>
                <a:latin typeface="华文中宋" panose="02010600040101010101" pitchFamily="2" charset="-122"/>
                <a:ea typeface="华文中宋" panose="02010600040101010101" pitchFamily="2" charset="-122"/>
                <a:cs typeface="等线" pitchFamily="34" charset="-120"/>
              </a:rPr>
              <a:t>映射与</a:t>
            </a:r>
            <a:r>
              <a:rPr lang="en-US" altLang="zh-CN" dirty="0">
                <a:solidFill>
                  <a:srgbClr val="111111"/>
                </a:solidFill>
                <a:latin typeface="华文中宋" panose="02010600040101010101" pitchFamily="2" charset="-122"/>
                <a:ea typeface="华文中宋" panose="02010600040101010101" pitchFamily="2" charset="-122"/>
                <a:cs typeface="等线" pitchFamily="34" charset="-120"/>
              </a:rPr>
              <a:t> Linux </a:t>
            </a:r>
            <a:r>
              <a:rPr lang="en-US" altLang="zh-CN" dirty="0" err="1">
                <a:solidFill>
                  <a:srgbClr val="111111"/>
                </a:solidFill>
                <a:latin typeface="华文中宋" panose="02010600040101010101" pitchFamily="2" charset="-122"/>
                <a:ea typeface="华文中宋" panose="02010600040101010101" pitchFamily="2" charset="-122"/>
                <a:cs typeface="等线" pitchFamily="34" charset="-120"/>
              </a:rPr>
              <a:t>保持一致</a:t>
            </a:r>
            <a:endParaRPr lang="zh-CN" altLang="en-US" dirty="0">
              <a:latin typeface="华文中宋" panose="02010600040101010101" pitchFamily="2" charset="-122"/>
              <a:ea typeface="华文中宋" panose="02010600040101010101" pitchFamily="2" charset="-122"/>
            </a:endParaRPr>
          </a:p>
        </p:txBody>
      </p:sp>
      <p:sp>
        <p:nvSpPr>
          <p:cNvPr id="28" name="文本框 27"/>
          <p:cNvSpPr txBox="1"/>
          <p:nvPr/>
        </p:nvSpPr>
        <p:spPr>
          <a:xfrm>
            <a:off x="2415365" y="4120118"/>
            <a:ext cx="4422316" cy="7530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5000"/>
              </a:lnSpc>
            </a:pPr>
            <a:r>
              <a:rPr lang="en-US" altLang="zh-CN" dirty="0">
                <a:solidFill>
                  <a:srgbClr val="111111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对 </a:t>
            </a:r>
            <a:r>
              <a:rPr lang="en-US" altLang="zh-CN" dirty="0" err="1">
                <a:solidFill>
                  <a:srgbClr val="111111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busybox、musl、glibc、libctest、LTP</a:t>
            </a:r>
            <a:r>
              <a:rPr lang="en-US" altLang="zh-CN" dirty="0">
                <a:solidFill>
                  <a:srgbClr val="111111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 </a:t>
            </a:r>
            <a:r>
              <a:rPr lang="en-US" altLang="zh-CN" dirty="0" err="1">
                <a:solidFill>
                  <a:srgbClr val="111111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的常用路径实现真实资源变化</a:t>
            </a:r>
            <a:endParaRPr lang="zh-CN" altLang="en-US" dirty="0">
              <a:solidFill>
                <a:srgbClr val="111111"/>
              </a:solidFill>
              <a:latin typeface="华文中宋" panose="02010600040101010101" pitchFamily="2" charset="-122"/>
              <a:ea typeface="华文中宋" panose="02010600040101010101" pitchFamily="2" charset="-122"/>
            </a:endParaRPr>
          </a:p>
        </p:txBody>
      </p:sp>
      <p:sp>
        <p:nvSpPr>
          <p:cNvPr id="29" name="文本框 28"/>
          <p:cNvSpPr txBox="1"/>
          <p:nvPr/>
        </p:nvSpPr>
        <p:spPr>
          <a:xfrm>
            <a:off x="2415363" y="5136396"/>
            <a:ext cx="4777915" cy="7530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5000"/>
              </a:lnSpc>
            </a:pPr>
            <a:r>
              <a:rPr lang="en-US" altLang="zh-CN" dirty="0" err="1">
                <a:solidFill>
                  <a:srgbClr val="111111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对可安全</a:t>
            </a:r>
            <a:r>
              <a:rPr lang="en-US" altLang="zh-CN" dirty="0">
                <a:solidFill>
                  <a:srgbClr val="111111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 no-op 的 flag 用 CONTEXT / UNFINISHED </a:t>
            </a:r>
            <a:r>
              <a:rPr lang="en-US" altLang="zh-CN" dirty="0" err="1">
                <a:solidFill>
                  <a:srgbClr val="111111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注释标明边界</a:t>
            </a:r>
            <a:endParaRPr lang="zh-CN" altLang="en-US" dirty="0">
              <a:solidFill>
                <a:srgbClr val="111111"/>
              </a:solidFill>
              <a:latin typeface="华文中宋" panose="02010600040101010101" pitchFamily="2" charset="-122"/>
              <a:ea typeface="华文中宋" panose="02010600040101010101" pitchFamily="2" charset="-122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250">
        <p159:morph option="byObject"/>
      </p:transition>
    </mc:Choice>
    <mc:Fallback xmlns="">
      <p:transition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9"/>
          <p:cNvSpPr/>
          <p:nvPr/>
        </p:nvSpPr>
        <p:spPr>
          <a:xfrm>
            <a:off x="14587024" y="3350880"/>
            <a:ext cx="2194560" cy="320040"/>
          </a:xfrm>
          <a:prstGeom prst="rect">
            <a:avLst/>
          </a:prstGeom>
          <a:noFill/>
        </p:spPr>
        <p:txBody>
          <a:bodyPr wrap="square" lIns="381" tIns="381" rIns="381" bIns="381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111111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兼容策略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4724184" y="3853800"/>
            <a:ext cx="9784080" cy="393192"/>
          </a:xfrm>
          <a:prstGeom prst="rect">
            <a:avLst/>
          </a:prstGeom>
          <a:noFill/>
        </p:spPr>
        <p:txBody>
          <a:bodyPr wrap="square" lIns="254" tIns="254" rIns="254" bIns="254" rtlCol="0" anchor="ctr"/>
          <a:lstStyle/>
          <a:p>
            <a:r>
              <a:rPr lang="en-US" sz="1420" dirty="0">
                <a:solidFill>
                  <a:srgbClr val="111111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ABI 层：寄存器参数、返回值编码、errno 映射与 Linux 保持一致</a:t>
            </a:r>
            <a:endParaRPr lang="en-US" sz="1420" dirty="0"/>
          </a:p>
        </p:txBody>
      </p:sp>
      <p:sp>
        <p:nvSpPr>
          <p:cNvPr id="13" name="Text 11"/>
          <p:cNvSpPr/>
          <p:nvPr/>
        </p:nvSpPr>
        <p:spPr>
          <a:xfrm>
            <a:off x="14724184" y="4384152"/>
            <a:ext cx="9784080" cy="393192"/>
          </a:xfrm>
          <a:prstGeom prst="rect">
            <a:avLst/>
          </a:prstGeom>
          <a:noFill/>
        </p:spPr>
        <p:txBody>
          <a:bodyPr wrap="square" lIns="254" tIns="254" rIns="254" bIns="254" rtlCol="0" anchor="ctr"/>
          <a:lstStyle/>
          <a:p>
            <a:r>
              <a:rPr lang="en-US" sz="1420" dirty="0">
                <a:solidFill>
                  <a:srgbClr val="111111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语义层：对 busybox、musl、glibc、libctest、LTP 的常用路径实现真实资源变化</a:t>
            </a:r>
            <a:endParaRPr lang="en-US" sz="1420" dirty="0"/>
          </a:p>
        </p:txBody>
      </p:sp>
      <p:sp>
        <p:nvSpPr>
          <p:cNvPr id="14" name="Text 12"/>
          <p:cNvSpPr/>
          <p:nvPr/>
        </p:nvSpPr>
        <p:spPr>
          <a:xfrm>
            <a:off x="14724184" y="4914504"/>
            <a:ext cx="9784080" cy="393192"/>
          </a:xfrm>
          <a:prstGeom prst="rect">
            <a:avLst/>
          </a:prstGeom>
          <a:noFill/>
        </p:spPr>
        <p:txBody>
          <a:bodyPr wrap="square" lIns="254" tIns="254" rIns="254" bIns="254" rtlCol="0" anchor="ctr"/>
          <a:lstStyle/>
          <a:p>
            <a:r>
              <a:rPr lang="en-US" sz="1420" dirty="0">
                <a:solidFill>
                  <a:srgbClr val="111111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折中层：对可安全 no-op 的 flag 用 CONTEXT / UNFINISHED 注释标明边界</a:t>
            </a:r>
            <a:endParaRPr lang="en-US" sz="1420" dirty="0"/>
          </a:p>
        </p:txBody>
      </p:sp>
      <p:cxnSp>
        <p:nvCxnSpPr>
          <p:cNvPr id="15" name="直接连接符 14"/>
          <p:cNvCxnSpPr/>
          <p:nvPr/>
        </p:nvCxnSpPr>
        <p:spPr>
          <a:xfrm>
            <a:off x="519545" y="1039091"/>
            <a:ext cx="7813964" cy="0"/>
          </a:xfrm>
          <a:prstGeom prst="line">
            <a:avLst/>
          </a:prstGeom>
          <a:ln w="38100">
            <a:solidFill>
              <a:schemeClr val="bg2">
                <a:lumMod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矩形 15"/>
          <p:cNvSpPr/>
          <p:nvPr/>
        </p:nvSpPr>
        <p:spPr>
          <a:xfrm>
            <a:off x="11641282" y="342901"/>
            <a:ext cx="259773" cy="581891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" name="文本框 16"/>
          <p:cNvSpPr txBox="1"/>
          <p:nvPr/>
        </p:nvSpPr>
        <p:spPr>
          <a:xfrm>
            <a:off x="550718" y="155351"/>
            <a:ext cx="2418080" cy="7683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4400" dirty="0">
                <a:latin typeface="华文中宋" panose="02010600040101010101" pitchFamily="2" charset="-122"/>
                <a:ea typeface="华文中宋" panose="02010600040101010101" pitchFamily="2" charset="-122"/>
              </a:rPr>
              <a:t>内核模块</a:t>
            </a:r>
          </a:p>
        </p:txBody>
      </p:sp>
      <p:sp>
        <p:nvSpPr>
          <p:cNvPr id="18" name="文本框 17"/>
          <p:cNvSpPr txBox="1"/>
          <p:nvPr/>
        </p:nvSpPr>
        <p:spPr>
          <a:xfrm>
            <a:off x="687774" y="1153391"/>
            <a:ext cx="209015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err="1">
                <a:latin typeface="华文中宋" panose="02010600040101010101" pitchFamily="2" charset="-122"/>
                <a:ea typeface="华文中宋" panose="02010600040101010101" pitchFamily="2" charset="-122"/>
              </a:rPr>
              <a:t>Syscall</a:t>
            </a:r>
            <a:endParaRPr lang="zh-CN" altLang="en-US" dirty="0">
              <a:latin typeface="华文中宋" panose="02010600040101010101" pitchFamily="2" charset="-122"/>
              <a:ea typeface="华文中宋" panose="02010600040101010101" pitchFamily="2" charset="-122"/>
            </a:endParaRPr>
          </a:p>
        </p:txBody>
      </p:sp>
      <p:sp>
        <p:nvSpPr>
          <p:cNvPr id="19" name="文本框 18"/>
          <p:cNvSpPr txBox="1"/>
          <p:nvPr/>
        </p:nvSpPr>
        <p:spPr>
          <a:xfrm>
            <a:off x="3067764" y="463127"/>
            <a:ext cx="203132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400" dirty="0">
                <a:latin typeface="华文中宋" panose="02010600040101010101" pitchFamily="2" charset="-122"/>
                <a:ea typeface="华文中宋" panose="02010600040101010101" pitchFamily="2" charset="-122"/>
              </a:rPr>
              <a:t>系统调用兼容</a:t>
            </a:r>
          </a:p>
        </p:txBody>
      </p:sp>
      <p:graphicFrame>
        <p:nvGraphicFramePr>
          <p:cNvPr id="2" name="Table 0"/>
          <p:cNvGraphicFramePr>
            <a:graphicFrameLocks noGrp="1"/>
          </p:cNvGraphicFramePr>
          <p:nvPr/>
        </p:nvGraphicFramePr>
        <p:xfrm>
          <a:off x="777240" y="1600200"/>
          <a:ext cx="10698480" cy="4114803"/>
        </p:xfrm>
        <a:graphic>
          <a:graphicData uri="http://schemas.openxmlformats.org/drawingml/2006/table">
            <a:tbl>
              <a:tblPr/>
              <a:tblGrid>
                <a:gridCol w="5349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349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8782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111111"/>
                          </a:solidFill>
                          <a:latin typeface="仿宋" panose="02010609060101010101" pitchFamily="49" charset="-122"/>
                          <a:ea typeface="仿宋" panose="02010609060101010101" pitchFamily="49" charset="-122"/>
                          <a:cs typeface="等线" pitchFamily="34" charset="-120"/>
                        </a:rPr>
                        <a:t>类别</a:t>
                      </a:r>
                      <a:endParaRPr lang="en-US" sz="1600" dirty="0">
                        <a:latin typeface="仿宋" panose="02010609060101010101" pitchFamily="49" charset="-122"/>
                        <a:ea typeface="仿宋" panose="02010609060101010101" pitchFamily="49" charset="-122"/>
                        <a:cs typeface="等线" pitchFamily="34" charset="0"/>
                      </a:endParaRPr>
                    </a:p>
                  </a:txBody>
                  <a:tcPr marL="36576" marR="36576" marT="36576" marB="36576" anchor="ctr">
                    <a:lnL w="762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111111"/>
                          </a:solidFill>
                          <a:latin typeface="仿宋" panose="02010609060101010101" pitchFamily="49" charset="-122"/>
                          <a:ea typeface="仿宋" panose="02010609060101010101" pitchFamily="49" charset="-122"/>
                          <a:cs typeface="等线" pitchFamily="34" charset="-120"/>
                        </a:rPr>
                        <a:t>覆盖重点</a:t>
                      </a:r>
                      <a:endParaRPr lang="en-US" sz="1600" dirty="0">
                        <a:latin typeface="仿宋" panose="02010609060101010101" pitchFamily="49" charset="-122"/>
                        <a:ea typeface="仿宋" panose="02010609060101010101" pitchFamily="49" charset="-122"/>
                        <a:cs typeface="等线" pitchFamily="34" charset="0"/>
                      </a:endParaRPr>
                    </a:p>
                  </a:txBody>
                  <a:tcPr marL="36576" marR="36576" marT="36576" marB="36576" anchor="ctr">
                    <a:lnL w="762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8782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仿宋" panose="02010609060101010101" pitchFamily="49" charset="-122"/>
                          <a:ea typeface="仿宋" panose="02010609060101010101" pitchFamily="49" charset="-122"/>
                          <a:cs typeface="等线" pitchFamily="34" charset="-120"/>
                        </a:rPr>
                        <a:t>进程与线程</a:t>
                      </a:r>
                      <a:endParaRPr lang="en-US" sz="1600" dirty="0">
                        <a:latin typeface="仿宋" panose="02010609060101010101" pitchFamily="49" charset="-122"/>
                        <a:ea typeface="仿宋" panose="02010609060101010101" pitchFamily="49" charset="-122"/>
                        <a:cs typeface="等线" pitchFamily="34" charset="0"/>
                      </a:endParaRPr>
                    </a:p>
                  </a:txBody>
                  <a:tcPr marL="36576" marR="36576" marT="36576" marB="36576" anchor="ctr">
                    <a:lnL w="762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11111"/>
                          </a:solidFill>
                          <a:latin typeface="仿宋" panose="02010609060101010101" pitchFamily="49" charset="-122"/>
                          <a:ea typeface="仿宋" panose="02010609060101010101" pitchFamily="49" charset="-122"/>
                          <a:cs typeface="等线" pitchFamily="34" charset="-120"/>
                        </a:rPr>
                        <a:t>clone / clone3 / execve / execveat / wait4 / waitid / exit_group / set_tid_address</a:t>
                      </a:r>
                      <a:endParaRPr lang="en-US" sz="1200" dirty="0">
                        <a:latin typeface="仿宋" panose="02010609060101010101" pitchFamily="49" charset="-122"/>
                        <a:ea typeface="仿宋" panose="02010609060101010101" pitchFamily="49" charset="-122"/>
                        <a:cs typeface="等线" pitchFamily="34" charset="0"/>
                      </a:endParaRPr>
                    </a:p>
                  </a:txBody>
                  <a:tcPr marL="36576" marR="36576" marT="36576" marB="36576" anchor="ctr">
                    <a:lnL w="762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8782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仿宋" panose="02010609060101010101" pitchFamily="49" charset="-122"/>
                          <a:ea typeface="仿宋" panose="02010609060101010101" pitchFamily="49" charset="-122"/>
                          <a:cs typeface="等线" pitchFamily="34" charset="-120"/>
                        </a:rPr>
                        <a:t>内存</a:t>
                      </a:r>
                      <a:endParaRPr lang="en-US" sz="1600" dirty="0">
                        <a:latin typeface="仿宋" panose="02010609060101010101" pitchFamily="49" charset="-122"/>
                        <a:ea typeface="仿宋" panose="02010609060101010101" pitchFamily="49" charset="-122"/>
                        <a:cs typeface="等线" pitchFamily="34" charset="0"/>
                      </a:endParaRPr>
                    </a:p>
                  </a:txBody>
                  <a:tcPr marL="36576" marR="36576" marT="36576" marB="36576" anchor="ctr">
                    <a:lnL w="762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11111"/>
                          </a:solidFill>
                          <a:latin typeface="仿宋" panose="02010609060101010101" pitchFamily="49" charset="-122"/>
                          <a:ea typeface="仿宋" panose="02010609060101010101" pitchFamily="49" charset="-122"/>
                          <a:cs typeface="等线" pitchFamily="34" charset="-120"/>
                        </a:rPr>
                        <a:t>brk / mmap / munmap / mprotect / mremap / madvise / mlock / msync / SysV shm</a:t>
                      </a:r>
                      <a:endParaRPr lang="en-US" sz="1200" dirty="0">
                        <a:latin typeface="仿宋" panose="02010609060101010101" pitchFamily="49" charset="-122"/>
                        <a:ea typeface="仿宋" panose="02010609060101010101" pitchFamily="49" charset="-122"/>
                        <a:cs typeface="等线" pitchFamily="34" charset="0"/>
                      </a:endParaRPr>
                    </a:p>
                  </a:txBody>
                  <a:tcPr marL="36576" marR="36576" marT="36576" marB="36576" anchor="ctr">
                    <a:lnL w="762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8782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仿宋" panose="02010609060101010101" pitchFamily="49" charset="-122"/>
                          <a:ea typeface="仿宋" panose="02010609060101010101" pitchFamily="49" charset="-122"/>
                          <a:cs typeface="等线" pitchFamily="34" charset="-120"/>
                        </a:rPr>
                        <a:t>文件与路径</a:t>
                      </a:r>
                      <a:endParaRPr lang="en-US" sz="1600" dirty="0">
                        <a:latin typeface="仿宋" panose="02010609060101010101" pitchFamily="49" charset="-122"/>
                        <a:ea typeface="仿宋" panose="02010609060101010101" pitchFamily="49" charset="-122"/>
                        <a:cs typeface="等线" pitchFamily="34" charset="0"/>
                      </a:endParaRPr>
                    </a:p>
                  </a:txBody>
                  <a:tcPr marL="36576" marR="36576" marT="36576" marB="36576" anchor="ctr">
                    <a:lnL w="762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11111"/>
                          </a:solidFill>
                          <a:latin typeface="仿宋" panose="02010609060101010101" pitchFamily="49" charset="-122"/>
                          <a:ea typeface="仿宋" panose="02010609060101010101" pitchFamily="49" charset="-122"/>
                          <a:cs typeface="等线" pitchFamily="34" charset="-120"/>
                        </a:rPr>
                        <a:t>openat / readv / writev / getdents64 / statx / renameat2 / linkat / symlinkat / xattr</a:t>
                      </a:r>
                      <a:endParaRPr lang="en-US" sz="1200" dirty="0">
                        <a:latin typeface="仿宋" panose="02010609060101010101" pitchFamily="49" charset="-122"/>
                        <a:ea typeface="仿宋" panose="02010609060101010101" pitchFamily="49" charset="-122"/>
                        <a:cs typeface="等线" pitchFamily="34" charset="0"/>
                      </a:endParaRPr>
                    </a:p>
                  </a:txBody>
                  <a:tcPr marL="36576" marR="36576" marT="36576" marB="36576" anchor="ctr">
                    <a:lnL w="762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8782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仿宋" panose="02010609060101010101" pitchFamily="49" charset="-122"/>
                          <a:ea typeface="仿宋" panose="02010609060101010101" pitchFamily="49" charset="-122"/>
                          <a:cs typeface="等线" pitchFamily="34" charset="-120"/>
                        </a:rPr>
                        <a:t>同步与事件</a:t>
                      </a:r>
                      <a:endParaRPr lang="en-US" sz="1600" dirty="0">
                        <a:latin typeface="仿宋" panose="02010609060101010101" pitchFamily="49" charset="-122"/>
                        <a:ea typeface="仿宋" panose="02010609060101010101" pitchFamily="49" charset="-122"/>
                        <a:cs typeface="等线" pitchFamily="34" charset="0"/>
                      </a:endParaRPr>
                    </a:p>
                  </a:txBody>
                  <a:tcPr marL="36576" marR="36576" marT="36576" marB="36576" anchor="ctr">
                    <a:lnL w="762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11111"/>
                          </a:solidFill>
                          <a:latin typeface="仿宋" panose="02010609060101010101" pitchFamily="49" charset="-122"/>
                          <a:ea typeface="仿宋" panose="02010609060101010101" pitchFamily="49" charset="-122"/>
                          <a:cs typeface="等线" pitchFamily="34" charset="-120"/>
                        </a:rPr>
                        <a:t>futex / poll / ppoll / pselect6 / epoll / eventfd / timerfd</a:t>
                      </a:r>
                      <a:endParaRPr lang="en-US" sz="1200" dirty="0">
                        <a:latin typeface="仿宋" panose="02010609060101010101" pitchFamily="49" charset="-122"/>
                        <a:ea typeface="仿宋" panose="02010609060101010101" pitchFamily="49" charset="-122"/>
                        <a:cs typeface="等线" pitchFamily="34" charset="0"/>
                      </a:endParaRPr>
                    </a:p>
                  </a:txBody>
                  <a:tcPr marL="36576" marR="36576" marT="36576" marB="36576" anchor="ctr">
                    <a:lnL w="762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8782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仿宋" panose="02010609060101010101" pitchFamily="49" charset="-122"/>
                          <a:ea typeface="仿宋" panose="02010609060101010101" pitchFamily="49" charset="-122"/>
                          <a:cs typeface="等线" pitchFamily="34" charset="-120"/>
                        </a:rPr>
                        <a:t>信号</a:t>
                      </a:r>
                      <a:endParaRPr lang="en-US" sz="1600" dirty="0">
                        <a:latin typeface="仿宋" panose="02010609060101010101" pitchFamily="49" charset="-122"/>
                        <a:ea typeface="仿宋" panose="02010609060101010101" pitchFamily="49" charset="-122"/>
                        <a:cs typeface="等线" pitchFamily="34" charset="0"/>
                      </a:endParaRPr>
                    </a:p>
                  </a:txBody>
                  <a:tcPr marL="36576" marR="36576" marT="36576" marB="36576" anchor="ctr">
                    <a:lnL w="762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11111"/>
                          </a:solidFill>
                          <a:latin typeface="仿宋" panose="02010609060101010101" pitchFamily="49" charset="-122"/>
                          <a:ea typeface="仿宋" panose="02010609060101010101" pitchFamily="49" charset="-122"/>
                          <a:cs typeface="等线" pitchFamily="34" charset="-120"/>
                        </a:rPr>
                        <a:t>rt_sigaction / rt_sigprocmask / rt_sigreturn / rt_sigtimedwait / tgkill / tkill</a:t>
                      </a:r>
                      <a:endParaRPr lang="en-US" sz="1200" dirty="0">
                        <a:latin typeface="仿宋" panose="02010609060101010101" pitchFamily="49" charset="-122"/>
                        <a:ea typeface="仿宋" panose="02010609060101010101" pitchFamily="49" charset="-122"/>
                        <a:cs typeface="等线" pitchFamily="34" charset="0"/>
                      </a:endParaRPr>
                    </a:p>
                  </a:txBody>
                  <a:tcPr marL="36576" marR="36576" marT="36576" marB="36576" anchor="ctr">
                    <a:lnL w="762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8782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仿宋" panose="02010609060101010101" pitchFamily="49" charset="-122"/>
                          <a:ea typeface="仿宋" panose="02010609060101010101" pitchFamily="49" charset="-122"/>
                          <a:cs typeface="等线" pitchFamily="34" charset="-120"/>
                        </a:rPr>
                        <a:t>网络</a:t>
                      </a:r>
                      <a:endParaRPr lang="en-US" sz="1600" dirty="0">
                        <a:latin typeface="仿宋" panose="02010609060101010101" pitchFamily="49" charset="-122"/>
                        <a:ea typeface="仿宋" panose="02010609060101010101" pitchFamily="49" charset="-122"/>
                        <a:cs typeface="等线" pitchFamily="34" charset="0"/>
                      </a:endParaRPr>
                    </a:p>
                  </a:txBody>
                  <a:tcPr marL="36576" marR="36576" marT="36576" marB="36576" anchor="ctr">
                    <a:lnL w="762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11111"/>
                          </a:solidFill>
                          <a:latin typeface="仿宋" panose="02010609060101010101" pitchFamily="49" charset="-122"/>
                          <a:ea typeface="仿宋" panose="02010609060101010101" pitchFamily="49" charset="-122"/>
                          <a:cs typeface="等线" pitchFamily="34" charset="-120"/>
                        </a:rPr>
                        <a:t>socket / socketpair / bind / listen / accept / connect / sendmsg / recvmsg / socket options</a:t>
                      </a:r>
                      <a:endParaRPr lang="en-US" sz="1200" dirty="0">
                        <a:latin typeface="仿宋" panose="02010609060101010101" pitchFamily="49" charset="-122"/>
                        <a:ea typeface="仿宋" panose="02010609060101010101" pitchFamily="49" charset="-122"/>
                        <a:cs typeface="等线" pitchFamily="34" charset="0"/>
                      </a:endParaRPr>
                    </a:p>
                  </a:txBody>
                  <a:tcPr marL="36576" marR="36576" marT="36576" marB="36576" anchor="ctr">
                    <a:lnL w="762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822960" y="5943599"/>
            <a:ext cx="10698480" cy="759049"/>
          </a:xfrm>
          <a:prstGeom prst="rect">
            <a:avLst/>
          </a:prstGeom>
          <a:noFill/>
        </p:spPr>
        <p:txBody>
          <a:bodyPr wrap="square" lIns="381" tIns="381" rIns="381" bIns="381" rtlCol="0" anchor="t"/>
          <a:lstStyle/>
          <a:p>
            <a:pPr marL="0" indent="0">
              <a:lnSpc>
                <a:spcPct val="150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华文中宋" panose="02010600040101010101" pitchFamily="2" charset="-122"/>
                <a:ea typeface="华文中宋" panose="02010600040101010101" pitchFamily="2" charset="-122"/>
                <a:cs typeface="等线" pitchFamily="34" charset="-120"/>
              </a:rPr>
              <a:t>当前覆盖约 250 个 syscall。</a:t>
            </a:r>
            <a:endParaRPr lang="en-US" sz="1600" dirty="0">
              <a:latin typeface="华文中宋" panose="02010600040101010101" pitchFamily="2" charset="-122"/>
              <a:ea typeface="华文中宋" panose="02010600040101010101" pitchFamily="2" charset="-122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250">
        <p159:morph option="byObject"/>
      </p:transition>
    </mc:Choice>
    <mc:Fallback xmlns="">
      <p:transition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838200" y="5119454"/>
            <a:ext cx="10515600" cy="740095"/>
          </a:xfrm>
          <a:prstGeom prst="rect">
            <a:avLst/>
          </a:prstGeom>
          <a:noFill/>
        </p:spPr>
        <p:txBody>
          <a:bodyPr wrap="square" lIns="381" tIns="381" rIns="381" bIns="381" rtlCol="0" anchor="t"/>
          <a:lstStyle/>
          <a:p>
            <a:pPr marL="0" indent="0">
              <a:lnSpc>
                <a:spcPct val="150000"/>
              </a:lnSpc>
              <a:buNone/>
            </a:pPr>
            <a:r>
              <a:rPr lang="en-US" dirty="0">
                <a:solidFill>
                  <a:srgbClr val="111111"/>
                </a:solidFill>
                <a:latin typeface="华文中宋" panose="02010600040101010101" pitchFamily="2" charset="-122"/>
                <a:ea typeface="华文中宋" panose="02010600040101010101" pitchFamily="2" charset="-122"/>
                <a:cs typeface="等线" pitchFamily="34" charset="-120"/>
              </a:rPr>
              <a:t>文件系统的核心目标是把 EXT4、tmpfs、devfs、procfs、pipe、socket、eventfd、timerfd 等对象统一成 fd 可操作的 File。</a:t>
            </a:r>
            <a:endParaRPr lang="en-US" dirty="0">
              <a:latin typeface="华文中宋" panose="02010600040101010101" pitchFamily="2" charset="-122"/>
              <a:ea typeface="华文中宋" panose="02010600040101010101" pitchFamily="2" charset="-122"/>
            </a:endParaRPr>
          </a:p>
        </p:txBody>
      </p:sp>
      <p:grpSp>
        <p:nvGrpSpPr>
          <p:cNvPr id="24" name="组合 23"/>
          <p:cNvGrpSpPr/>
          <p:nvPr/>
        </p:nvGrpSpPr>
        <p:grpSpPr>
          <a:xfrm>
            <a:off x="1752600" y="1839423"/>
            <a:ext cx="8519159" cy="2606272"/>
            <a:chOff x="2067561" y="2551176"/>
            <a:chExt cx="7660638" cy="2178536"/>
          </a:xfrm>
        </p:grpSpPr>
        <p:sp>
          <p:nvSpPr>
            <p:cNvPr id="4" name="Text 2"/>
            <p:cNvSpPr/>
            <p:nvPr/>
          </p:nvSpPr>
          <p:spPr>
            <a:xfrm>
              <a:off x="2067561" y="2551176"/>
              <a:ext cx="7660638" cy="566928"/>
            </a:xfrm>
            <a:prstGeom prst="rect">
              <a:avLst/>
            </a:prstGeom>
            <a:solidFill>
              <a:srgbClr val="F2F2F2"/>
            </a:solidFill>
            <a:ln w="10160">
              <a:noFill/>
            </a:ln>
          </p:spPr>
          <p:txBody>
            <a:bodyPr wrap="square" lIns="635" tIns="635" rIns="635" bIns="635" rtlCol="0" anchor="ctr"/>
            <a:lstStyle/>
            <a:p>
              <a:pPr marL="0" indent="0" algn="ctr">
                <a:buNone/>
              </a:pPr>
              <a:r>
                <a:rPr lang="en-US" sz="1400" dirty="0">
                  <a:solidFill>
                    <a:srgbClr val="111111"/>
                  </a:solidFill>
                  <a:latin typeface="华文中宋" panose="02010600040101010101" pitchFamily="2" charset="-122"/>
                  <a:ea typeface="华文中宋" panose="02010600040101010101" pitchFamily="2" charset="-122"/>
                  <a:cs typeface="等线" pitchFamily="34" charset="-120"/>
                </a:rPr>
                <a:t>syscall 层</a:t>
              </a:r>
              <a:endParaRPr lang="en-US" sz="1400" dirty="0">
                <a:latin typeface="华文中宋" panose="02010600040101010101" pitchFamily="2" charset="-122"/>
                <a:ea typeface="华文中宋" panose="02010600040101010101" pitchFamily="2" charset="-122"/>
              </a:endParaRPr>
            </a:p>
            <a:p>
              <a:pPr marL="0" indent="0" algn="ctr">
                <a:buNone/>
              </a:pPr>
              <a:r>
                <a:rPr lang="en-US" sz="1400" dirty="0">
                  <a:solidFill>
                    <a:srgbClr val="111111"/>
                  </a:solidFill>
                  <a:latin typeface="华文中宋" panose="02010600040101010101" pitchFamily="2" charset="-122"/>
                  <a:ea typeface="华文中宋" panose="02010600040101010101" pitchFamily="2" charset="-122"/>
                  <a:cs typeface="等线" pitchFamily="34" charset="-120"/>
                </a:rPr>
                <a:t>open/read/write/stat/mmap/poll</a:t>
              </a:r>
              <a:endParaRPr lang="en-US" sz="1400" dirty="0">
                <a:latin typeface="华文中宋" panose="02010600040101010101" pitchFamily="2" charset="-122"/>
                <a:ea typeface="华文中宋" panose="02010600040101010101" pitchFamily="2" charset="-122"/>
              </a:endParaRPr>
            </a:p>
          </p:txBody>
        </p:sp>
        <p:sp>
          <p:nvSpPr>
            <p:cNvPr id="6" name="Text 4"/>
            <p:cNvSpPr/>
            <p:nvPr/>
          </p:nvSpPr>
          <p:spPr>
            <a:xfrm>
              <a:off x="2067561" y="3118104"/>
              <a:ext cx="7660638" cy="566928"/>
            </a:xfrm>
            <a:prstGeom prst="rect">
              <a:avLst/>
            </a:prstGeom>
            <a:solidFill>
              <a:srgbClr val="FFFFFF"/>
            </a:solidFill>
            <a:ln w="10160">
              <a:noFill/>
            </a:ln>
          </p:spPr>
          <p:txBody>
            <a:bodyPr wrap="square" lIns="635" tIns="635" rIns="635" bIns="635" rtlCol="0" anchor="ctr"/>
            <a:lstStyle/>
            <a:p>
              <a:pPr algn="ctr"/>
              <a:r>
                <a:rPr lang="en-US" sz="1400" dirty="0">
                  <a:solidFill>
                    <a:srgbClr val="111111"/>
                  </a:solidFill>
                  <a:latin typeface="华文中宋" panose="02010600040101010101" pitchFamily="2" charset="-122"/>
                  <a:ea typeface="华文中宋" panose="02010600040101010101" pitchFamily="2" charset="-122"/>
                </a:rPr>
                <a:t>File trait</a:t>
              </a:r>
            </a:p>
            <a:p>
              <a:pPr algn="ctr"/>
              <a:r>
                <a:rPr lang="en-US" sz="1400" dirty="0">
                  <a:solidFill>
                    <a:srgbClr val="111111"/>
                  </a:solidFill>
                  <a:latin typeface="华文中宋" panose="02010600040101010101" pitchFamily="2" charset="-122"/>
                  <a:ea typeface="华文中宋" panose="02010600040101010101" pitchFamily="2" charset="-122"/>
                </a:rPr>
                <a:t>read / write / poll / stat / seek / mmap / sync</a:t>
              </a:r>
            </a:p>
          </p:txBody>
        </p:sp>
        <p:sp>
          <p:nvSpPr>
            <p:cNvPr id="8" name="Text 6"/>
            <p:cNvSpPr/>
            <p:nvPr/>
          </p:nvSpPr>
          <p:spPr>
            <a:xfrm>
              <a:off x="2067561" y="3685032"/>
              <a:ext cx="7660638" cy="566928"/>
            </a:xfrm>
            <a:prstGeom prst="rect">
              <a:avLst/>
            </a:prstGeom>
            <a:solidFill>
              <a:srgbClr val="F2F2F2"/>
            </a:solidFill>
            <a:ln w="10160">
              <a:noFill/>
            </a:ln>
          </p:spPr>
          <p:txBody>
            <a:bodyPr wrap="square" lIns="635" tIns="635" rIns="635" bIns="635" rtlCol="0" anchor="ctr"/>
            <a:lstStyle/>
            <a:p>
              <a:pPr indent="0" algn="ctr">
                <a:buNone/>
              </a:pPr>
              <a:r>
                <a:rPr lang="en-US" sz="1400" dirty="0">
                  <a:solidFill>
                    <a:srgbClr val="111111"/>
                  </a:solidFill>
                  <a:latin typeface="华文中宋" panose="02010600040101010101" pitchFamily="2" charset="-122"/>
                  <a:ea typeface="华文中宋" panose="02010600040101010101" pitchFamily="2" charset="-122"/>
                </a:rPr>
                <a:t>VFS</a:t>
              </a:r>
            </a:p>
            <a:p>
              <a:pPr indent="0" algn="ctr">
                <a:buNone/>
              </a:pPr>
              <a:r>
                <a:rPr lang="en-US" sz="1400" dirty="0">
                  <a:solidFill>
                    <a:srgbClr val="111111"/>
                  </a:solidFill>
                  <a:latin typeface="华文中宋" panose="02010600040101010101" pitchFamily="2" charset="-122"/>
                  <a:ea typeface="华文中宋" panose="02010600040101010101" pitchFamily="2" charset="-122"/>
                </a:rPr>
                <a:t>path resolve / mount / dentry / </a:t>
              </a:r>
              <a:r>
                <a:rPr lang="en-US" sz="1400" dirty="0" err="1">
                  <a:solidFill>
                    <a:srgbClr val="111111"/>
                  </a:solidFill>
                  <a:latin typeface="华文中宋" panose="02010600040101010101" pitchFamily="2" charset="-122"/>
                  <a:ea typeface="华文中宋" panose="02010600040101010101" pitchFamily="2" charset="-122"/>
                </a:rPr>
                <a:t>fd</a:t>
              </a:r>
              <a:r>
                <a:rPr lang="en-US" sz="1400" dirty="0">
                  <a:solidFill>
                    <a:srgbClr val="111111"/>
                  </a:solidFill>
                  <a:latin typeface="华文中宋" panose="02010600040101010101" pitchFamily="2" charset="-122"/>
                  <a:ea typeface="华文中宋" panose="02010600040101010101" pitchFamily="2" charset="-122"/>
                </a:rPr>
                <a:t> table</a:t>
              </a:r>
            </a:p>
          </p:txBody>
        </p:sp>
        <p:sp>
          <p:nvSpPr>
            <p:cNvPr id="10" name="Text 8"/>
            <p:cNvSpPr/>
            <p:nvPr/>
          </p:nvSpPr>
          <p:spPr>
            <a:xfrm>
              <a:off x="2067561" y="4251960"/>
              <a:ext cx="960120" cy="475488"/>
            </a:xfrm>
            <a:prstGeom prst="rect">
              <a:avLst/>
            </a:prstGeom>
            <a:solidFill>
              <a:srgbClr val="FFFFFF"/>
            </a:solidFill>
            <a:ln w="10160">
              <a:noFill/>
            </a:ln>
          </p:spPr>
          <p:txBody>
            <a:bodyPr wrap="square" lIns="635" tIns="635" rIns="635" bIns="635" rtlCol="0" anchor="ctr"/>
            <a:lstStyle/>
            <a:p>
              <a:pPr marL="0" indent="0" algn="ctr">
                <a:buNone/>
              </a:pPr>
              <a:r>
                <a:rPr lang="en-US" sz="1400" dirty="0">
                  <a:solidFill>
                    <a:srgbClr val="111111"/>
                  </a:solidFill>
                  <a:latin typeface="华文中宋" panose="02010600040101010101" pitchFamily="2" charset="-122"/>
                  <a:ea typeface="华文中宋" panose="02010600040101010101" pitchFamily="2" charset="-122"/>
                </a:rPr>
                <a:t>EXT4</a:t>
              </a:r>
            </a:p>
          </p:txBody>
        </p:sp>
        <p:sp>
          <p:nvSpPr>
            <p:cNvPr id="11" name="Text 9"/>
            <p:cNvSpPr/>
            <p:nvPr/>
          </p:nvSpPr>
          <p:spPr>
            <a:xfrm>
              <a:off x="3027681" y="4254224"/>
              <a:ext cx="960120" cy="475488"/>
            </a:xfrm>
            <a:prstGeom prst="rect">
              <a:avLst/>
            </a:prstGeom>
            <a:solidFill>
              <a:srgbClr val="FFFFFF"/>
            </a:solidFill>
            <a:ln w="10160">
              <a:noFill/>
            </a:ln>
          </p:spPr>
          <p:txBody>
            <a:bodyPr wrap="square" lIns="635" tIns="635" rIns="635" bIns="635" rtlCol="0" anchor="ctr"/>
            <a:lstStyle/>
            <a:p>
              <a:pPr marL="0" indent="0" algn="ctr">
                <a:buNone/>
              </a:pPr>
              <a:r>
                <a:rPr lang="en-US" sz="1400" dirty="0">
                  <a:solidFill>
                    <a:srgbClr val="111111"/>
                  </a:solidFill>
                  <a:latin typeface="华文中宋" panose="02010600040101010101" pitchFamily="2" charset="-122"/>
                  <a:ea typeface="华文中宋" panose="02010600040101010101" pitchFamily="2" charset="-122"/>
                </a:rPr>
                <a:t>FAT</a:t>
              </a:r>
              <a:endParaRPr lang="en-US" sz="102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987801" y="4251960"/>
              <a:ext cx="960120" cy="475488"/>
            </a:xfrm>
            <a:prstGeom prst="rect">
              <a:avLst/>
            </a:prstGeom>
            <a:solidFill>
              <a:srgbClr val="FFFFFF"/>
            </a:solidFill>
            <a:ln w="10160">
              <a:noFill/>
            </a:ln>
          </p:spPr>
          <p:txBody>
            <a:bodyPr wrap="square" lIns="635" tIns="635" rIns="635" bIns="635" rtlCol="0" anchor="ctr"/>
            <a:lstStyle/>
            <a:p>
              <a:pPr algn="ctr"/>
              <a:r>
                <a:rPr lang="en-US" sz="1400" dirty="0" err="1">
                  <a:solidFill>
                    <a:srgbClr val="111111"/>
                  </a:solidFill>
                  <a:latin typeface="华文中宋" panose="02010600040101010101" pitchFamily="2" charset="-122"/>
                  <a:ea typeface="华文中宋" panose="02010600040101010101" pitchFamily="2" charset="-122"/>
                </a:rPr>
                <a:t>tmpfs</a:t>
              </a:r>
              <a:endParaRPr lang="en-US" sz="1400" dirty="0">
                <a:solidFill>
                  <a:srgbClr val="111111"/>
                </a:solidFill>
                <a:latin typeface="华文中宋" panose="02010600040101010101" pitchFamily="2" charset="-122"/>
                <a:ea typeface="华文中宋" panose="02010600040101010101" pitchFamily="2" charset="-122"/>
              </a:endParaRPr>
            </a:p>
          </p:txBody>
        </p:sp>
        <p:sp>
          <p:nvSpPr>
            <p:cNvPr id="13" name="Text 11"/>
            <p:cNvSpPr/>
            <p:nvPr/>
          </p:nvSpPr>
          <p:spPr>
            <a:xfrm>
              <a:off x="4937760" y="4251960"/>
              <a:ext cx="960120" cy="475488"/>
            </a:xfrm>
            <a:prstGeom prst="rect">
              <a:avLst/>
            </a:prstGeom>
            <a:solidFill>
              <a:srgbClr val="FFFFFF"/>
            </a:solidFill>
            <a:ln w="10160">
              <a:noFill/>
            </a:ln>
          </p:spPr>
          <p:txBody>
            <a:bodyPr wrap="square" lIns="635" tIns="635" rIns="635" bIns="635" rtlCol="0" anchor="ctr"/>
            <a:lstStyle/>
            <a:p>
              <a:pPr algn="ctr"/>
              <a:r>
                <a:rPr lang="en-US" sz="1400" dirty="0" err="1">
                  <a:solidFill>
                    <a:srgbClr val="111111"/>
                  </a:solidFill>
                  <a:latin typeface="华文中宋" panose="02010600040101010101" pitchFamily="2" charset="-122"/>
                  <a:ea typeface="华文中宋" panose="02010600040101010101" pitchFamily="2" charset="-122"/>
                </a:rPr>
                <a:t>devfs</a:t>
              </a:r>
              <a:endParaRPr lang="en-US" sz="1400" dirty="0">
                <a:solidFill>
                  <a:srgbClr val="111111"/>
                </a:solidFill>
                <a:latin typeface="华文中宋" panose="02010600040101010101" pitchFamily="2" charset="-122"/>
                <a:ea typeface="华文中宋" panose="02010600040101010101" pitchFamily="2" charset="-122"/>
              </a:endParaRPr>
            </a:p>
          </p:txBody>
        </p:sp>
        <p:sp>
          <p:nvSpPr>
            <p:cNvPr id="14" name="Text 12"/>
            <p:cNvSpPr/>
            <p:nvPr/>
          </p:nvSpPr>
          <p:spPr>
            <a:xfrm>
              <a:off x="5902960" y="4254224"/>
              <a:ext cx="960120" cy="475488"/>
            </a:xfrm>
            <a:prstGeom prst="rect">
              <a:avLst/>
            </a:prstGeom>
            <a:solidFill>
              <a:srgbClr val="FFFFFF"/>
            </a:solidFill>
            <a:ln w="10160">
              <a:noFill/>
            </a:ln>
          </p:spPr>
          <p:txBody>
            <a:bodyPr wrap="square" lIns="635" tIns="635" rIns="635" bIns="635" rtlCol="0" anchor="ctr"/>
            <a:lstStyle/>
            <a:p>
              <a:pPr marL="0" indent="0" algn="ctr">
                <a:buNone/>
              </a:pPr>
              <a:r>
                <a:rPr lang="en-US" sz="1400" dirty="0" err="1">
                  <a:solidFill>
                    <a:srgbClr val="111111"/>
                  </a:solidFill>
                  <a:latin typeface="华文中宋" panose="02010600040101010101" pitchFamily="2" charset="-122"/>
                  <a:ea typeface="华文中宋" panose="02010600040101010101" pitchFamily="2" charset="-122"/>
                </a:rPr>
                <a:t>procfs</a:t>
              </a:r>
              <a:endParaRPr lang="en-US" sz="1400" dirty="0">
                <a:solidFill>
                  <a:srgbClr val="111111"/>
                </a:solidFill>
                <a:latin typeface="华文中宋" panose="02010600040101010101" pitchFamily="2" charset="-122"/>
                <a:ea typeface="华文中宋" panose="02010600040101010101" pitchFamily="2" charset="-122"/>
              </a:endParaRPr>
            </a:p>
          </p:txBody>
        </p:sp>
        <p:sp>
          <p:nvSpPr>
            <p:cNvPr id="15" name="Text 13"/>
            <p:cNvSpPr/>
            <p:nvPr/>
          </p:nvSpPr>
          <p:spPr>
            <a:xfrm>
              <a:off x="6863080" y="4251960"/>
              <a:ext cx="960120" cy="475488"/>
            </a:xfrm>
            <a:prstGeom prst="rect">
              <a:avLst/>
            </a:prstGeom>
            <a:solidFill>
              <a:srgbClr val="FFFFFF"/>
            </a:solidFill>
            <a:ln w="10160">
              <a:noFill/>
            </a:ln>
          </p:spPr>
          <p:txBody>
            <a:bodyPr wrap="square" lIns="635" tIns="635" rIns="635" bIns="635" rtlCol="0" anchor="ctr"/>
            <a:lstStyle/>
            <a:p>
              <a:pPr marL="0" indent="0" algn="ctr">
                <a:buNone/>
              </a:pPr>
              <a:r>
                <a:rPr lang="en-US" sz="1400" dirty="0" err="1">
                  <a:solidFill>
                    <a:srgbClr val="111111"/>
                  </a:solidFill>
                  <a:latin typeface="华文中宋" panose="02010600040101010101" pitchFamily="2" charset="-122"/>
                  <a:ea typeface="华文中宋" panose="02010600040101010101" pitchFamily="2" charset="-122"/>
                </a:rPr>
                <a:t>cgroupfs</a:t>
              </a:r>
              <a:endParaRPr lang="en-US" sz="102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7823200" y="4254224"/>
              <a:ext cx="960120" cy="475488"/>
            </a:xfrm>
            <a:prstGeom prst="rect">
              <a:avLst/>
            </a:prstGeom>
            <a:solidFill>
              <a:srgbClr val="FFFFFF"/>
            </a:solidFill>
            <a:ln w="10160">
              <a:noFill/>
            </a:ln>
          </p:spPr>
          <p:txBody>
            <a:bodyPr wrap="square" lIns="635" tIns="635" rIns="635" bIns="635" rtlCol="0" anchor="ctr"/>
            <a:lstStyle/>
            <a:p>
              <a:pPr marL="0" indent="0" algn="ctr">
                <a:buNone/>
              </a:pPr>
              <a:r>
                <a:rPr lang="en-US" sz="1400" dirty="0" err="1">
                  <a:solidFill>
                    <a:srgbClr val="111111"/>
                  </a:solidFill>
                  <a:latin typeface="华文中宋" panose="02010600040101010101" pitchFamily="2" charset="-122"/>
                  <a:ea typeface="华文中宋" panose="02010600040101010101" pitchFamily="2" charset="-122"/>
                </a:rPr>
                <a:t>overlayfs</a:t>
              </a:r>
              <a:endParaRPr lang="en-US" sz="102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8768079" y="4254224"/>
              <a:ext cx="960120" cy="475488"/>
            </a:xfrm>
            <a:prstGeom prst="rect">
              <a:avLst/>
            </a:prstGeom>
            <a:solidFill>
              <a:srgbClr val="FFFFFF"/>
            </a:solidFill>
            <a:ln w="10160">
              <a:noFill/>
            </a:ln>
          </p:spPr>
          <p:txBody>
            <a:bodyPr wrap="square" lIns="635" tIns="635" rIns="635" bIns="635" rtlCol="0" anchor="ctr"/>
            <a:lstStyle/>
            <a:p>
              <a:pPr marL="0" indent="0" algn="ctr">
                <a:buNone/>
              </a:pPr>
              <a:r>
                <a:rPr lang="en-US" sz="1400" dirty="0">
                  <a:solidFill>
                    <a:srgbClr val="111111"/>
                  </a:solidFill>
                  <a:latin typeface="华文中宋" panose="02010600040101010101" pitchFamily="2" charset="-122"/>
                  <a:ea typeface="华文中宋" panose="02010600040101010101" pitchFamily="2" charset="-122"/>
                  <a:cs typeface="等线" pitchFamily="34" charset="-120"/>
                </a:rPr>
                <a:t>staticfs</a:t>
              </a:r>
              <a:endParaRPr lang="en-US" sz="1400" dirty="0">
                <a:latin typeface="华文中宋" panose="02010600040101010101" pitchFamily="2" charset="-122"/>
                <a:ea typeface="华文中宋" panose="02010600040101010101" pitchFamily="2" charset="-122"/>
              </a:endParaRPr>
            </a:p>
          </p:txBody>
        </p:sp>
      </p:grpSp>
      <p:cxnSp>
        <p:nvCxnSpPr>
          <p:cNvPr id="19" name="直接连接符 18"/>
          <p:cNvCxnSpPr/>
          <p:nvPr/>
        </p:nvCxnSpPr>
        <p:spPr>
          <a:xfrm>
            <a:off x="519545" y="1039091"/>
            <a:ext cx="7813964" cy="0"/>
          </a:xfrm>
          <a:prstGeom prst="line">
            <a:avLst/>
          </a:prstGeom>
          <a:ln w="38100">
            <a:solidFill>
              <a:schemeClr val="bg2">
                <a:lumMod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矩形 19"/>
          <p:cNvSpPr/>
          <p:nvPr/>
        </p:nvSpPr>
        <p:spPr>
          <a:xfrm>
            <a:off x="11641282" y="342901"/>
            <a:ext cx="259773" cy="581891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文本框 20"/>
          <p:cNvSpPr txBox="1"/>
          <p:nvPr/>
        </p:nvSpPr>
        <p:spPr>
          <a:xfrm>
            <a:off x="550718" y="155351"/>
            <a:ext cx="2418080" cy="7683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4400" dirty="0">
                <a:latin typeface="华文中宋" panose="02010600040101010101" pitchFamily="2" charset="-122"/>
                <a:ea typeface="华文中宋" panose="02010600040101010101" pitchFamily="2" charset="-122"/>
                <a:sym typeface="+mn-ea"/>
              </a:rPr>
              <a:t>内核</a:t>
            </a:r>
            <a:r>
              <a:rPr lang="zh-CN" altLang="en-US" sz="4400" dirty="0">
                <a:latin typeface="华文中宋" panose="02010600040101010101" pitchFamily="2" charset="-122"/>
                <a:ea typeface="华文中宋" panose="02010600040101010101" pitchFamily="2" charset="-122"/>
              </a:rPr>
              <a:t>模块</a:t>
            </a:r>
          </a:p>
        </p:txBody>
      </p:sp>
      <p:sp>
        <p:nvSpPr>
          <p:cNvPr id="22" name="文本框 21"/>
          <p:cNvSpPr txBox="1"/>
          <p:nvPr/>
        </p:nvSpPr>
        <p:spPr>
          <a:xfrm>
            <a:off x="687774" y="1153391"/>
            <a:ext cx="209015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华文中宋" panose="02010600040101010101" pitchFamily="2" charset="-122"/>
                <a:ea typeface="华文中宋" panose="02010600040101010101" pitchFamily="2" charset="-122"/>
              </a:rPr>
              <a:t>File</a:t>
            </a:r>
            <a:endParaRPr lang="zh-CN" altLang="en-US" dirty="0">
              <a:latin typeface="华文中宋" panose="02010600040101010101" pitchFamily="2" charset="-122"/>
              <a:ea typeface="华文中宋" panose="02010600040101010101" pitchFamily="2" charset="-122"/>
            </a:endParaRPr>
          </a:p>
        </p:txBody>
      </p:sp>
      <p:sp>
        <p:nvSpPr>
          <p:cNvPr id="23" name="文本框 22"/>
          <p:cNvSpPr txBox="1"/>
          <p:nvPr/>
        </p:nvSpPr>
        <p:spPr>
          <a:xfrm>
            <a:off x="3067764" y="463127"/>
            <a:ext cx="14157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400" dirty="0">
                <a:latin typeface="华文中宋" panose="02010600040101010101" pitchFamily="2" charset="-122"/>
                <a:ea typeface="华文中宋" panose="02010600040101010101" pitchFamily="2" charset="-122"/>
              </a:rPr>
              <a:t>文件系统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4"/>
          <p:cNvSpPr/>
          <p:nvPr/>
        </p:nvSpPr>
        <p:spPr>
          <a:xfrm>
            <a:off x="3067764" y="7334617"/>
            <a:ext cx="5577840" cy="438912"/>
          </a:xfrm>
          <a:prstGeom prst="rect">
            <a:avLst/>
          </a:prstGeom>
          <a:noFill/>
        </p:spPr>
        <p:txBody>
          <a:bodyPr wrap="square" lIns="254" tIns="254" rIns="254" bIns="254" rtlCol="0" anchor="ctr"/>
          <a:lstStyle/>
          <a:p>
            <a:r>
              <a:rPr lang="en-US" sz="1450" dirty="0">
                <a:solidFill>
                  <a:srgbClr val="111111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映射类型：匿名页、文件页缓存、共享内存、锁定页等统一通过 MapArea 描述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3067764" y="7919833"/>
            <a:ext cx="5577840" cy="438912"/>
          </a:xfrm>
          <a:prstGeom prst="rect">
            <a:avLst/>
          </a:prstGeom>
          <a:noFill/>
        </p:spPr>
        <p:txBody>
          <a:bodyPr wrap="square" lIns="254" tIns="254" rIns="254" bIns="254" rtlCol="0" anchor="ctr"/>
          <a:lstStyle/>
          <a:p>
            <a:r>
              <a:rPr lang="en-US" sz="1450" dirty="0">
                <a:solidFill>
                  <a:srgbClr val="111111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用户指针：translated_byte_buffer_checked 系列在页表失败时返回 EFAULT 而非 panic</a:t>
            </a:r>
            <a:endParaRPr lang="en-US" sz="1450" dirty="0"/>
          </a:p>
        </p:txBody>
      </p:sp>
      <p:grpSp>
        <p:nvGrpSpPr>
          <p:cNvPr id="20" name="组合 19"/>
          <p:cNvGrpSpPr/>
          <p:nvPr/>
        </p:nvGrpSpPr>
        <p:grpSpPr>
          <a:xfrm>
            <a:off x="7299951" y="1833234"/>
            <a:ext cx="4341331" cy="3985670"/>
            <a:chOff x="7299951" y="1833234"/>
            <a:chExt cx="3652529" cy="2568771"/>
          </a:xfrm>
        </p:grpSpPr>
        <p:sp>
          <p:nvSpPr>
            <p:cNvPr id="8" name="Text 6"/>
            <p:cNvSpPr/>
            <p:nvPr/>
          </p:nvSpPr>
          <p:spPr>
            <a:xfrm>
              <a:off x="7299960" y="1833234"/>
              <a:ext cx="3652520" cy="475488"/>
            </a:xfrm>
            <a:prstGeom prst="rect">
              <a:avLst/>
            </a:prstGeom>
            <a:solidFill>
              <a:srgbClr val="F2F2F2"/>
            </a:solidFill>
            <a:ln w="10160">
              <a:noFill/>
            </a:ln>
          </p:spPr>
          <p:txBody>
            <a:bodyPr wrap="square" lIns="635" tIns="635" rIns="635" bIns="635" rtlCol="0" anchor="ctr"/>
            <a:lstStyle/>
            <a:p>
              <a:pPr marL="0" indent="0" algn="ctr">
                <a:buNone/>
              </a:pPr>
              <a:r>
                <a:rPr lang="en-US" dirty="0">
                  <a:solidFill>
                    <a:srgbClr val="111111"/>
                  </a:solidFill>
                  <a:latin typeface="华文中宋" panose="02010600040101010101" pitchFamily="2" charset="-122"/>
                  <a:ea typeface="华文中宋" panose="02010600040101010101" pitchFamily="2" charset="-122"/>
                  <a:cs typeface="Consolas" panose="020B0609020204030204" pitchFamily="34" charset="-120"/>
                </a:rPr>
                <a:t>MemorySet</a:t>
              </a:r>
              <a:endParaRPr lang="en-US" dirty="0">
                <a:latin typeface="华文中宋" panose="02010600040101010101" pitchFamily="2" charset="-122"/>
                <a:ea typeface="华文中宋" panose="02010600040101010101" pitchFamily="2" charset="-122"/>
              </a:endParaRPr>
            </a:p>
          </p:txBody>
        </p:sp>
        <p:sp>
          <p:nvSpPr>
            <p:cNvPr id="10" name="Text 8"/>
            <p:cNvSpPr/>
            <p:nvPr/>
          </p:nvSpPr>
          <p:spPr>
            <a:xfrm>
              <a:off x="7299959" y="2308722"/>
              <a:ext cx="3652520" cy="777240"/>
            </a:xfrm>
            <a:prstGeom prst="rect">
              <a:avLst/>
            </a:prstGeom>
            <a:solidFill>
              <a:srgbClr val="FFFFFF"/>
            </a:solidFill>
            <a:ln w="10160">
              <a:noFill/>
            </a:ln>
          </p:spPr>
          <p:txBody>
            <a:bodyPr wrap="square" lIns="635" tIns="635" rIns="635" bIns="635" rtlCol="0" anchor="ctr"/>
            <a:lstStyle/>
            <a:p>
              <a:pPr algn="ctr"/>
              <a:r>
                <a:rPr lang="en-US" dirty="0" err="1">
                  <a:solidFill>
                    <a:srgbClr val="111111"/>
                  </a:solidFill>
                  <a:latin typeface="华文中宋" panose="02010600040101010101" pitchFamily="2" charset="-122"/>
                  <a:ea typeface="华文中宋" panose="02010600040101010101" pitchFamily="2" charset="-122"/>
                </a:rPr>
                <a:t>MapArea</a:t>
              </a:r>
              <a:r>
                <a:rPr lang="en-US" dirty="0">
                  <a:solidFill>
                    <a:srgbClr val="111111"/>
                  </a:solidFill>
                  <a:latin typeface="华文中宋" panose="02010600040101010101" pitchFamily="2" charset="-122"/>
                  <a:ea typeface="华文中宋" panose="02010600040101010101" pitchFamily="2" charset="-122"/>
                </a:rPr>
                <a:t>[]</a:t>
              </a:r>
            </a:p>
            <a:p>
              <a:pPr algn="ctr"/>
              <a:r>
                <a:rPr lang="en-US" dirty="0">
                  <a:solidFill>
                    <a:srgbClr val="111111"/>
                  </a:solidFill>
                  <a:latin typeface="华文中宋" panose="02010600040101010101" pitchFamily="2" charset="-122"/>
                  <a:ea typeface="华文中宋" panose="02010600040101010101" pitchFamily="2" charset="-122"/>
                </a:rPr>
                <a:t>code / data / heap / stack / mmap / </a:t>
              </a:r>
              <a:r>
                <a:rPr lang="en-US" dirty="0" err="1">
                  <a:solidFill>
                    <a:srgbClr val="111111"/>
                  </a:solidFill>
                  <a:latin typeface="华文中宋" panose="02010600040101010101" pitchFamily="2" charset="-122"/>
                  <a:ea typeface="华文中宋" panose="02010600040101010101" pitchFamily="2" charset="-122"/>
                </a:rPr>
                <a:t>shm</a:t>
              </a:r>
              <a:endParaRPr lang="en-US" dirty="0">
                <a:solidFill>
                  <a:srgbClr val="111111"/>
                </a:solidFill>
                <a:latin typeface="华文中宋" panose="02010600040101010101" pitchFamily="2" charset="-122"/>
                <a:ea typeface="华文中宋" panose="02010600040101010101" pitchFamily="2" charset="-122"/>
              </a:endParaRPr>
            </a:p>
          </p:txBody>
        </p:sp>
        <p:sp>
          <p:nvSpPr>
            <p:cNvPr id="12" name="Text 10"/>
            <p:cNvSpPr/>
            <p:nvPr/>
          </p:nvSpPr>
          <p:spPr>
            <a:xfrm>
              <a:off x="7299959" y="3085269"/>
              <a:ext cx="3652513" cy="65836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0160">
              <a:noFill/>
            </a:ln>
          </p:spPr>
          <p:txBody>
            <a:bodyPr wrap="square" lIns="635" tIns="635" rIns="635" bIns="635" rtlCol="0" anchor="ctr"/>
            <a:lstStyle/>
            <a:p>
              <a:pPr indent="0" algn="ctr">
                <a:buNone/>
              </a:pPr>
              <a:r>
                <a:rPr lang="en-US" dirty="0" err="1">
                  <a:solidFill>
                    <a:srgbClr val="111111"/>
                  </a:solidFill>
                  <a:latin typeface="华文中宋" panose="02010600040101010101" pitchFamily="2" charset="-122"/>
                  <a:ea typeface="华文中宋" panose="02010600040101010101" pitchFamily="2" charset="-122"/>
                </a:rPr>
                <a:t>PageTable</a:t>
              </a:r>
              <a:endParaRPr lang="en-US" dirty="0">
                <a:solidFill>
                  <a:srgbClr val="111111"/>
                </a:solidFill>
                <a:latin typeface="华文中宋" panose="02010600040101010101" pitchFamily="2" charset="-122"/>
                <a:ea typeface="华文中宋" panose="02010600040101010101" pitchFamily="2" charset="-122"/>
              </a:endParaRPr>
            </a:p>
            <a:p>
              <a:pPr indent="0" algn="ctr">
                <a:buNone/>
              </a:pPr>
              <a:r>
                <a:rPr lang="en-US" dirty="0">
                  <a:solidFill>
                    <a:srgbClr val="111111"/>
                  </a:solidFill>
                  <a:latin typeface="华文中宋" panose="02010600040101010101" pitchFamily="2" charset="-122"/>
                  <a:ea typeface="华文中宋" panose="02010600040101010101" pitchFamily="2" charset="-122"/>
                </a:rPr>
                <a:t>RISC-V / LoongArch trait </a:t>
              </a:r>
              <a:r>
                <a:rPr lang="en-US" dirty="0" err="1">
                  <a:solidFill>
                    <a:srgbClr val="111111"/>
                  </a:solidFill>
                  <a:latin typeface="华文中宋" panose="02010600040101010101" pitchFamily="2" charset="-122"/>
                  <a:ea typeface="华文中宋" panose="02010600040101010101" pitchFamily="2" charset="-122"/>
                </a:rPr>
                <a:t>抽象</a:t>
              </a:r>
              <a:endParaRPr lang="en-US" dirty="0">
                <a:solidFill>
                  <a:srgbClr val="111111"/>
                </a:solidFill>
                <a:latin typeface="华文中宋" panose="02010600040101010101" pitchFamily="2" charset="-122"/>
                <a:ea typeface="华文中宋" panose="02010600040101010101" pitchFamily="2" charset="-122"/>
              </a:endParaRPr>
            </a:p>
          </p:txBody>
        </p:sp>
        <p:sp>
          <p:nvSpPr>
            <p:cNvPr id="14" name="Text 12"/>
            <p:cNvSpPr/>
            <p:nvPr/>
          </p:nvSpPr>
          <p:spPr>
            <a:xfrm>
              <a:off x="7299951" y="3743637"/>
              <a:ext cx="3652509" cy="658368"/>
            </a:xfrm>
            <a:prstGeom prst="rect">
              <a:avLst/>
            </a:prstGeom>
            <a:solidFill>
              <a:schemeClr val="bg1"/>
            </a:solidFill>
            <a:ln w="10160">
              <a:noFill/>
            </a:ln>
          </p:spPr>
          <p:txBody>
            <a:bodyPr wrap="square" lIns="635" tIns="635" rIns="635" bIns="635" rtlCol="0" anchor="ctr"/>
            <a:lstStyle/>
            <a:p>
              <a:pPr algn="ctr"/>
              <a:r>
                <a:rPr lang="en-US" dirty="0" err="1">
                  <a:solidFill>
                    <a:srgbClr val="111111"/>
                  </a:solidFill>
                  <a:latin typeface="华文中宋" panose="02010600040101010101" pitchFamily="2" charset="-122"/>
                  <a:ea typeface="华文中宋" panose="02010600040101010101" pitchFamily="2" charset="-122"/>
                </a:rPr>
                <a:t>FrameTracker</a:t>
              </a:r>
              <a:endParaRPr lang="en-US" dirty="0">
                <a:solidFill>
                  <a:srgbClr val="111111"/>
                </a:solidFill>
                <a:latin typeface="华文中宋" panose="02010600040101010101" pitchFamily="2" charset="-122"/>
                <a:ea typeface="华文中宋" panose="02010600040101010101" pitchFamily="2" charset="-122"/>
              </a:endParaRPr>
            </a:p>
            <a:p>
              <a:pPr algn="ctr"/>
              <a:r>
                <a:rPr lang="en-US" dirty="0">
                  <a:solidFill>
                    <a:srgbClr val="111111"/>
                  </a:solidFill>
                  <a:latin typeface="华文中宋" panose="02010600040101010101" pitchFamily="2" charset="-122"/>
                  <a:ea typeface="华文中宋" panose="02010600040101010101" pitchFamily="2" charset="-122"/>
                </a:rPr>
                <a:t>RAII </a:t>
              </a:r>
              <a:r>
                <a:rPr lang="en-US" dirty="0" err="1">
                  <a:solidFill>
                    <a:srgbClr val="111111"/>
                  </a:solidFill>
                  <a:latin typeface="华文中宋" panose="02010600040101010101" pitchFamily="2" charset="-122"/>
                  <a:ea typeface="华文中宋" panose="02010600040101010101" pitchFamily="2" charset="-122"/>
                </a:rPr>
                <a:t>自动回收物理帧</a:t>
              </a:r>
              <a:endParaRPr lang="en-US" dirty="0">
                <a:solidFill>
                  <a:srgbClr val="111111"/>
                </a:solidFill>
                <a:latin typeface="华文中宋" panose="02010600040101010101" pitchFamily="2" charset="-122"/>
                <a:ea typeface="华文中宋" panose="02010600040101010101" pitchFamily="2" charset="-122"/>
              </a:endParaRPr>
            </a:p>
          </p:txBody>
        </p:sp>
      </p:grpSp>
      <p:cxnSp>
        <p:nvCxnSpPr>
          <p:cNvPr id="15" name="直接连接符 14"/>
          <p:cNvCxnSpPr/>
          <p:nvPr/>
        </p:nvCxnSpPr>
        <p:spPr>
          <a:xfrm>
            <a:off x="519545" y="1039091"/>
            <a:ext cx="7813964" cy="0"/>
          </a:xfrm>
          <a:prstGeom prst="line">
            <a:avLst/>
          </a:prstGeom>
          <a:ln w="38100">
            <a:solidFill>
              <a:schemeClr val="bg2">
                <a:lumMod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矩形 15"/>
          <p:cNvSpPr/>
          <p:nvPr/>
        </p:nvSpPr>
        <p:spPr>
          <a:xfrm>
            <a:off x="11641282" y="342901"/>
            <a:ext cx="259773" cy="581891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" name="文本框 16"/>
          <p:cNvSpPr txBox="1"/>
          <p:nvPr/>
        </p:nvSpPr>
        <p:spPr>
          <a:xfrm>
            <a:off x="550718" y="155351"/>
            <a:ext cx="2418080" cy="7683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4400" dirty="0">
                <a:latin typeface="华文中宋" panose="02010600040101010101" pitchFamily="2" charset="-122"/>
                <a:ea typeface="华文中宋" panose="02010600040101010101" pitchFamily="2" charset="-122"/>
                <a:sym typeface="+mn-ea"/>
              </a:rPr>
              <a:t>内核</a:t>
            </a:r>
            <a:r>
              <a:rPr lang="zh-CN" altLang="en-US" sz="4400" dirty="0">
                <a:latin typeface="华文中宋" panose="02010600040101010101" pitchFamily="2" charset="-122"/>
                <a:ea typeface="华文中宋" panose="02010600040101010101" pitchFamily="2" charset="-122"/>
              </a:rPr>
              <a:t>模块</a:t>
            </a:r>
          </a:p>
        </p:txBody>
      </p:sp>
      <p:sp>
        <p:nvSpPr>
          <p:cNvPr id="18" name="文本框 17"/>
          <p:cNvSpPr txBox="1"/>
          <p:nvPr/>
        </p:nvSpPr>
        <p:spPr>
          <a:xfrm>
            <a:off x="687774" y="1153391"/>
            <a:ext cx="209015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华文中宋" panose="02010600040101010101" pitchFamily="2" charset="-122"/>
                <a:ea typeface="华文中宋" panose="02010600040101010101" pitchFamily="2" charset="-122"/>
              </a:rPr>
              <a:t>Memory </a:t>
            </a:r>
            <a:endParaRPr lang="zh-CN" altLang="en-US" dirty="0">
              <a:latin typeface="华文中宋" panose="02010600040101010101" pitchFamily="2" charset="-122"/>
              <a:ea typeface="华文中宋" panose="02010600040101010101" pitchFamily="2" charset="-122"/>
            </a:endParaRPr>
          </a:p>
        </p:txBody>
      </p:sp>
      <p:sp>
        <p:nvSpPr>
          <p:cNvPr id="19" name="文本框 18"/>
          <p:cNvSpPr txBox="1"/>
          <p:nvPr/>
        </p:nvSpPr>
        <p:spPr>
          <a:xfrm>
            <a:off x="3067764" y="463127"/>
            <a:ext cx="14157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400" dirty="0">
                <a:latin typeface="华文中宋" panose="02010600040101010101" pitchFamily="2" charset="-122"/>
                <a:ea typeface="华文中宋" panose="02010600040101010101" pitchFamily="2" charset="-122"/>
              </a:rPr>
              <a:t>内存管理</a:t>
            </a:r>
          </a:p>
        </p:txBody>
      </p:sp>
      <p:grpSp>
        <p:nvGrpSpPr>
          <p:cNvPr id="21" name="组合 20">
            <a:extLst>
              <a:ext uri="{FF2B5EF4-FFF2-40B4-BE49-F238E27FC236}">
                <a16:creationId xmlns:a16="http://schemas.microsoft.com/office/drawing/2014/main" id="{99A9CEFD-8578-A7A8-B1F1-066FD0F3D5E3}"/>
              </a:ext>
            </a:extLst>
          </p:cNvPr>
          <p:cNvGrpSpPr/>
          <p:nvPr/>
        </p:nvGrpSpPr>
        <p:grpSpPr>
          <a:xfrm>
            <a:off x="687774" y="1682309"/>
            <a:ext cx="5408226" cy="1162491"/>
            <a:chOff x="687774" y="1682309"/>
            <a:chExt cx="5408226" cy="1162491"/>
          </a:xfrm>
        </p:grpSpPr>
        <p:sp>
          <p:nvSpPr>
            <p:cNvPr id="2" name="矩形 1">
              <a:extLst>
                <a:ext uri="{FF2B5EF4-FFF2-40B4-BE49-F238E27FC236}">
                  <a16:creationId xmlns:a16="http://schemas.microsoft.com/office/drawing/2014/main" id="{4F12C686-7CE4-7F3C-BE51-0D7E63D12D5D}"/>
                </a:ext>
              </a:extLst>
            </p:cNvPr>
            <p:cNvSpPr/>
            <p:nvPr/>
          </p:nvSpPr>
          <p:spPr>
            <a:xfrm>
              <a:off x="777240" y="1833236"/>
              <a:ext cx="5318760" cy="101156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63500" sx="102000" sy="102000" algn="ctr" rotWithShape="0">
                <a:prstClr val="black">
                  <a:alpha val="18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9" name="矩形 8">
              <a:extLst>
                <a:ext uri="{FF2B5EF4-FFF2-40B4-BE49-F238E27FC236}">
                  <a16:creationId xmlns:a16="http://schemas.microsoft.com/office/drawing/2014/main" id="{597E794B-4B05-966D-818D-1844DE51540B}"/>
                </a:ext>
              </a:extLst>
            </p:cNvPr>
            <p:cNvSpPr/>
            <p:nvPr/>
          </p:nvSpPr>
          <p:spPr>
            <a:xfrm>
              <a:off x="687774" y="2171554"/>
              <a:ext cx="368866" cy="605553"/>
            </a:xfrm>
            <a:prstGeom prst="rect">
              <a:avLst/>
            </a:prstGeom>
            <a:solidFill>
              <a:schemeClr val="bg2">
                <a:lumMod val="2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1" name="文本框 10">
              <a:extLst>
                <a:ext uri="{FF2B5EF4-FFF2-40B4-BE49-F238E27FC236}">
                  <a16:creationId xmlns:a16="http://schemas.microsoft.com/office/drawing/2014/main" id="{DE039611-133F-1EAA-E450-5B5310C07BB4}"/>
                </a:ext>
              </a:extLst>
            </p:cNvPr>
            <p:cNvSpPr txBox="1"/>
            <p:nvPr/>
          </p:nvSpPr>
          <p:spPr>
            <a:xfrm>
              <a:off x="963303" y="1682309"/>
              <a:ext cx="954107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000" dirty="0">
                  <a:latin typeface="华文中宋" panose="02010600040101010101" pitchFamily="2" charset="-122"/>
                  <a:ea typeface="华文中宋" panose="02010600040101010101" pitchFamily="2" charset="-122"/>
                </a:rPr>
                <a:t>内核堆</a:t>
              </a:r>
            </a:p>
          </p:txBody>
        </p:sp>
        <p:sp>
          <p:nvSpPr>
            <p:cNvPr id="13" name="文本框 12">
              <a:extLst>
                <a:ext uri="{FF2B5EF4-FFF2-40B4-BE49-F238E27FC236}">
                  <a16:creationId xmlns:a16="http://schemas.microsoft.com/office/drawing/2014/main" id="{CF2E717E-9DCF-57CE-6104-7EA8EC46E817}"/>
                </a:ext>
              </a:extLst>
            </p:cNvPr>
            <p:cNvSpPr txBox="1"/>
            <p:nvPr/>
          </p:nvSpPr>
          <p:spPr>
            <a:xfrm>
              <a:off x="1300939" y="2130776"/>
              <a:ext cx="455076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 err="1">
                  <a:solidFill>
                    <a:srgbClr val="111111"/>
                  </a:solidFill>
                  <a:latin typeface="华文中宋" panose="02010600040101010101" pitchFamily="2" charset="-122"/>
                  <a:ea typeface="华文中宋" panose="02010600040101010101" pitchFamily="2" charset="-122"/>
                  <a:cs typeface="等线" pitchFamily="34" charset="-120"/>
                </a:rPr>
                <a:t>buddy_system_allocator，当前配置</a:t>
              </a:r>
              <a:r>
                <a:rPr lang="en-US" altLang="zh-CN" dirty="0">
                  <a:solidFill>
                    <a:srgbClr val="111111"/>
                  </a:solidFill>
                  <a:latin typeface="华文中宋" panose="02010600040101010101" pitchFamily="2" charset="-122"/>
                  <a:ea typeface="华文中宋" panose="02010600040101010101" pitchFamily="2" charset="-122"/>
                  <a:cs typeface="等线" pitchFamily="34" charset="-120"/>
                </a:rPr>
                <a:t> 128 MiB</a:t>
              </a:r>
              <a:endParaRPr lang="zh-CN" altLang="en-US" dirty="0">
                <a:latin typeface="华文中宋" panose="02010600040101010101" pitchFamily="2" charset="-122"/>
                <a:ea typeface="华文中宋" panose="02010600040101010101" pitchFamily="2" charset="-122"/>
              </a:endParaRPr>
            </a:p>
          </p:txBody>
        </p:sp>
      </p:grpSp>
      <p:grpSp>
        <p:nvGrpSpPr>
          <p:cNvPr id="22" name="组合 21">
            <a:extLst>
              <a:ext uri="{FF2B5EF4-FFF2-40B4-BE49-F238E27FC236}">
                <a16:creationId xmlns:a16="http://schemas.microsoft.com/office/drawing/2014/main" id="{53DE3545-973C-5621-458C-2D0B94DA7D5A}"/>
              </a:ext>
            </a:extLst>
          </p:cNvPr>
          <p:cNvGrpSpPr/>
          <p:nvPr/>
        </p:nvGrpSpPr>
        <p:grpSpPr>
          <a:xfrm>
            <a:off x="687774" y="3020393"/>
            <a:ext cx="5408226" cy="1162491"/>
            <a:chOff x="687774" y="1682309"/>
            <a:chExt cx="5408226" cy="1162491"/>
          </a:xfrm>
        </p:grpSpPr>
        <p:sp>
          <p:nvSpPr>
            <p:cNvPr id="23" name="矩形 22">
              <a:extLst>
                <a:ext uri="{FF2B5EF4-FFF2-40B4-BE49-F238E27FC236}">
                  <a16:creationId xmlns:a16="http://schemas.microsoft.com/office/drawing/2014/main" id="{4511BD3A-7452-5346-14BE-EA2F4F0B8DD0}"/>
                </a:ext>
              </a:extLst>
            </p:cNvPr>
            <p:cNvSpPr/>
            <p:nvPr/>
          </p:nvSpPr>
          <p:spPr>
            <a:xfrm>
              <a:off x="777240" y="1833236"/>
              <a:ext cx="5318760" cy="101156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63500" sx="102000" sy="102000" algn="ctr" rotWithShape="0">
                <a:prstClr val="black">
                  <a:alpha val="18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24" name="矩形 23">
              <a:extLst>
                <a:ext uri="{FF2B5EF4-FFF2-40B4-BE49-F238E27FC236}">
                  <a16:creationId xmlns:a16="http://schemas.microsoft.com/office/drawing/2014/main" id="{183D2889-3057-6BFC-B3A4-76ADF379A789}"/>
                </a:ext>
              </a:extLst>
            </p:cNvPr>
            <p:cNvSpPr/>
            <p:nvPr/>
          </p:nvSpPr>
          <p:spPr>
            <a:xfrm>
              <a:off x="687774" y="2171554"/>
              <a:ext cx="368866" cy="605553"/>
            </a:xfrm>
            <a:prstGeom prst="rect">
              <a:avLst/>
            </a:prstGeom>
            <a:solidFill>
              <a:schemeClr val="bg2">
                <a:lumMod val="2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5" name="文本框 24">
              <a:extLst>
                <a:ext uri="{FF2B5EF4-FFF2-40B4-BE49-F238E27FC236}">
                  <a16:creationId xmlns:a16="http://schemas.microsoft.com/office/drawing/2014/main" id="{E8B85CBE-26B6-EC71-0247-0FA2CB9BFED6}"/>
                </a:ext>
              </a:extLst>
            </p:cNvPr>
            <p:cNvSpPr txBox="1"/>
            <p:nvPr/>
          </p:nvSpPr>
          <p:spPr>
            <a:xfrm>
              <a:off x="963303" y="1682309"/>
              <a:ext cx="954107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000" dirty="0">
                  <a:latin typeface="华文中宋" panose="02010600040101010101" pitchFamily="2" charset="-122"/>
                  <a:ea typeface="华文中宋" panose="02010600040101010101" pitchFamily="2" charset="-122"/>
                </a:rPr>
                <a:t>物理帧</a:t>
              </a:r>
            </a:p>
          </p:txBody>
        </p:sp>
        <p:sp>
          <p:nvSpPr>
            <p:cNvPr id="26" name="文本框 25">
              <a:extLst>
                <a:ext uri="{FF2B5EF4-FFF2-40B4-BE49-F238E27FC236}">
                  <a16:creationId xmlns:a16="http://schemas.microsoft.com/office/drawing/2014/main" id="{489ABA4A-D774-2A12-D92E-E6A8C3BAF8A4}"/>
                </a:ext>
              </a:extLst>
            </p:cNvPr>
            <p:cNvSpPr txBox="1"/>
            <p:nvPr/>
          </p:nvSpPr>
          <p:spPr>
            <a:xfrm>
              <a:off x="1300939" y="2130776"/>
              <a:ext cx="455076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 err="1">
                  <a:solidFill>
                    <a:srgbClr val="111111"/>
                  </a:solidFill>
                  <a:latin typeface="华文中宋" panose="02010600040101010101" pitchFamily="2" charset="-122"/>
                  <a:ea typeface="华文中宋" panose="02010600040101010101" pitchFamily="2" charset="-122"/>
                </a:rPr>
                <a:t>StackFrameAllocator，bump</a:t>
              </a:r>
              <a:r>
                <a:rPr lang="en-US" altLang="zh-CN" dirty="0">
                  <a:solidFill>
                    <a:srgbClr val="111111"/>
                  </a:solidFill>
                  <a:latin typeface="华文中宋" panose="02010600040101010101" pitchFamily="2" charset="-122"/>
                  <a:ea typeface="华文中宋" panose="02010600040101010101" pitchFamily="2" charset="-122"/>
                </a:rPr>
                <a:t> </a:t>
              </a:r>
              <a:r>
                <a:rPr lang="en-US" altLang="zh-CN" dirty="0" err="1">
                  <a:solidFill>
                    <a:srgbClr val="111111"/>
                  </a:solidFill>
                  <a:latin typeface="华文中宋" panose="02010600040101010101" pitchFamily="2" charset="-122"/>
                  <a:ea typeface="华文中宋" panose="02010600040101010101" pitchFamily="2" charset="-122"/>
                </a:rPr>
                <a:t>分配</a:t>
              </a:r>
              <a:r>
                <a:rPr lang="en-US" altLang="zh-CN" dirty="0">
                  <a:solidFill>
                    <a:srgbClr val="111111"/>
                  </a:solidFill>
                  <a:latin typeface="华文中宋" panose="02010600040101010101" pitchFamily="2" charset="-122"/>
                  <a:ea typeface="华文中宋" panose="02010600040101010101" pitchFamily="2" charset="-122"/>
                </a:rPr>
                <a:t> + </a:t>
              </a:r>
              <a:r>
                <a:rPr lang="en-US" altLang="zh-CN" dirty="0" err="1">
                  <a:solidFill>
                    <a:srgbClr val="111111"/>
                  </a:solidFill>
                  <a:latin typeface="华文中宋" panose="02010600040101010101" pitchFamily="2" charset="-122"/>
                  <a:ea typeface="华文中宋" panose="02010600040101010101" pitchFamily="2" charset="-122"/>
                </a:rPr>
                <a:t>回收列表</a:t>
              </a:r>
              <a:r>
                <a:rPr lang="en-US" altLang="zh-CN" dirty="0">
                  <a:solidFill>
                    <a:srgbClr val="111111"/>
                  </a:solidFill>
                  <a:latin typeface="华文中宋" panose="02010600040101010101" pitchFamily="2" charset="-122"/>
                  <a:ea typeface="华文中宋" panose="02010600040101010101" pitchFamily="2" charset="-122"/>
                </a:rPr>
                <a:t> + </a:t>
              </a:r>
              <a:r>
                <a:rPr lang="en-US" altLang="zh-CN" dirty="0" err="1">
                  <a:solidFill>
                    <a:srgbClr val="111111"/>
                  </a:solidFill>
                  <a:latin typeface="华文中宋" panose="02010600040101010101" pitchFamily="2" charset="-122"/>
                  <a:ea typeface="华文中宋" panose="02010600040101010101" pitchFamily="2" charset="-122"/>
                </a:rPr>
                <a:t>引用计数</a:t>
              </a:r>
              <a:endParaRPr lang="zh-CN" altLang="en-US" dirty="0">
                <a:solidFill>
                  <a:srgbClr val="111111"/>
                </a:solidFill>
                <a:latin typeface="华文中宋" panose="02010600040101010101" pitchFamily="2" charset="-122"/>
                <a:ea typeface="华文中宋" panose="02010600040101010101" pitchFamily="2" charset="-122"/>
              </a:endParaRPr>
            </a:p>
          </p:txBody>
        </p:sp>
      </p:grpSp>
      <p:grpSp>
        <p:nvGrpSpPr>
          <p:cNvPr id="32" name="组合 31">
            <a:extLst>
              <a:ext uri="{FF2B5EF4-FFF2-40B4-BE49-F238E27FC236}">
                <a16:creationId xmlns:a16="http://schemas.microsoft.com/office/drawing/2014/main" id="{BEC963F3-6639-9BBA-AE3D-A0420FA10214}"/>
              </a:ext>
            </a:extLst>
          </p:cNvPr>
          <p:cNvGrpSpPr/>
          <p:nvPr/>
        </p:nvGrpSpPr>
        <p:grpSpPr>
          <a:xfrm>
            <a:off x="687774" y="4412731"/>
            <a:ext cx="5408226" cy="1162491"/>
            <a:chOff x="687774" y="1682309"/>
            <a:chExt cx="5408226" cy="1162491"/>
          </a:xfrm>
        </p:grpSpPr>
        <p:sp>
          <p:nvSpPr>
            <p:cNvPr id="33" name="矩形 32">
              <a:extLst>
                <a:ext uri="{FF2B5EF4-FFF2-40B4-BE49-F238E27FC236}">
                  <a16:creationId xmlns:a16="http://schemas.microsoft.com/office/drawing/2014/main" id="{C76183F4-2789-6741-BF4A-85F21176B5BF}"/>
                </a:ext>
              </a:extLst>
            </p:cNvPr>
            <p:cNvSpPr/>
            <p:nvPr/>
          </p:nvSpPr>
          <p:spPr>
            <a:xfrm>
              <a:off x="777240" y="1833236"/>
              <a:ext cx="5318760" cy="101156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63500" sx="102000" sy="102000" algn="ctr" rotWithShape="0">
                <a:prstClr val="black">
                  <a:alpha val="18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34" name="矩形 33">
              <a:extLst>
                <a:ext uri="{FF2B5EF4-FFF2-40B4-BE49-F238E27FC236}">
                  <a16:creationId xmlns:a16="http://schemas.microsoft.com/office/drawing/2014/main" id="{74AEC192-C60B-CF92-278D-94DCEBA1FBE5}"/>
                </a:ext>
              </a:extLst>
            </p:cNvPr>
            <p:cNvSpPr/>
            <p:nvPr/>
          </p:nvSpPr>
          <p:spPr>
            <a:xfrm>
              <a:off x="687774" y="2171554"/>
              <a:ext cx="368866" cy="605553"/>
            </a:xfrm>
            <a:prstGeom prst="rect">
              <a:avLst/>
            </a:prstGeom>
            <a:solidFill>
              <a:schemeClr val="bg2">
                <a:lumMod val="2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5" name="文本框 34">
              <a:extLst>
                <a:ext uri="{FF2B5EF4-FFF2-40B4-BE49-F238E27FC236}">
                  <a16:creationId xmlns:a16="http://schemas.microsoft.com/office/drawing/2014/main" id="{1766A1E0-DEFD-485A-BB10-5AA0D2FFCD44}"/>
                </a:ext>
              </a:extLst>
            </p:cNvPr>
            <p:cNvSpPr txBox="1"/>
            <p:nvPr/>
          </p:nvSpPr>
          <p:spPr>
            <a:xfrm>
              <a:off x="963303" y="1682309"/>
              <a:ext cx="1210588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000" dirty="0">
                  <a:latin typeface="华文中宋" panose="02010600040101010101" pitchFamily="2" charset="-122"/>
                  <a:ea typeface="华文中宋" panose="02010600040101010101" pitchFamily="2" charset="-122"/>
                </a:rPr>
                <a:t>地址空间</a:t>
              </a:r>
            </a:p>
          </p:txBody>
        </p:sp>
        <p:sp>
          <p:nvSpPr>
            <p:cNvPr id="36" name="文本框 35">
              <a:extLst>
                <a:ext uri="{FF2B5EF4-FFF2-40B4-BE49-F238E27FC236}">
                  <a16:creationId xmlns:a16="http://schemas.microsoft.com/office/drawing/2014/main" id="{64623899-75B2-2989-B5FC-7D6B0E9D266D}"/>
                </a:ext>
              </a:extLst>
            </p:cNvPr>
            <p:cNvSpPr txBox="1"/>
            <p:nvPr/>
          </p:nvSpPr>
          <p:spPr>
            <a:xfrm>
              <a:off x="1300939" y="2130776"/>
              <a:ext cx="455076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 err="1">
                  <a:solidFill>
                    <a:srgbClr val="111111"/>
                  </a:solidFill>
                  <a:latin typeface="华文中宋" panose="02010600040101010101" pitchFamily="2" charset="-122"/>
                  <a:ea typeface="华文中宋" panose="02010600040101010101" pitchFamily="2" charset="-122"/>
                </a:rPr>
                <a:t>MemorySet</a:t>
              </a:r>
              <a:r>
                <a:rPr lang="en-US" altLang="zh-CN" dirty="0">
                  <a:solidFill>
                    <a:srgbClr val="111111"/>
                  </a:solidFill>
                  <a:latin typeface="华文中宋" panose="02010600040101010101" pitchFamily="2" charset="-122"/>
                  <a:ea typeface="华文中宋" panose="02010600040101010101" pitchFamily="2" charset="-122"/>
                </a:rPr>
                <a:t> </a:t>
              </a:r>
              <a:r>
                <a:rPr lang="en-US" altLang="zh-CN" dirty="0" err="1">
                  <a:solidFill>
                    <a:srgbClr val="111111"/>
                  </a:solidFill>
                  <a:latin typeface="华文中宋" panose="02010600040101010101" pitchFamily="2" charset="-122"/>
                  <a:ea typeface="华文中宋" panose="02010600040101010101" pitchFamily="2" charset="-122"/>
                </a:rPr>
                <a:t>持有</a:t>
              </a:r>
              <a:r>
                <a:rPr lang="en-US" altLang="zh-CN" dirty="0">
                  <a:solidFill>
                    <a:srgbClr val="111111"/>
                  </a:solidFill>
                  <a:latin typeface="华文中宋" panose="02010600040101010101" pitchFamily="2" charset="-122"/>
                  <a:ea typeface="华文中宋" panose="02010600040101010101" pitchFamily="2" charset="-122"/>
                </a:rPr>
                <a:t> </a:t>
              </a:r>
              <a:r>
                <a:rPr lang="en-US" altLang="zh-CN" dirty="0" err="1">
                  <a:solidFill>
                    <a:srgbClr val="111111"/>
                  </a:solidFill>
                  <a:latin typeface="华文中宋" panose="02010600040101010101" pitchFamily="2" charset="-122"/>
                  <a:ea typeface="华文中宋" panose="02010600040101010101" pitchFamily="2" charset="-122"/>
                </a:rPr>
                <a:t>PageTable</a:t>
              </a:r>
              <a:r>
                <a:rPr lang="en-US" altLang="zh-CN" dirty="0">
                  <a:solidFill>
                    <a:srgbClr val="111111"/>
                  </a:solidFill>
                  <a:latin typeface="华文中宋" panose="02010600040101010101" pitchFamily="2" charset="-122"/>
                  <a:ea typeface="华文中宋" panose="02010600040101010101" pitchFamily="2" charset="-122"/>
                </a:rPr>
                <a:t> </a:t>
              </a:r>
              <a:r>
                <a:rPr lang="en-US" altLang="zh-CN" dirty="0" err="1">
                  <a:solidFill>
                    <a:srgbClr val="111111"/>
                  </a:solidFill>
                  <a:latin typeface="华文中宋" panose="02010600040101010101" pitchFamily="2" charset="-122"/>
                  <a:ea typeface="华文中宋" panose="02010600040101010101" pitchFamily="2" charset="-122"/>
                </a:rPr>
                <a:t>与按虚拟地址排序的</a:t>
              </a:r>
              <a:r>
                <a:rPr lang="en-US" altLang="zh-CN" dirty="0">
                  <a:solidFill>
                    <a:srgbClr val="111111"/>
                  </a:solidFill>
                  <a:latin typeface="华文中宋" panose="02010600040101010101" pitchFamily="2" charset="-122"/>
                  <a:ea typeface="华文中宋" panose="02010600040101010101" pitchFamily="2" charset="-122"/>
                </a:rPr>
                <a:t> </a:t>
              </a:r>
              <a:r>
                <a:rPr lang="en-US" altLang="zh-CN" dirty="0" err="1">
                  <a:solidFill>
                    <a:srgbClr val="111111"/>
                  </a:solidFill>
                  <a:latin typeface="华文中宋" panose="02010600040101010101" pitchFamily="2" charset="-122"/>
                  <a:ea typeface="华文中宋" panose="02010600040101010101" pitchFamily="2" charset="-122"/>
                </a:rPr>
                <a:t>MapArea</a:t>
              </a:r>
              <a:endParaRPr lang="zh-CN" altLang="en-US" dirty="0">
                <a:solidFill>
                  <a:srgbClr val="111111"/>
                </a:solidFill>
                <a:latin typeface="华文中宋" panose="02010600040101010101" pitchFamily="2" charset="-122"/>
                <a:ea typeface="华文中宋" panose="02010600040101010101" pitchFamily="2" charset="-122"/>
              </a:endParaRPr>
            </a:p>
          </p:txBody>
        </p:sp>
      </p:grp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685800" y="1752600"/>
            <a:ext cx="10515600" cy="320040"/>
          </a:xfrm>
          <a:prstGeom prst="rect">
            <a:avLst/>
          </a:prstGeom>
          <a:noFill/>
        </p:spPr>
        <p:txBody>
          <a:bodyPr wrap="square" lIns="381" tIns="381" rIns="381" bIns="381" rtlCol="0" anchor="t"/>
          <a:lstStyle/>
          <a:p>
            <a:pPr marL="0" indent="0">
              <a:buNone/>
            </a:pPr>
            <a:r>
              <a:rPr lang="en-US" sz="1520" dirty="0">
                <a:solidFill>
                  <a:srgbClr val="111111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缺页处理把 lazy allocation、COW 和 file-backed mmap 统一到一个路径下。</a:t>
            </a:r>
            <a:endParaRPr lang="en-US" sz="1520" dirty="0"/>
          </a:p>
        </p:txBody>
      </p:sp>
      <p:sp>
        <p:nvSpPr>
          <p:cNvPr id="4" name="Text 2"/>
          <p:cNvSpPr/>
          <p:nvPr/>
        </p:nvSpPr>
        <p:spPr>
          <a:xfrm>
            <a:off x="777240" y="2731008"/>
            <a:ext cx="1828800" cy="658368"/>
          </a:xfrm>
          <a:prstGeom prst="rect">
            <a:avLst/>
          </a:prstGeom>
          <a:solidFill>
            <a:srgbClr val="F2F2F2"/>
          </a:solidFill>
          <a:ln w="10160">
            <a:solidFill>
              <a:srgbClr val="111111"/>
            </a:solidFill>
          </a:ln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111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用户访问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111111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未映射 / 只读页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2697480" y="3060192"/>
            <a:ext cx="548640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  <a:tailEnd type="triangle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" name="Text 4"/>
          <p:cNvSpPr/>
          <p:nvPr/>
        </p:nvSpPr>
        <p:spPr>
          <a:xfrm>
            <a:off x="3337560" y="2731008"/>
            <a:ext cx="1920240" cy="658368"/>
          </a:xfrm>
          <a:prstGeom prst="rect">
            <a:avLst/>
          </a:prstGeom>
          <a:solidFill>
            <a:srgbClr val="FFFFFF"/>
          </a:solidFill>
          <a:ln w="10160">
            <a:solidFill>
              <a:srgbClr val="111111"/>
            </a:solidFill>
          </a:ln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111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trap handler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111111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识别 fault 类型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349240" y="3060192"/>
            <a:ext cx="548640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  <a:tailEnd type="triangle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" name="Text 6"/>
          <p:cNvSpPr/>
          <p:nvPr/>
        </p:nvSpPr>
        <p:spPr>
          <a:xfrm>
            <a:off x="5989320" y="2731008"/>
            <a:ext cx="1920240" cy="658368"/>
          </a:xfrm>
          <a:prstGeom prst="rect">
            <a:avLst/>
          </a:prstGeom>
          <a:solidFill>
            <a:srgbClr val="F2F2F2"/>
          </a:solidFill>
          <a:ln w="10160">
            <a:solidFill>
              <a:srgbClr val="111111"/>
            </a:solidFill>
          </a:ln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111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MemorySet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111111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查找 MapArea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8001000" y="3060192"/>
            <a:ext cx="548640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  <a:tailEnd type="triangle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" name="Text 8"/>
          <p:cNvSpPr/>
          <p:nvPr/>
        </p:nvSpPr>
        <p:spPr>
          <a:xfrm>
            <a:off x="8641080" y="2731008"/>
            <a:ext cx="2194560" cy="658368"/>
          </a:xfrm>
          <a:prstGeom prst="rect">
            <a:avLst/>
          </a:prstGeom>
          <a:solidFill>
            <a:srgbClr val="FFFFFF"/>
          </a:solidFill>
          <a:ln w="10160">
            <a:solidFill>
              <a:srgbClr val="111111"/>
            </a:solidFill>
          </a:ln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111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分配/复用物理页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111111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安装 PTE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143000" y="4632960"/>
            <a:ext cx="2468880" cy="685800"/>
          </a:xfrm>
          <a:prstGeom prst="rect">
            <a:avLst/>
          </a:prstGeom>
          <a:solidFill>
            <a:srgbClr val="FFFFFF"/>
          </a:solidFill>
          <a:ln w="10160">
            <a:solidFill>
              <a:srgbClr val="111111"/>
            </a:solidFill>
          </a:ln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111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匿名 mmap / brk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111111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实际访问时分配帧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617720" y="4632960"/>
            <a:ext cx="2468880" cy="685800"/>
          </a:xfrm>
          <a:prstGeom prst="rect">
            <a:avLst/>
          </a:prstGeom>
          <a:solidFill>
            <a:srgbClr val="FFFFFF"/>
          </a:solidFill>
          <a:ln w="10160">
            <a:solidFill>
              <a:srgbClr val="111111"/>
            </a:solidFill>
          </a:ln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111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fork COW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111111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写入时复制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092440" y="4632960"/>
            <a:ext cx="2468880" cy="685800"/>
          </a:xfrm>
          <a:prstGeom prst="rect">
            <a:avLst/>
          </a:prstGeom>
          <a:solidFill>
            <a:srgbClr val="FFFFFF"/>
          </a:solidFill>
          <a:ln w="10160">
            <a:solidFill>
              <a:srgbClr val="111111"/>
            </a:solidFill>
          </a:ln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111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file-backed mmap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111111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PAGE_CACHE 命中复用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68680" y="6233160"/>
            <a:ext cx="10058400" cy="365760"/>
          </a:xfrm>
          <a:prstGeom prst="rect">
            <a:avLst/>
          </a:prstGeom>
          <a:noFill/>
        </p:spPr>
        <p:txBody>
          <a:bodyPr wrap="square" lIns="381" tIns="381" rIns="381" bIns="381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11111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这种设计降低 fork 和 mmap 的初始开销，也为后续页缓存和 VMA 快速路径优化留下空间。</a:t>
            </a:r>
            <a:endParaRPr lang="en-US" sz="1400" dirty="0"/>
          </a:p>
        </p:txBody>
      </p:sp>
      <p:cxnSp>
        <p:nvCxnSpPr>
          <p:cNvPr id="15" name="直接连接符 14"/>
          <p:cNvCxnSpPr/>
          <p:nvPr/>
        </p:nvCxnSpPr>
        <p:spPr>
          <a:xfrm>
            <a:off x="519545" y="1039091"/>
            <a:ext cx="7813964" cy="0"/>
          </a:xfrm>
          <a:prstGeom prst="line">
            <a:avLst/>
          </a:prstGeom>
          <a:ln w="38100">
            <a:solidFill>
              <a:schemeClr val="bg2">
                <a:lumMod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矩形 15"/>
          <p:cNvSpPr/>
          <p:nvPr/>
        </p:nvSpPr>
        <p:spPr>
          <a:xfrm>
            <a:off x="11641282" y="342901"/>
            <a:ext cx="259773" cy="581891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" name="文本框 16"/>
          <p:cNvSpPr txBox="1"/>
          <p:nvPr/>
        </p:nvSpPr>
        <p:spPr>
          <a:xfrm>
            <a:off x="550718" y="155351"/>
            <a:ext cx="2418080" cy="7683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4400" dirty="0">
                <a:latin typeface="华文中宋" panose="02010600040101010101" pitchFamily="2" charset="-122"/>
                <a:ea typeface="华文中宋" panose="02010600040101010101" pitchFamily="2" charset="-122"/>
                <a:sym typeface="+mn-ea"/>
              </a:rPr>
              <a:t>内核</a:t>
            </a:r>
            <a:r>
              <a:rPr lang="zh-CN" altLang="en-US" sz="4400" dirty="0">
                <a:latin typeface="华文中宋" panose="02010600040101010101" pitchFamily="2" charset="-122"/>
                <a:ea typeface="华文中宋" panose="02010600040101010101" pitchFamily="2" charset="-122"/>
              </a:rPr>
              <a:t>模块</a:t>
            </a:r>
          </a:p>
        </p:txBody>
      </p:sp>
      <p:sp>
        <p:nvSpPr>
          <p:cNvPr id="18" name="文本框 17"/>
          <p:cNvSpPr txBox="1"/>
          <p:nvPr/>
        </p:nvSpPr>
        <p:spPr>
          <a:xfrm>
            <a:off x="685869" y="1181331"/>
            <a:ext cx="209015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华文中宋" panose="02010600040101010101" pitchFamily="2" charset="-122"/>
                <a:ea typeface="华文中宋" panose="02010600040101010101" pitchFamily="2" charset="-122"/>
              </a:rPr>
              <a:t>Memory</a:t>
            </a:r>
          </a:p>
        </p:txBody>
      </p:sp>
      <p:sp>
        <p:nvSpPr>
          <p:cNvPr id="19" name="文本框 18"/>
          <p:cNvSpPr txBox="1"/>
          <p:nvPr/>
        </p:nvSpPr>
        <p:spPr>
          <a:xfrm>
            <a:off x="3067764" y="463127"/>
            <a:ext cx="14157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400" dirty="0">
                <a:latin typeface="华文中宋" panose="02010600040101010101" pitchFamily="2" charset="-122"/>
                <a:ea typeface="华文中宋" panose="02010600040101010101" pitchFamily="2" charset="-122"/>
              </a:rPr>
              <a:t>内存管理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685800" y="2067560"/>
            <a:ext cx="10515600" cy="320040"/>
          </a:xfrm>
          <a:prstGeom prst="rect">
            <a:avLst/>
          </a:prstGeom>
          <a:noFill/>
        </p:spPr>
        <p:txBody>
          <a:bodyPr wrap="square" lIns="381" tIns="381" rIns="381" bIns="381" rtlCol="0" anchor="t"/>
          <a:lstStyle/>
          <a:p>
            <a:pPr marL="0" indent="0">
              <a:buNone/>
            </a:pPr>
            <a:r>
              <a:rPr lang="en-US" sz="1520" dirty="0">
                <a:solidFill>
                  <a:srgbClr val="111111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我们沿用 Linux task 思路，但把进程级资源和线程级状态拆成 PCB / TCB 两层。</a:t>
            </a:r>
            <a:endParaRPr lang="en-US" sz="1520" dirty="0"/>
          </a:p>
        </p:txBody>
      </p:sp>
      <p:sp>
        <p:nvSpPr>
          <p:cNvPr id="4" name="Text 2"/>
          <p:cNvSpPr/>
          <p:nvPr/>
        </p:nvSpPr>
        <p:spPr>
          <a:xfrm>
            <a:off x="914400" y="2844800"/>
            <a:ext cx="4572000" cy="1170432"/>
          </a:xfrm>
          <a:prstGeom prst="rect">
            <a:avLst/>
          </a:prstGeom>
          <a:solidFill>
            <a:srgbClr val="F2F2F2"/>
          </a:solidFill>
          <a:ln w="10160">
            <a:solidFill>
              <a:srgbClr val="111111"/>
            </a:solidFill>
          </a:ln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1060" dirty="0">
                <a:solidFill>
                  <a:srgbClr val="111111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ProcessControlBlock</a:t>
            </a:r>
            <a:endParaRPr lang="en-US" sz="1060" dirty="0"/>
          </a:p>
          <a:p>
            <a:pPr marL="0" indent="0" algn="ctr">
              <a:buNone/>
            </a:pPr>
            <a:r>
              <a:rPr lang="en-US" sz="1060" dirty="0">
                <a:solidFill>
                  <a:srgbClr val="111111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pid / memory_set / fd_table / fs context</a:t>
            </a:r>
            <a:endParaRPr lang="en-US" sz="1060" dirty="0"/>
          </a:p>
          <a:p>
            <a:pPr marL="0" indent="0" algn="ctr">
              <a:buNone/>
            </a:pPr>
            <a:r>
              <a:rPr lang="en-US" sz="1060" dirty="0">
                <a:solidFill>
                  <a:srgbClr val="111111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children / credentials / signal actions</a:t>
            </a:r>
            <a:endParaRPr lang="en-US" sz="1060" dirty="0"/>
          </a:p>
        </p:txBody>
      </p:sp>
      <p:sp>
        <p:nvSpPr>
          <p:cNvPr id="5" name="Text 3"/>
          <p:cNvSpPr/>
          <p:nvPr/>
        </p:nvSpPr>
        <p:spPr>
          <a:xfrm>
            <a:off x="6629400" y="2844800"/>
            <a:ext cx="4572000" cy="1170432"/>
          </a:xfrm>
          <a:prstGeom prst="rect">
            <a:avLst/>
          </a:prstGeom>
          <a:solidFill>
            <a:srgbClr val="F2F2F2"/>
          </a:solidFill>
          <a:ln w="10160">
            <a:solidFill>
              <a:srgbClr val="111111"/>
            </a:solidFill>
          </a:ln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1060" dirty="0">
                <a:solidFill>
                  <a:srgbClr val="111111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TaskControlBlock</a:t>
            </a:r>
            <a:endParaRPr lang="en-US" sz="1060" dirty="0"/>
          </a:p>
          <a:p>
            <a:pPr marL="0" indent="0" algn="ctr">
              <a:buNone/>
            </a:pPr>
            <a:r>
              <a:rPr lang="en-US" sz="1060" dirty="0">
                <a:solidFill>
                  <a:srgbClr val="111111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kstack / TrapContext / task_cx</a:t>
            </a:r>
            <a:endParaRPr lang="en-US" sz="1060" dirty="0"/>
          </a:p>
          <a:p>
            <a:pPr marL="0" indent="0" algn="ctr">
              <a:buNone/>
            </a:pPr>
            <a:r>
              <a:rPr lang="en-US" sz="1060" dirty="0">
                <a:solidFill>
                  <a:srgbClr val="111111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linux_tid / signal mask / sched state</a:t>
            </a:r>
            <a:endParaRPr lang="en-US" sz="1060" dirty="0"/>
          </a:p>
        </p:txBody>
      </p:sp>
      <p:sp>
        <p:nvSpPr>
          <p:cNvPr id="6" name="Shape 4"/>
          <p:cNvSpPr/>
          <p:nvPr/>
        </p:nvSpPr>
        <p:spPr>
          <a:xfrm>
            <a:off x="5577840" y="3430016"/>
            <a:ext cx="960120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  <a:headEnd type="triangle"/>
            <a:tailEnd type="triangle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Text 5"/>
          <p:cNvSpPr/>
          <p:nvPr/>
        </p:nvSpPr>
        <p:spPr>
          <a:xfrm>
            <a:off x="914400" y="4810760"/>
            <a:ext cx="10058400" cy="347472"/>
          </a:xfrm>
          <a:prstGeom prst="rect">
            <a:avLst/>
          </a:prstGeom>
          <a:noFill/>
        </p:spPr>
        <p:txBody>
          <a:bodyPr wrap="square" lIns="254" tIns="254" rIns="254" bIns="254" rtlCol="0" anchor="ctr"/>
          <a:lstStyle/>
          <a:p>
            <a:r>
              <a:rPr lang="en-US" sz="1370" dirty="0">
                <a:solidFill>
                  <a:srgbClr val="111111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clone / clone3 解析 Linux 共享标志，决定资源复制或共享</a:t>
            </a:r>
            <a:endParaRPr lang="en-US" sz="1370" dirty="0"/>
          </a:p>
        </p:txBody>
      </p:sp>
      <p:sp>
        <p:nvSpPr>
          <p:cNvPr id="8" name="Text 6"/>
          <p:cNvSpPr/>
          <p:nvPr/>
        </p:nvSpPr>
        <p:spPr>
          <a:xfrm>
            <a:off x="914400" y="5267960"/>
            <a:ext cx="10058400" cy="347472"/>
          </a:xfrm>
          <a:prstGeom prst="rect">
            <a:avLst/>
          </a:prstGeom>
          <a:noFill/>
        </p:spPr>
        <p:txBody>
          <a:bodyPr wrap="square" lIns="254" tIns="254" rIns="254" bIns="254" rtlCol="0" anchor="ctr"/>
          <a:lstStyle/>
          <a:p>
            <a:r>
              <a:rPr lang="en-US" sz="1370" dirty="0">
                <a:solidFill>
                  <a:srgbClr val="111111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execve / execveat 重建地址空间、用户栈、argv/envp/auxv，并支持 shebang 与 PT_INTERP</a:t>
            </a:r>
            <a:endParaRPr lang="en-US" sz="1370" dirty="0"/>
          </a:p>
        </p:txBody>
      </p:sp>
      <p:sp>
        <p:nvSpPr>
          <p:cNvPr id="9" name="Text 7"/>
          <p:cNvSpPr/>
          <p:nvPr/>
        </p:nvSpPr>
        <p:spPr>
          <a:xfrm>
            <a:off x="914400" y="5725160"/>
            <a:ext cx="10058400" cy="347472"/>
          </a:xfrm>
          <a:prstGeom prst="rect">
            <a:avLst/>
          </a:prstGeom>
          <a:noFill/>
        </p:spPr>
        <p:txBody>
          <a:bodyPr wrap="square" lIns="254" tIns="254" rIns="254" bIns="254" rtlCol="0" anchor="ctr"/>
          <a:lstStyle/>
          <a:p>
            <a:r>
              <a:rPr lang="en-US" sz="1370" dirty="0">
                <a:solidFill>
                  <a:srgbClr val="111111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wait4 / waitid 回收子进程，支持 WNOHANG、WUNTRACED、WCONTINUED 和 rusage</a:t>
            </a:r>
            <a:endParaRPr lang="en-US" sz="1370" dirty="0"/>
          </a:p>
        </p:txBody>
      </p:sp>
      <p:sp>
        <p:nvSpPr>
          <p:cNvPr id="10" name="Text 8"/>
          <p:cNvSpPr/>
          <p:nvPr/>
        </p:nvSpPr>
        <p:spPr>
          <a:xfrm>
            <a:off x="914400" y="6182360"/>
            <a:ext cx="10058400" cy="347472"/>
          </a:xfrm>
          <a:prstGeom prst="rect">
            <a:avLst/>
          </a:prstGeom>
          <a:noFill/>
        </p:spPr>
        <p:txBody>
          <a:bodyPr wrap="square" lIns="254" tIns="254" rIns="254" bIns="254" rtlCol="0" anchor="ctr"/>
          <a:lstStyle/>
          <a:p>
            <a:r>
              <a:rPr lang="en-US" sz="1370" dirty="0">
                <a:solidFill>
                  <a:srgbClr val="111111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exit / exit_group 处理 clear_child_tid、robust list、子进程收养和延迟释放</a:t>
            </a:r>
            <a:endParaRPr lang="en-US" sz="1370" dirty="0"/>
          </a:p>
        </p:txBody>
      </p:sp>
      <p:cxnSp>
        <p:nvCxnSpPr>
          <p:cNvPr id="11" name="直接连接符 10"/>
          <p:cNvCxnSpPr/>
          <p:nvPr/>
        </p:nvCxnSpPr>
        <p:spPr>
          <a:xfrm>
            <a:off x="519545" y="1039091"/>
            <a:ext cx="7813964" cy="0"/>
          </a:xfrm>
          <a:prstGeom prst="line">
            <a:avLst/>
          </a:prstGeom>
          <a:ln w="38100">
            <a:solidFill>
              <a:schemeClr val="bg2">
                <a:lumMod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矩形 11"/>
          <p:cNvSpPr/>
          <p:nvPr/>
        </p:nvSpPr>
        <p:spPr>
          <a:xfrm>
            <a:off x="11641282" y="342901"/>
            <a:ext cx="259773" cy="581891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" name="文本框 12"/>
          <p:cNvSpPr txBox="1"/>
          <p:nvPr/>
        </p:nvSpPr>
        <p:spPr>
          <a:xfrm>
            <a:off x="550718" y="155351"/>
            <a:ext cx="2418080" cy="7683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4400" dirty="0">
                <a:latin typeface="华文中宋" panose="02010600040101010101" pitchFamily="2" charset="-122"/>
                <a:ea typeface="华文中宋" panose="02010600040101010101" pitchFamily="2" charset="-122"/>
                <a:sym typeface="+mn-ea"/>
              </a:rPr>
              <a:t>内核</a:t>
            </a:r>
            <a:r>
              <a:rPr lang="zh-CN" altLang="en-US" sz="4400" dirty="0">
                <a:latin typeface="华文中宋" panose="02010600040101010101" pitchFamily="2" charset="-122"/>
                <a:ea typeface="华文中宋" panose="02010600040101010101" pitchFamily="2" charset="-122"/>
              </a:rPr>
              <a:t>模块</a:t>
            </a:r>
          </a:p>
        </p:txBody>
      </p:sp>
      <p:sp>
        <p:nvSpPr>
          <p:cNvPr id="14" name="文本框 13"/>
          <p:cNvSpPr txBox="1"/>
          <p:nvPr/>
        </p:nvSpPr>
        <p:spPr>
          <a:xfrm>
            <a:off x="687774" y="1153391"/>
            <a:ext cx="209015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华文中宋" panose="02010600040101010101" pitchFamily="2" charset="-122"/>
                <a:ea typeface="华文中宋" panose="02010600040101010101" pitchFamily="2" charset="-122"/>
              </a:rPr>
              <a:t>Process</a:t>
            </a:r>
            <a:endParaRPr lang="zh-CN" altLang="en-US" dirty="0">
              <a:latin typeface="华文中宋" panose="02010600040101010101" pitchFamily="2" charset="-122"/>
              <a:ea typeface="华文中宋" panose="02010600040101010101" pitchFamily="2" charset="-122"/>
            </a:endParaRPr>
          </a:p>
        </p:txBody>
      </p:sp>
      <p:sp>
        <p:nvSpPr>
          <p:cNvPr id="15" name="文本框 14"/>
          <p:cNvSpPr txBox="1"/>
          <p:nvPr/>
        </p:nvSpPr>
        <p:spPr>
          <a:xfrm>
            <a:off x="3067764" y="463127"/>
            <a:ext cx="14157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400" dirty="0">
                <a:latin typeface="华文中宋" panose="02010600040101010101" pitchFamily="2" charset="-122"/>
                <a:ea typeface="华文中宋" panose="02010600040101010101" pitchFamily="2" charset="-122"/>
              </a:rPr>
              <a:t>进程管理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685800" y="2443480"/>
            <a:ext cx="10515600" cy="320040"/>
          </a:xfrm>
          <a:prstGeom prst="rect">
            <a:avLst/>
          </a:prstGeom>
          <a:noFill/>
        </p:spPr>
        <p:txBody>
          <a:bodyPr wrap="square" lIns="381" tIns="381" rIns="381" bIns="381" rtlCol="0" anchor="t"/>
          <a:lstStyle/>
          <a:p>
            <a:pPr marL="0" indent="0">
              <a:buNone/>
            </a:pPr>
            <a:r>
              <a:rPr lang="en-US" sz="1520" dirty="0">
                <a:solidFill>
                  <a:srgbClr val="111111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调度器同时支持普通任务和实时任务，pthread 兼容依赖 futex 与 robust list。</a:t>
            </a:r>
            <a:endParaRPr lang="en-US" sz="1520" dirty="0"/>
          </a:p>
        </p:txBody>
      </p:sp>
      <p:sp>
        <p:nvSpPr>
          <p:cNvPr id="4" name="Text 2"/>
          <p:cNvSpPr/>
          <p:nvPr/>
        </p:nvSpPr>
        <p:spPr>
          <a:xfrm>
            <a:off x="914400" y="3110992"/>
            <a:ext cx="2011680" cy="502920"/>
          </a:xfrm>
          <a:prstGeom prst="rect">
            <a:avLst/>
          </a:prstGeom>
          <a:solidFill>
            <a:srgbClr val="F2F2F2"/>
          </a:solidFill>
          <a:ln w="10160">
            <a:solidFill>
              <a:srgbClr val="111111"/>
            </a:solidFill>
          </a:ln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11111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TaskManager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920240" y="3659632"/>
            <a:ext cx="0" cy="338328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  <a:tailEnd type="triangle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" name="Text 4"/>
          <p:cNvSpPr/>
          <p:nvPr/>
        </p:nvSpPr>
        <p:spPr>
          <a:xfrm>
            <a:off x="685800" y="4061968"/>
            <a:ext cx="2468880" cy="694944"/>
          </a:xfrm>
          <a:prstGeom prst="rect">
            <a:avLst/>
          </a:prstGeom>
          <a:solidFill>
            <a:srgbClr val="FFFFFF"/>
          </a:solidFill>
          <a:ln w="10160">
            <a:solidFill>
              <a:srgbClr val="111111"/>
            </a:solidFill>
          </a:ln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111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RT queues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111111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100 个优先级桶 + bitmap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566160" y="4061968"/>
            <a:ext cx="2468880" cy="694944"/>
          </a:xfrm>
          <a:prstGeom prst="rect">
            <a:avLst/>
          </a:prstGeom>
          <a:solidFill>
            <a:srgbClr val="FFFFFF"/>
          </a:solidFill>
          <a:ln w="10160">
            <a:solidFill>
              <a:srgbClr val="111111"/>
            </a:solidFill>
          </a:ln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11111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normal_queue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111111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BTreeMap(vruntime, seq)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218688" y="4409440"/>
            <a:ext cx="256032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  <a:tailEnd type="triangle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" name="Shape 7"/>
          <p:cNvSpPr/>
          <p:nvPr/>
        </p:nvSpPr>
        <p:spPr>
          <a:xfrm>
            <a:off x="4800600" y="4820920"/>
            <a:ext cx="0" cy="338328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  <a:tailEnd type="triangle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" name="Text 8"/>
          <p:cNvSpPr/>
          <p:nvPr/>
        </p:nvSpPr>
        <p:spPr>
          <a:xfrm>
            <a:off x="3566160" y="5214112"/>
            <a:ext cx="2468880" cy="694944"/>
          </a:xfrm>
          <a:prstGeom prst="rect">
            <a:avLst/>
          </a:prstGeom>
          <a:solidFill>
            <a:srgbClr val="F2F2F2"/>
          </a:solidFill>
          <a:ln w="10160">
            <a:solidFill>
              <a:srgbClr val="111111"/>
            </a:solidFill>
          </a:ln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111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fetch_task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111111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优先 RT，其次最小 vruntime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583680" y="3175000"/>
            <a:ext cx="4709160" cy="457200"/>
          </a:xfrm>
          <a:prstGeom prst="rect">
            <a:avLst/>
          </a:prstGeom>
          <a:noFill/>
        </p:spPr>
        <p:txBody>
          <a:bodyPr wrap="square" lIns="254" tIns="254" rIns="254" bIns="254" rtlCol="0" anchor="ctr"/>
          <a:lstStyle/>
          <a:p>
            <a:r>
              <a:rPr lang="en-US" sz="1330" dirty="0">
                <a:solidFill>
                  <a:srgbClr val="111111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set_tid_address：线程退出时清零 clear_child_tid 并唤醒 futex</a:t>
            </a:r>
            <a:endParaRPr lang="en-US" sz="1330" dirty="0"/>
          </a:p>
        </p:txBody>
      </p:sp>
      <p:sp>
        <p:nvSpPr>
          <p:cNvPr id="12" name="Text 10"/>
          <p:cNvSpPr/>
          <p:nvPr/>
        </p:nvSpPr>
        <p:spPr>
          <a:xfrm>
            <a:off x="6583680" y="3769360"/>
            <a:ext cx="4709160" cy="457200"/>
          </a:xfrm>
          <a:prstGeom prst="rect">
            <a:avLst/>
          </a:prstGeom>
          <a:noFill/>
        </p:spPr>
        <p:txBody>
          <a:bodyPr wrap="square" lIns="254" tIns="254" rIns="254" bIns="254" rtlCol="0" anchor="ctr"/>
          <a:lstStyle/>
          <a:p>
            <a:r>
              <a:rPr lang="en-US" sz="1330" dirty="0">
                <a:solidFill>
                  <a:srgbClr val="111111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futex WAIT / WAKE / REQUEUE：支撑 musl pthread mutex / condvar / join 主路径</a:t>
            </a:r>
            <a:endParaRPr lang="en-US" sz="1330" dirty="0"/>
          </a:p>
        </p:txBody>
      </p:sp>
      <p:sp>
        <p:nvSpPr>
          <p:cNvPr id="13" name="Text 11"/>
          <p:cNvSpPr/>
          <p:nvPr/>
        </p:nvSpPr>
        <p:spPr>
          <a:xfrm>
            <a:off x="6583680" y="4363720"/>
            <a:ext cx="4709160" cy="457200"/>
          </a:xfrm>
          <a:prstGeom prst="rect">
            <a:avLst/>
          </a:prstGeom>
          <a:noFill/>
        </p:spPr>
        <p:txBody>
          <a:bodyPr wrap="square" lIns="254" tIns="254" rIns="254" bIns="254" rtlCol="0" anchor="ctr"/>
          <a:lstStyle/>
          <a:p>
            <a:r>
              <a:rPr lang="en-US" sz="1330" dirty="0">
                <a:solidFill>
                  <a:srgbClr val="111111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robust list：线程退出时标记 owner-death，兼容 robust mutex 场景</a:t>
            </a:r>
            <a:endParaRPr lang="en-US" sz="1330" dirty="0"/>
          </a:p>
        </p:txBody>
      </p:sp>
      <p:sp>
        <p:nvSpPr>
          <p:cNvPr id="14" name="Text 12"/>
          <p:cNvSpPr/>
          <p:nvPr/>
        </p:nvSpPr>
        <p:spPr>
          <a:xfrm>
            <a:off x="6583680" y="4958080"/>
            <a:ext cx="4709160" cy="457200"/>
          </a:xfrm>
          <a:prstGeom prst="rect">
            <a:avLst/>
          </a:prstGeom>
          <a:noFill/>
        </p:spPr>
        <p:txBody>
          <a:bodyPr wrap="square" lIns="254" tIns="254" rIns="254" bIns="254" rtlCol="0" anchor="ctr"/>
          <a:lstStyle/>
          <a:p>
            <a:r>
              <a:rPr lang="en-US" sz="1330" dirty="0">
                <a:solidFill>
                  <a:srgbClr val="111111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信号、调度和退出路径共享 TCB 状态，避免进程级资源和线程状态混淆</a:t>
            </a:r>
            <a:endParaRPr lang="en-US" sz="1330" dirty="0"/>
          </a:p>
        </p:txBody>
      </p:sp>
      <p:cxnSp>
        <p:nvCxnSpPr>
          <p:cNvPr id="15" name="直接连接符 14"/>
          <p:cNvCxnSpPr/>
          <p:nvPr/>
        </p:nvCxnSpPr>
        <p:spPr>
          <a:xfrm>
            <a:off x="519545" y="1039091"/>
            <a:ext cx="7813964" cy="0"/>
          </a:xfrm>
          <a:prstGeom prst="line">
            <a:avLst/>
          </a:prstGeom>
          <a:ln w="38100">
            <a:solidFill>
              <a:schemeClr val="bg2">
                <a:lumMod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矩形 15"/>
          <p:cNvSpPr/>
          <p:nvPr/>
        </p:nvSpPr>
        <p:spPr>
          <a:xfrm>
            <a:off x="11641282" y="342901"/>
            <a:ext cx="259773" cy="581891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" name="文本框 16"/>
          <p:cNvSpPr txBox="1"/>
          <p:nvPr/>
        </p:nvSpPr>
        <p:spPr>
          <a:xfrm>
            <a:off x="550718" y="155351"/>
            <a:ext cx="2418080" cy="7683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4400" dirty="0">
                <a:latin typeface="华文中宋" panose="02010600040101010101" pitchFamily="2" charset="-122"/>
                <a:ea typeface="华文中宋" panose="02010600040101010101" pitchFamily="2" charset="-122"/>
                <a:sym typeface="+mn-ea"/>
              </a:rPr>
              <a:t>内核</a:t>
            </a:r>
            <a:r>
              <a:rPr lang="zh-CN" altLang="en-US" sz="4400" dirty="0">
                <a:latin typeface="华文中宋" panose="02010600040101010101" pitchFamily="2" charset="-122"/>
                <a:ea typeface="华文中宋" panose="02010600040101010101" pitchFamily="2" charset="-122"/>
              </a:rPr>
              <a:t>模块</a:t>
            </a:r>
          </a:p>
        </p:txBody>
      </p:sp>
      <p:sp>
        <p:nvSpPr>
          <p:cNvPr id="18" name="文本框 17"/>
          <p:cNvSpPr txBox="1"/>
          <p:nvPr/>
        </p:nvSpPr>
        <p:spPr>
          <a:xfrm>
            <a:off x="687774" y="1153391"/>
            <a:ext cx="209015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华文中宋" panose="02010600040101010101" pitchFamily="2" charset="-122"/>
                <a:ea typeface="华文中宋" panose="02010600040101010101" pitchFamily="2" charset="-122"/>
              </a:rPr>
              <a:t>Process</a:t>
            </a:r>
            <a:endParaRPr lang="zh-CN" altLang="en-US" dirty="0">
              <a:latin typeface="华文中宋" panose="02010600040101010101" pitchFamily="2" charset="-122"/>
              <a:ea typeface="华文中宋" panose="02010600040101010101" pitchFamily="2" charset="-122"/>
            </a:endParaRPr>
          </a:p>
        </p:txBody>
      </p:sp>
      <p:sp>
        <p:nvSpPr>
          <p:cNvPr id="19" name="文本框 18"/>
          <p:cNvSpPr txBox="1"/>
          <p:nvPr/>
        </p:nvSpPr>
        <p:spPr>
          <a:xfrm>
            <a:off x="3067764" y="463127"/>
            <a:ext cx="14157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400" dirty="0">
                <a:latin typeface="华文中宋" panose="02010600040101010101" pitchFamily="2" charset="-122"/>
                <a:ea typeface="华文中宋" panose="02010600040101010101" pitchFamily="2" charset="-122"/>
              </a:rPr>
              <a:t>进程管理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685800" y="1945640"/>
            <a:ext cx="10515600" cy="320040"/>
          </a:xfrm>
          <a:prstGeom prst="rect">
            <a:avLst/>
          </a:prstGeom>
          <a:noFill/>
        </p:spPr>
        <p:txBody>
          <a:bodyPr wrap="square" lIns="381" tIns="381" rIns="381" bIns="381" rtlCol="0" anchor="t"/>
          <a:lstStyle/>
          <a:p>
            <a:pPr marL="0" indent="0">
              <a:buNone/>
            </a:pPr>
            <a:r>
              <a:rPr lang="en-US" sz="1520" dirty="0">
                <a:solidFill>
                  <a:srgbClr val="111111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信号系统兼容 Linux rt_sigaction / rt_sigprocmask / rt_sigreturn 主路径。</a:t>
            </a:r>
            <a:endParaRPr lang="en-US" sz="1520" dirty="0"/>
          </a:p>
        </p:txBody>
      </p:sp>
      <p:sp>
        <p:nvSpPr>
          <p:cNvPr id="4" name="Text 2"/>
          <p:cNvSpPr/>
          <p:nvPr/>
        </p:nvSpPr>
        <p:spPr>
          <a:xfrm>
            <a:off x="731520" y="2860040"/>
            <a:ext cx="2057400" cy="658368"/>
          </a:xfrm>
          <a:prstGeom prst="rect">
            <a:avLst/>
          </a:prstGeom>
          <a:solidFill>
            <a:srgbClr val="F2F2F2"/>
          </a:solidFill>
          <a:ln w="10160">
            <a:solidFill>
              <a:srgbClr val="111111"/>
            </a:solidFill>
          </a:ln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111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syscall / trap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111111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准备返回用户态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2880360" y="3198368"/>
            <a:ext cx="548640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  <a:tailEnd type="triangle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" name="Text 4"/>
          <p:cNvSpPr/>
          <p:nvPr/>
        </p:nvSpPr>
        <p:spPr>
          <a:xfrm>
            <a:off x="3520440" y="2860040"/>
            <a:ext cx="2423160" cy="658368"/>
          </a:xfrm>
          <a:prstGeom prst="rect">
            <a:avLst/>
          </a:prstGeom>
          <a:solidFill>
            <a:srgbClr val="FFFFFF"/>
          </a:solidFill>
          <a:ln w="10160">
            <a:solidFill>
              <a:srgbClr val="111111"/>
            </a:solidFill>
          </a:ln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1080" dirty="0">
                <a:solidFill>
                  <a:srgbClr val="111111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check_signals_of_current</a:t>
            </a:r>
            <a:endParaRPr lang="en-US" sz="1080" dirty="0"/>
          </a:p>
          <a:p>
            <a:pPr marL="0" indent="0" algn="ctr">
              <a:buNone/>
            </a:pPr>
            <a:r>
              <a:rPr lang="en-US" sz="1080" dirty="0">
                <a:solidFill>
                  <a:srgbClr val="111111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跳过被 mask 的信号</a:t>
            </a:r>
            <a:endParaRPr lang="en-US" sz="1080" dirty="0"/>
          </a:p>
        </p:txBody>
      </p:sp>
      <p:sp>
        <p:nvSpPr>
          <p:cNvPr id="7" name="Shape 5"/>
          <p:cNvSpPr/>
          <p:nvPr/>
        </p:nvSpPr>
        <p:spPr>
          <a:xfrm>
            <a:off x="6035040" y="3198368"/>
            <a:ext cx="548640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  <a:tailEnd type="triangle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" name="Text 6"/>
          <p:cNvSpPr/>
          <p:nvPr/>
        </p:nvSpPr>
        <p:spPr>
          <a:xfrm>
            <a:off x="6675120" y="2860040"/>
            <a:ext cx="2057400" cy="658368"/>
          </a:xfrm>
          <a:prstGeom prst="rect">
            <a:avLst/>
          </a:prstGeom>
          <a:solidFill>
            <a:srgbClr val="F2F2F2"/>
          </a:solidFill>
          <a:ln w="10160">
            <a:solidFill>
              <a:srgbClr val="111111"/>
            </a:solidFill>
          </a:ln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111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构造 sigframe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111111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修改用户 PC/SP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8823960" y="3198368"/>
            <a:ext cx="548640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  <a:tailEnd type="triangle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" name="Text 8"/>
          <p:cNvSpPr/>
          <p:nvPr/>
        </p:nvSpPr>
        <p:spPr>
          <a:xfrm>
            <a:off x="9464040" y="2860040"/>
            <a:ext cx="1965960" cy="658368"/>
          </a:xfrm>
          <a:prstGeom prst="rect">
            <a:avLst/>
          </a:prstGeom>
          <a:solidFill>
            <a:srgbClr val="FFFFFF"/>
          </a:solidFill>
          <a:ln w="10160">
            <a:solidFill>
              <a:srgbClr val="111111"/>
            </a:solidFill>
          </a:ln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1060" dirty="0">
                <a:solidFill>
                  <a:srgbClr val="111111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handler 执行</a:t>
            </a:r>
            <a:endParaRPr lang="en-US" sz="1060" dirty="0"/>
          </a:p>
          <a:p>
            <a:pPr marL="0" indent="0" algn="ctr">
              <a:buNone/>
            </a:pPr>
            <a:r>
              <a:rPr lang="en-US" sz="1060" dirty="0">
                <a:solidFill>
                  <a:srgbClr val="111111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rt_sigreturn 恢复上下文</a:t>
            </a:r>
            <a:endParaRPr lang="en-US" sz="1060" dirty="0"/>
          </a:p>
        </p:txBody>
      </p:sp>
      <p:sp>
        <p:nvSpPr>
          <p:cNvPr id="11" name="Text 9"/>
          <p:cNvSpPr/>
          <p:nvPr/>
        </p:nvSpPr>
        <p:spPr>
          <a:xfrm>
            <a:off x="914400" y="4734560"/>
            <a:ext cx="10058400" cy="347472"/>
          </a:xfrm>
          <a:prstGeom prst="rect">
            <a:avLst/>
          </a:prstGeom>
          <a:noFill/>
        </p:spPr>
        <p:txBody>
          <a:bodyPr wrap="square" lIns="254" tIns="254" rIns="254" bIns="254" rtlCol="0" anchor="ctr"/>
          <a:lstStyle/>
          <a:p>
            <a:r>
              <a:rPr lang="en-US" sz="1420" dirty="0">
                <a:solidFill>
                  <a:srgbClr val="111111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TCB 保存信号掩码、待处理信号位图与附加信息</a:t>
            </a:r>
            <a:endParaRPr lang="en-US" sz="1420" dirty="0"/>
          </a:p>
        </p:txBody>
      </p:sp>
      <p:sp>
        <p:nvSpPr>
          <p:cNvPr id="12" name="Text 10"/>
          <p:cNvSpPr/>
          <p:nvPr/>
        </p:nvSpPr>
        <p:spPr>
          <a:xfrm>
            <a:off x="914400" y="5191760"/>
            <a:ext cx="10058400" cy="347472"/>
          </a:xfrm>
          <a:prstGeom prst="rect">
            <a:avLst/>
          </a:prstGeom>
          <a:noFill/>
        </p:spPr>
        <p:txBody>
          <a:bodyPr wrap="square" lIns="254" tIns="254" rIns="254" bIns="254" rtlCol="0" anchor="ctr"/>
          <a:lstStyle/>
          <a:p>
            <a:r>
              <a:rPr lang="en-US" sz="1420" dirty="0">
                <a:solidFill>
                  <a:srgbClr val="111111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PCB 保存每个信号的处理动作表</a:t>
            </a:r>
            <a:endParaRPr lang="en-US" sz="1420" dirty="0"/>
          </a:p>
        </p:txBody>
      </p:sp>
      <p:sp>
        <p:nvSpPr>
          <p:cNvPr id="13" name="Text 11"/>
          <p:cNvSpPr/>
          <p:nvPr/>
        </p:nvSpPr>
        <p:spPr>
          <a:xfrm>
            <a:off x="914400" y="5648960"/>
            <a:ext cx="10058400" cy="347472"/>
          </a:xfrm>
          <a:prstGeom prst="rect">
            <a:avLst/>
          </a:prstGeom>
          <a:noFill/>
        </p:spPr>
        <p:txBody>
          <a:bodyPr wrap="square" lIns="254" tIns="254" rIns="254" bIns="254" rtlCol="0" anchor="ctr"/>
          <a:lstStyle/>
          <a:p>
            <a:r>
              <a:rPr lang="en-US" sz="1420" dirty="0">
                <a:solidFill>
                  <a:srgbClr val="111111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vdso 中的 __vdso_rt_sigreturn trampoline 作为用户态返回入口</a:t>
            </a:r>
            <a:endParaRPr lang="en-US" sz="1420" dirty="0"/>
          </a:p>
        </p:txBody>
      </p:sp>
      <p:sp>
        <p:nvSpPr>
          <p:cNvPr id="14" name="Text 12"/>
          <p:cNvSpPr/>
          <p:nvPr/>
        </p:nvSpPr>
        <p:spPr>
          <a:xfrm>
            <a:off x="914400" y="6106160"/>
            <a:ext cx="10058400" cy="347472"/>
          </a:xfrm>
          <a:prstGeom prst="rect">
            <a:avLst/>
          </a:prstGeom>
          <a:noFill/>
        </p:spPr>
        <p:txBody>
          <a:bodyPr wrap="square" lIns="254" tIns="254" rIns="254" bIns="254" rtlCol="0" anchor="ctr"/>
          <a:lstStyle/>
          <a:p>
            <a:r>
              <a:rPr lang="en-US" sz="1420" dirty="0">
                <a:solidFill>
                  <a:srgbClr val="111111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RISC-V 与 LoongArch 各自恢复 TrapContext，但 syscall 层语义一致</a:t>
            </a:r>
            <a:endParaRPr lang="en-US" sz="1420" dirty="0"/>
          </a:p>
        </p:txBody>
      </p:sp>
      <p:cxnSp>
        <p:nvCxnSpPr>
          <p:cNvPr id="15" name="直接连接符 14"/>
          <p:cNvCxnSpPr/>
          <p:nvPr/>
        </p:nvCxnSpPr>
        <p:spPr>
          <a:xfrm>
            <a:off x="519545" y="1039091"/>
            <a:ext cx="7813964" cy="0"/>
          </a:xfrm>
          <a:prstGeom prst="line">
            <a:avLst/>
          </a:prstGeom>
          <a:ln w="38100">
            <a:solidFill>
              <a:schemeClr val="bg2">
                <a:lumMod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矩形 15"/>
          <p:cNvSpPr/>
          <p:nvPr/>
        </p:nvSpPr>
        <p:spPr>
          <a:xfrm>
            <a:off x="11641282" y="342901"/>
            <a:ext cx="259773" cy="581891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" name="文本框 16"/>
          <p:cNvSpPr txBox="1"/>
          <p:nvPr/>
        </p:nvSpPr>
        <p:spPr>
          <a:xfrm>
            <a:off x="550718" y="155351"/>
            <a:ext cx="2418080" cy="7683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4400" dirty="0">
                <a:latin typeface="华文中宋" panose="02010600040101010101" pitchFamily="2" charset="-122"/>
                <a:ea typeface="华文中宋" panose="02010600040101010101" pitchFamily="2" charset="-122"/>
                <a:sym typeface="+mn-ea"/>
              </a:rPr>
              <a:t>内核</a:t>
            </a:r>
            <a:r>
              <a:rPr lang="zh-CN" altLang="en-US" sz="4400" dirty="0">
                <a:latin typeface="华文中宋" panose="02010600040101010101" pitchFamily="2" charset="-122"/>
                <a:ea typeface="华文中宋" panose="02010600040101010101" pitchFamily="2" charset="-122"/>
              </a:rPr>
              <a:t>模块</a:t>
            </a:r>
          </a:p>
        </p:txBody>
      </p:sp>
      <p:sp>
        <p:nvSpPr>
          <p:cNvPr id="18" name="文本框 17"/>
          <p:cNvSpPr txBox="1"/>
          <p:nvPr/>
        </p:nvSpPr>
        <p:spPr>
          <a:xfrm>
            <a:off x="687774" y="1153391"/>
            <a:ext cx="209015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华文中宋" panose="02010600040101010101" pitchFamily="2" charset="-122"/>
                <a:ea typeface="华文中宋" panose="02010600040101010101" pitchFamily="2" charset="-122"/>
              </a:rPr>
              <a:t>Signal</a:t>
            </a:r>
            <a:endParaRPr lang="zh-CN" altLang="en-US" dirty="0">
              <a:latin typeface="华文中宋" panose="02010600040101010101" pitchFamily="2" charset="-122"/>
              <a:ea typeface="华文中宋" panose="02010600040101010101" pitchFamily="2" charset="-122"/>
            </a:endParaRPr>
          </a:p>
        </p:txBody>
      </p:sp>
      <p:sp>
        <p:nvSpPr>
          <p:cNvPr id="19" name="文本框 18"/>
          <p:cNvSpPr txBox="1"/>
          <p:nvPr/>
        </p:nvSpPr>
        <p:spPr>
          <a:xfrm>
            <a:off x="3067764" y="463127"/>
            <a:ext cx="14157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400" dirty="0">
                <a:latin typeface="华文中宋" panose="02010600040101010101" pitchFamily="2" charset="-122"/>
                <a:ea typeface="华文中宋" panose="02010600040101010101" pitchFamily="2" charset="-122"/>
              </a:rPr>
              <a:t>信号处理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685800" y="1803400"/>
            <a:ext cx="10515600" cy="438912"/>
          </a:xfrm>
          <a:prstGeom prst="rect">
            <a:avLst/>
          </a:prstGeom>
          <a:noFill/>
        </p:spPr>
        <p:txBody>
          <a:bodyPr wrap="square" lIns="381" tIns="381" rIns="381" bIns="381" rtlCol="0" anchor="t"/>
          <a:lstStyle/>
          <a:p>
            <a:pPr marL="0" indent="0">
              <a:buNone/>
            </a:pPr>
            <a:endParaRPr lang="en-US" sz="1430" dirty="0"/>
          </a:p>
        </p:txBody>
      </p:sp>
      <p:sp>
        <p:nvSpPr>
          <p:cNvPr id="4" name="Text 2"/>
          <p:cNvSpPr/>
          <p:nvPr/>
        </p:nvSpPr>
        <p:spPr>
          <a:xfrm>
            <a:off x="868680" y="2672080"/>
            <a:ext cx="3017520" cy="685800"/>
          </a:xfrm>
          <a:prstGeom prst="rect">
            <a:avLst/>
          </a:prstGeom>
          <a:solidFill>
            <a:srgbClr val="F2F2F2"/>
          </a:solidFill>
          <a:ln w="10160">
            <a:solidFill>
              <a:srgbClr val="111111"/>
            </a:solidFill>
          </a:ln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1080" dirty="0">
                <a:solidFill>
                  <a:srgbClr val="111111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socket syscall</a:t>
            </a:r>
            <a:endParaRPr lang="en-US" sz="1080" dirty="0"/>
          </a:p>
          <a:p>
            <a:pPr marL="0" indent="0" algn="ctr">
              <a:buNone/>
            </a:pPr>
            <a:r>
              <a:rPr lang="en-US" sz="1080" dirty="0">
                <a:solidFill>
                  <a:srgbClr val="111111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socket / bind / listen / accept / connect</a:t>
            </a:r>
            <a:endParaRPr lang="en-US" sz="1080" dirty="0"/>
          </a:p>
        </p:txBody>
      </p:sp>
      <p:sp>
        <p:nvSpPr>
          <p:cNvPr id="5" name="Shape 3"/>
          <p:cNvSpPr/>
          <p:nvPr/>
        </p:nvSpPr>
        <p:spPr>
          <a:xfrm>
            <a:off x="3977640" y="3019552"/>
            <a:ext cx="594360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  <a:tailEnd type="triangle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" name="Text 4"/>
          <p:cNvSpPr/>
          <p:nvPr/>
        </p:nvSpPr>
        <p:spPr>
          <a:xfrm>
            <a:off x="4663440" y="2672080"/>
            <a:ext cx="2834640" cy="685800"/>
          </a:xfrm>
          <a:prstGeom prst="rect">
            <a:avLst/>
          </a:prstGeom>
          <a:solidFill>
            <a:srgbClr val="FFFFFF"/>
          </a:solidFill>
          <a:ln w="10160">
            <a:solidFill>
              <a:srgbClr val="111111"/>
            </a:solidFill>
          </a:ln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111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LocalSocket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111111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File trait 接入 fd 体系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589520" y="3019552"/>
            <a:ext cx="594360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  <a:tailEnd type="triangle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" name="Text 6"/>
          <p:cNvSpPr/>
          <p:nvPr/>
        </p:nvSpPr>
        <p:spPr>
          <a:xfrm>
            <a:off x="8275320" y="2672080"/>
            <a:ext cx="2743200" cy="685800"/>
          </a:xfrm>
          <a:prstGeom prst="rect">
            <a:avLst/>
          </a:prstGeom>
          <a:solidFill>
            <a:srgbClr val="F2F2F2"/>
          </a:solidFill>
          <a:ln w="10160">
            <a:solidFill>
              <a:srgbClr val="111111"/>
            </a:solidFill>
          </a:ln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1080" dirty="0">
                <a:solidFill>
                  <a:srgbClr val="111111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LoopbackState</a:t>
            </a:r>
            <a:endParaRPr lang="en-US" sz="1080" dirty="0"/>
          </a:p>
          <a:p>
            <a:pPr marL="0" indent="0" algn="ctr">
              <a:buNone/>
            </a:pPr>
            <a:r>
              <a:rPr lang="en-US" sz="1080" dirty="0">
                <a:solidFill>
                  <a:srgbClr val="111111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端口/Unix 地址/accept 队列</a:t>
            </a:r>
            <a:endParaRPr lang="en-US" sz="1080" dirty="0"/>
          </a:p>
        </p:txBody>
      </p:sp>
      <p:sp>
        <p:nvSpPr>
          <p:cNvPr id="9" name="Text 7"/>
          <p:cNvSpPr/>
          <p:nvPr/>
        </p:nvSpPr>
        <p:spPr>
          <a:xfrm>
            <a:off x="868680" y="4244848"/>
            <a:ext cx="10058400" cy="310896"/>
          </a:xfrm>
          <a:prstGeom prst="rect">
            <a:avLst/>
          </a:prstGeom>
          <a:noFill/>
        </p:spPr>
        <p:txBody>
          <a:bodyPr wrap="square" lIns="254" tIns="254" rIns="254" bIns="254" rtlCol="0" anchor="ctr"/>
          <a:lstStyle/>
          <a:p>
            <a:r>
              <a:rPr lang="en-US" sz="1360" dirty="0">
                <a:solidFill>
                  <a:srgbClr val="111111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SOCK_STREAM：可靠字节流，send 写入对端 stream_rx，recv 从自身缓冲读取</a:t>
            </a:r>
            <a:endParaRPr lang="en-US" sz="1360" dirty="0"/>
          </a:p>
        </p:txBody>
      </p:sp>
      <p:sp>
        <p:nvSpPr>
          <p:cNvPr id="10" name="Text 8"/>
          <p:cNvSpPr/>
          <p:nvPr/>
        </p:nvSpPr>
        <p:spPr>
          <a:xfrm>
            <a:off x="868680" y="4647184"/>
            <a:ext cx="10058400" cy="310896"/>
          </a:xfrm>
          <a:prstGeom prst="rect">
            <a:avLst/>
          </a:prstGeom>
          <a:noFill/>
        </p:spPr>
        <p:txBody>
          <a:bodyPr wrap="square" lIns="254" tIns="254" rIns="254" bIns="254" rtlCol="0" anchor="ctr"/>
          <a:lstStyle/>
          <a:p>
            <a:r>
              <a:rPr lang="en-US" sz="1360" dirty="0">
                <a:solidFill>
                  <a:srgbClr val="111111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SOCK_DGRAM：面向消息，sendto 将 Datagram 推入目标接收队列</a:t>
            </a:r>
            <a:endParaRPr lang="en-US" sz="1360" dirty="0"/>
          </a:p>
        </p:txBody>
      </p:sp>
      <p:sp>
        <p:nvSpPr>
          <p:cNvPr id="11" name="Text 9"/>
          <p:cNvSpPr/>
          <p:nvPr/>
        </p:nvSpPr>
        <p:spPr>
          <a:xfrm>
            <a:off x="868680" y="5049520"/>
            <a:ext cx="10058400" cy="310896"/>
          </a:xfrm>
          <a:prstGeom prst="rect">
            <a:avLst/>
          </a:prstGeom>
          <a:noFill/>
        </p:spPr>
        <p:txBody>
          <a:bodyPr wrap="square" lIns="254" tIns="254" rIns="254" bIns="254" rtlCol="0" anchor="ctr"/>
          <a:lstStyle/>
          <a:p>
            <a:r>
              <a:rPr lang="en-US" sz="1360" dirty="0">
                <a:solidFill>
                  <a:srgbClr val="111111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AF_UNIX：支持路径名与抽象地址，复用本地传输</a:t>
            </a:r>
            <a:endParaRPr lang="en-US" sz="1360" dirty="0"/>
          </a:p>
        </p:txBody>
      </p:sp>
      <p:sp>
        <p:nvSpPr>
          <p:cNvPr id="12" name="Text 10"/>
          <p:cNvSpPr/>
          <p:nvPr/>
        </p:nvSpPr>
        <p:spPr>
          <a:xfrm>
            <a:off x="868680" y="5451856"/>
            <a:ext cx="10058400" cy="310896"/>
          </a:xfrm>
          <a:prstGeom prst="rect">
            <a:avLst/>
          </a:prstGeom>
          <a:noFill/>
        </p:spPr>
        <p:txBody>
          <a:bodyPr wrap="square" lIns="254" tIns="254" rIns="254" bIns="254" rtlCol="0" anchor="ctr"/>
          <a:lstStyle/>
          <a:p>
            <a:r>
              <a:rPr lang="en-US" sz="1360" dirty="0">
                <a:solidFill>
                  <a:srgbClr val="111111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Netlink：合成 RTM_GETLINK / GETADDR / GETROUTE 响应，兼容 glibc addrconfig</a:t>
            </a:r>
            <a:endParaRPr lang="en-US" sz="1360" dirty="0"/>
          </a:p>
        </p:txBody>
      </p:sp>
      <p:sp>
        <p:nvSpPr>
          <p:cNvPr id="13" name="Text 11"/>
          <p:cNvSpPr/>
          <p:nvPr/>
        </p:nvSpPr>
        <p:spPr>
          <a:xfrm>
            <a:off x="868680" y="5854192"/>
            <a:ext cx="10058400" cy="310896"/>
          </a:xfrm>
          <a:prstGeom prst="rect">
            <a:avLst/>
          </a:prstGeom>
          <a:noFill/>
        </p:spPr>
        <p:txBody>
          <a:bodyPr wrap="square" lIns="254" tIns="254" rIns="254" bIns="254" rtlCol="0" anchor="ctr"/>
          <a:lstStyle/>
          <a:p>
            <a:r>
              <a:rPr lang="en-US" sz="1360" dirty="0">
                <a:solidFill>
                  <a:srgbClr val="111111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epoll / poll：socket 通过 PollWaitQueue 通知读写等待者</a:t>
            </a:r>
            <a:endParaRPr lang="en-US" sz="1360" dirty="0"/>
          </a:p>
        </p:txBody>
      </p:sp>
      <p:cxnSp>
        <p:nvCxnSpPr>
          <p:cNvPr id="14" name="直接连接符 13"/>
          <p:cNvCxnSpPr/>
          <p:nvPr/>
        </p:nvCxnSpPr>
        <p:spPr>
          <a:xfrm>
            <a:off x="519545" y="1039091"/>
            <a:ext cx="7813964" cy="0"/>
          </a:xfrm>
          <a:prstGeom prst="line">
            <a:avLst/>
          </a:prstGeom>
          <a:ln w="38100">
            <a:solidFill>
              <a:schemeClr val="bg2">
                <a:lumMod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矩形 14"/>
          <p:cNvSpPr/>
          <p:nvPr/>
        </p:nvSpPr>
        <p:spPr>
          <a:xfrm>
            <a:off x="11641282" y="342901"/>
            <a:ext cx="259773" cy="581891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" name="文本框 15"/>
          <p:cNvSpPr txBox="1"/>
          <p:nvPr/>
        </p:nvSpPr>
        <p:spPr>
          <a:xfrm>
            <a:off x="550718" y="155351"/>
            <a:ext cx="2418080" cy="7683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4400" dirty="0">
                <a:latin typeface="华文中宋" panose="02010600040101010101" pitchFamily="2" charset="-122"/>
                <a:ea typeface="华文中宋" panose="02010600040101010101" pitchFamily="2" charset="-122"/>
                <a:sym typeface="+mn-ea"/>
              </a:rPr>
              <a:t>内核</a:t>
            </a:r>
            <a:r>
              <a:rPr lang="zh-CN" altLang="en-US" sz="4400" dirty="0">
                <a:latin typeface="华文中宋" panose="02010600040101010101" pitchFamily="2" charset="-122"/>
                <a:ea typeface="华文中宋" panose="02010600040101010101" pitchFamily="2" charset="-122"/>
              </a:rPr>
              <a:t>模块</a:t>
            </a:r>
          </a:p>
        </p:txBody>
      </p:sp>
      <p:sp>
        <p:nvSpPr>
          <p:cNvPr id="17" name="文本框 16"/>
          <p:cNvSpPr txBox="1"/>
          <p:nvPr/>
        </p:nvSpPr>
        <p:spPr>
          <a:xfrm>
            <a:off x="687774" y="1153391"/>
            <a:ext cx="209015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华文中宋" panose="02010600040101010101" pitchFamily="2" charset="-122"/>
                <a:ea typeface="华文中宋" panose="02010600040101010101" pitchFamily="2" charset="-122"/>
              </a:rPr>
              <a:t>Network</a:t>
            </a:r>
            <a:endParaRPr lang="zh-CN" altLang="en-US" dirty="0">
              <a:latin typeface="华文中宋" panose="02010600040101010101" pitchFamily="2" charset="-122"/>
              <a:ea typeface="华文中宋" panose="02010600040101010101" pitchFamily="2" charset="-122"/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3067764" y="463127"/>
            <a:ext cx="80021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400" dirty="0">
                <a:latin typeface="华文中宋" panose="02010600040101010101" pitchFamily="2" charset="-122"/>
                <a:ea typeface="华文中宋" panose="02010600040101010101" pitchFamily="2" charset="-122"/>
              </a:rPr>
              <a:t>网络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685800" y="1610360"/>
            <a:ext cx="10515600" cy="347472"/>
          </a:xfrm>
          <a:prstGeom prst="rect">
            <a:avLst/>
          </a:prstGeom>
          <a:noFill/>
        </p:spPr>
        <p:txBody>
          <a:bodyPr wrap="square" lIns="381" tIns="381" rIns="381" bIns="381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111111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kperf 是我们自建的内核性能观测框架：默认构建零开销，调试构建输出可解析数据。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868680" y="2479040"/>
            <a:ext cx="2103120" cy="685800"/>
          </a:xfrm>
          <a:prstGeom prst="rect">
            <a:avLst/>
          </a:prstGeom>
          <a:solidFill>
            <a:srgbClr val="F2F2F2"/>
          </a:solidFill>
          <a:ln w="10160">
            <a:solidFill>
              <a:srgbClr val="111111"/>
            </a:solidFill>
          </a:ln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111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PERF_COUNTERS=0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111111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正式运行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090672" y="2826512"/>
            <a:ext cx="566928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  <a:tailEnd type="triangle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" name="Text 4"/>
          <p:cNvSpPr/>
          <p:nvPr/>
        </p:nvSpPr>
        <p:spPr>
          <a:xfrm>
            <a:off x="3749040" y="2479040"/>
            <a:ext cx="2194560" cy="685800"/>
          </a:xfrm>
          <a:prstGeom prst="rect">
            <a:avLst/>
          </a:prstGeom>
          <a:solidFill>
            <a:srgbClr val="FFFFFF"/>
          </a:solidFill>
          <a:ln w="10160">
            <a:solidFill>
              <a:srgbClr val="111111"/>
            </a:solidFill>
          </a:ln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111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disabled 模块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111111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inline no-op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053328" y="2826512"/>
            <a:ext cx="576072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  <a:tailEnd type="triangle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" name="Text 6"/>
          <p:cNvSpPr/>
          <p:nvPr/>
        </p:nvSpPr>
        <p:spPr>
          <a:xfrm>
            <a:off x="6720840" y="2479040"/>
            <a:ext cx="2651760" cy="685800"/>
          </a:xfrm>
          <a:prstGeom prst="rect">
            <a:avLst/>
          </a:prstGeom>
          <a:solidFill>
            <a:srgbClr val="F2F2F2"/>
          </a:solidFill>
          <a:ln w="10160">
            <a:solidFill>
              <a:srgbClr val="111111"/>
            </a:solidFill>
          </a:ln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111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编译期消除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111111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不读时钟 / 不原子计数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68680" y="4399280"/>
            <a:ext cx="2103120" cy="685800"/>
          </a:xfrm>
          <a:prstGeom prst="rect">
            <a:avLst/>
          </a:prstGeom>
          <a:solidFill>
            <a:srgbClr val="F2F2F2"/>
          </a:solidFill>
          <a:ln w="10160">
            <a:solidFill>
              <a:srgbClr val="111111"/>
            </a:solidFill>
          </a:ln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111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PERF_COUNTERS=1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111111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调试运行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090672" y="4746752"/>
            <a:ext cx="566928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  <a:tailEnd type="triangle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" name="Text 9"/>
          <p:cNvSpPr/>
          <p:nvPr/>
        </p:nvSpPr>
        <p:spPr>
          <a:xfrm>
            <a:off x="3749040" y="4399280"/>
            <a:ext cx="2651760" cy="685800"/>
          </a:xfrm>
          <a:prstGeom prst="rect">
            <a:avLst/>
          </a:prstGeom>
          <a:solidFill>
            <a:srgbClr val="FFFFFF"/>
          </a:solidFill>
          <a:ln w="10160">
            <a:solidFill>
              <a:srgbClr val="111111"/>
            </a:solidFill>
          </a:ln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1030" dirty="0">
                <a:solidFill>
                  <a:srgbClr val="111111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enabled 模块</a:t>
            </a:r>
            <a:endParaRPr lang="en-US" sz="1030" dirty="0"/>
          </a:p>
          <a:p>
            <a:pPr marL="0" indent="0" algn="ctr">
              <a:buNone/>
            </a:pPr>
            <a:r>
              <a:rPr lang="en-US" sz="1030" dirty="0">
                <a:solidFill>
                  <a:srgbClr val="111111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250+ 计数器 / 52 个 ProfilePoint</a:t>
            </a:r>
            <a:endParaRPr lang="en-US" sz="1030" dirty="0"/>
          </a:p>
        </p:txBody>
      </p:sp>
      <p:sp>
        <p:nvSpPr>
          <p:cNvPr id="12" name="Shape 10"/>
          <p:cNvSpPr/>
          <p:nvPr/>
        </p:nvSpPr>
        <p:spPr>
          <a:xfrm>
            <a:off x="6510528" y="4746752"/>
            <a:ext cx="576072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  <a:tailEnd type="triangle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" name="Text 11"/>
          <p:cNvSpPr/>
          <p:nvPr/>
        </p:nvSpPr>
        <p:spPr>
          <a:xfrm>
            <a:off x="7178040" y="4399280"/>
            <a:ext cx="2560320" cy="685800"/>
          </a:xfrm>
          <a:prstGeom prst="rect">
            <a:avLst/>
          </a:prstGeom>
          <a:solidFill>
            <a:srgbClr val="F2F2F2"/>
          </a:solidFill>
          <a:ln w="10160">
            <a:solidFill>
              <a:srgbClr val="111111"/>
            </a:solidFill>
          </a:ln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1070" dirty="0">
                <a:solidFill>
                  <a:srgbClr val="111111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/proc/oskernel/perf</a:t>
            </a:r>
            <a:endParaRPr lang="en-US" sz="1070" dirty="0"/>
          </a:p>
          <a:p>
            <a:pPr marL="0" indent="0" algn="ctr">
              <a:buNone/>
            </a:pPr>
            <a:r>
              <a:rPr lang="en-US" sz="1070" dirty="0">
                <a:solidFill>
                  <a:srgbClr val="111111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key-value 输出</a:t>
            </a:r>
            <a:endParaRPr lang="en-US" sz="1070" dirty="0"/>
          </a:p>
        </p:txBody>
      </p:sp>
      <p:sp>
        <p:nvSpPr>
          <p:cNvPr id="14" name="Text 12"/>
          <p:cNvSpPr/>
          <p:nvPr/>
        </p:nvSpPr>
        <p:spPr>
          <a:xfrm>
            <a:off x="868680" y="6182360"/>
            <a:ext cx="10058400" cy="365760"/>
          </a:xfrm>
          <a:prstGeom prst="rect">
            <a:avLst/>
          </a:prstGeom>
          <a:noFill/>
        </p:spPr>
        <p:txBody>
          <a:bodyPr wrap="square" lIns="381" tIns="381" rIns="381" bIns="381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11111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作用：把“感觉慢”变成可对比的计数和耗时，再用相同场景做 before/after 验证。</a:t>
            </a:r>
            <a:endParaRPr lang="en-US" sz="1400" dirty="0"/>
          </a:p>
        </p:txBody>
      </p:sp>
      <p:cxnSp>
        <p:nvCxnSpPr>
          <p:cNvPr id="15" name="直接连接符 14"/>
          <p:cNvCxnSpPr/>
          <p:nvPr/>
        </p:nvCxnSpPr>
        <p:spPr>
          <a:xfrm>
            <a:off x="519545" y="1039091"/>
            <a:ext cx="7813964" cy="0"/>
          </a:xfrm>
          <a:prstGeom prst="line">
            <a:avLst/>
          </a:prstGeom>
          <a:ln w="38100">
            <a:solidFill>
              <a:schemeClr val="bg2">
                <a:lumMod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矩形 15"/>
          <p:cNvSpPr/>
          <p:nvPr/>
        </p:nvSpPr>
        <p:spPr>
          <a:xfrm>
            <a:off x="11641282" y="342901"/>
            <a:ext cx="259773" cy="581891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" name="文本框 16"/>
          <p:cNvSpPr txBox="1"/>
          <p:nvPr/>
        </p:nvSpPr>
        <p:spPr>
          <a:xfrm>
            <a:off x="550718" y="155351"/>
            <a:ext cx="2441694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4400" dirty="0">
                <a:latin typeface="华文中宋" panose="02010600040101010101" pitchFamily="2" charset="-122"/>
                <a:ea typeface="华文中宋" panose="02010600040101010101" pitchFamily="2" charset="-122"/>
              </a:rPr>
              <a:t>性能评测</a:t>
            </a:r>
          </a:p>
        </p:txBody>
      </p:sp>
      <p:sp>
        <p:nvSpPr>
          <p:cNvPr id="18" name="文本框 17"/>
          <p:cNvSpPr txBox="1"/>
          <p:nvPr/>
        </p:nvSpPr>
        <p:spPr>
          <a:xfrm>
            <a:off x="687774" y="1153391"/>
            <a:ext cx="209015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华文中宋" panose="02010600040101010101" pitchFamily="2" charset="-122"/>
                <a:ea typeface="华文中宋" panose="02010600040101010101" pitchFamily="2" charset="-122"/>
              </a:rPr>
              <a:t>Performance</a:t>
            </a:r>
            <a:endParaRPr lang="zh-CN" altLang="en-US" dirty="0">
              <a:latin typeface="华文中宋" panose="02010600040101010101" pitchFamily="2" charset="-122"/>
              <a:ea typeface="华文中宋" panose="02010600040101010101" pitchFamily="2" charset="-122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12"/>
          <p:cNvSpPr/>
          <p:nvPr/>
        </p:nvSpPr>
        <p:spPr>
          <a:xfrm>
            <a:off x="-152401" y="1637022"/>
            <a:ext cx="12619703" cy="2178418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Text 1"/>
          <p:cNvSpPr/>
          <p:nvPr/>
        </p:nvSpPr>
        <p:spPr>
          <a:xfrm>
            <a:off x="685800" y="1933754"/>
            <a:ext cx="12197080" cy="457200"/>
          </a:xfrm>
          <a:prstGeom prst="rect">
            <a:avLst/>
          </a:prstGeom>
          <a:noFill/>
        </p:spPr>
        <p:txBody>
          <a:bodyPr wrap="square" lIns="381" tIns="381" rIns="381" bIns="381" rtlCol="0" anchor="t"/>
          <a:lstStyle/>
          <a:p>
            <a:pPr marL="0" indent="0">
              <a:buNone/>
            </a:pPr>
            <a:endParaRPr lang="en-US" sz="1600" dirty="0">
              <a:solidFill>
                <a:schemeClr val="bg1"/>
              </a:solidFill>
              <a:latin typeface="华文中宋" panose="02010600040101010101" pitchFamily="2" charset="-122"/>
              <a:ea typeface="华文中宋" panose="02010600040101010101" pitchFamily="2" charset="-122"/>
            </a:endParaRPr>
          </a:p>
        </p:txBody>
      </p:sp>
      <p:sp>
        <p:nvSpPr>
          <p:cNvPr id="4" name="Text 2"/>
          <p:cNvSpPr/>
          <p:nvPr/>
        </p:nvSpPr>
        <p:spPr>
          <a:xfrm>
            <a:off x="822960" y="4152000"/>
            <a:ext cx="10708640" cy="420624"/>
          </a:xfrm>
          <a:prstGeom prst="rect">
            <a:avLst/>
          </a:prstGeom>
          <a:noFill/>
        </p:spPr>
        <p:txBody>
          <a:bodyPr wrap="square" lIns="254" tIns="254" rIns="254" bIns="254" rtlCol="0" anchor="ctr"/>
          <a:lstStyle/>
          <a:p>
            <a:r>
              <a:rPr lang="en-US" dirty="0">
                <a:solidFill>
                  <a:srgbClr val="111111"/>
                </a:solidFill>
                <a:latin typeface="华文中宋" panose="02010600040101010101" pitchFamily="2" charset="-122"/>
                <a:ea typeface="华文中宋" panose="02010600040101010101" pitchFamily="2" charset="-122"/>
                <a:cs typeface="等线" pitchFamily="34" charset="-120"/>
              </a:rPr>
              <a:t>核心能力</a:t>
            </a:r>
            <a:r>
              <a:rPr lang="en-US" sz="1600" dirty="0">
                <a:solidFill>
                  <a:srgbClr val="111111"/>
                </a:solidFill>
                <a:latin typeface="华文中宋" panose="02010600040101010101" pitchFamily="2" charset="-122"/>
                <a:ea typeface="华文中宋" panose="02010600040101010101" pitchFamily="2" charset="-122"/>
                <a:cs typeface="等线" pitchFamily="34" charset="-120"/>
              </a:rPr>
              <a:t>：双架构启动、任务/进程/信号、虚拟内存、EXT4/VFS、VirtIO、socket、futex、约 250 个 syscall</a:t>
            </a:r>
            <a:endParaRPr lang="en-US" sz="1600" dirty="0">
              <a:latin typeface="华文中宋" panose="02010600040101010101" pitchFamily="2" charset="-122"/>
              <a:ea typeface="华文中宋" panose="02010600040101010101" pitchFamily="2" charset="-122"/>
            </a:endParaRPr>
          </a:p>
        </p:txBody>
      </p:sp>
      <p:sp>
        <p:nvSpPr>
          <p:cNvPr id="5" name="Text 3"/>
          <p:cNvSpPr/>
          <p:nvPr/>
        </p:nvSpPr>
        <p:spPr>
          <a:xfrm>
            <a:off x="822960" y="4718928"/>
            <a:ext cx="10241280" cy="420624"/>
          </a:xfrm>
          <a:prstGeom prst="rect">
            <a:avLst/>
          </a:prstGeom>
          <a:noFill/>
        </p:spPr>
        <p:txBody>
          <a:bodyPr wrap="square" lIns="254" tIns="254" rIns="254" bIns="254" rtlCol="0" anchor="ctr"/>
          <a:lstStyle/>
          <a:p>
            <a:r>
              <a:rPr lang="en-US" dirty="0">
                <a:solidFill>
                  <a:srgbClr val="111111"/>
                </a:solidFill>
                <a:latin typeface="华文中宋" panose="02010600040101010101" pitchFamily="2" charset="-122"/>
                <a:ea typeface="华文中宋" panose="02010600040101010101" pitchFamily="2" charset="-122"/>
                <a:cs typeface="等线" pitchFamily="34" charset="-120"/>
              </a:rPr>
              <a:t>工程亮点</a:t>
            </a:r>
            <a:r>
              <a:rPr lang="en-US" sz="1600" dirty="0">
                <a:solidFill>
                  <a:srgbClr val="111111"/>
                </a:solidFill>
                <a:latin typeface="华文中宋" panose="02010600040101010101" pitchFamily="2" charset="-122"/>
                <a:ea typeface="华文中宋" panose="02010600040101010101" pitchFamily="2" charset="-122"/>
                <a:cs typeface="等线" pitchFamily="34" charset="-120"/>
              </a:rPr>
              <a:t>：竞赛脚本盘解耦、统一主干、kperf 零开销观测、真实日志驱动的缺陷定位</a:t>
            </a:r>
            <a:endParaRPr lang="en-US" sz="1600" dirty="0">
              <a:latin typeface="华文中宋" panose="02010600040101010101" pitchFamily="2" charset="-122"/>
              <a:ea typeface="华文中宋" panose="02010600040101010101" pitchFamily="2" charset="-122"/>
            </a:endParaRPr>
          </a:p>
        </p:txBody>
      </p:sp>
      <p:sp>
        <p:nvSpPr>
          <p:cNvPr id="6" name="Text 4"/>
          <p:cNvSpPr/>
          <p:nvPr/>
        </p:nvSpPr>
        <p:spPr>
          <a:xfrm>
            <a:off x="822960" y="5285856"/>
            <a:ext cx="10241280" cy="420624"/>
          </a:xfrm>
          <a:prstGeom prst="rect">
            <a:avLst/>
          </a:prstGeom>
          <a:noFill/>
        </p:spPr>
        <p:txBody>
          <a:bodyPr wrap="square" lIns="254" tIns="254" rIns="254" bIns="254" rtlCol="0" anchor="ctr"/>
          <a:lstStyle/>
          <a:p>
            <a:r>
              <a:rPr lang="en-US" dirty="0">
                <a:solidFill>
                  <a:srgbClr val="111111"/>
                </a:solidFill>
                <a:latin typeface="华文中宋" panose="02010600040101010101" pitchFamily="2" charset="-122"/>
                <a:ea typeface="华文中宋" panose="02010600040101010101" pitchFamily="2" charset="-122"/>
                <a:cs typeface="等线" pitchFamily="34" charset="-120"/>
              </a:rPr>
              <a:t>评分表现</a:t>
            </a:r>
            <a:r>
              <a:rPr lang="en-US" sz="1600" dirty="0">
                <a:solidFill>
                  <a:srgbClr val="111111"/>
                </a:solidFill>
                <a:latin typeface="华文中宋" panose="02010600040101010101" pitchFamily="2" charset="-122"/>
                <a:ea typeface="华文中宋" panose="02010600040101010101" pitchFamily="2" charset="-122"/>
                <a:cs typeface="等线" pitchFamily="34" charset="-120"/>
              </a:rPr>
              <a:t>：22 个测试组均有计分输出，线上约 36 分钟完成完整初赛评测</a:t>
            </a:r>
            <a:endParaRPr lang="en-US" sz="1600" dirty="0">
              <a:latin typeface="华文中宋" panose="02010600040101010101" pitchFamily="2" charset="-122"/>
              <a:ea typeface="华文中宋" panose="02010600040101010101" pitchFamily="2" charset="-122"/>
            </a:endParaRPr>
          </a:p>
        </p:txBody>
      </p:sp>
      <p:sp>
        <p:nvSpPr>
          <p:cNvPr id="7" name="Text 5"/>
          <p:cNvSpPr/>
          <p:nvPr/>
        </p:nvSpPr>
        <p:spPr>
          <a:xfrm>
            <a:off x="822960" y="5852784"/>
            <a:ext cx="10241280" cy="420624"/>
          </a:xfrm>
          <a:prstGeom prst="rect">
            <a:avLst/>
          </a:prstGeom>
          <a:noFill/>
        </p:spPr>
        <p:txBody>
          <a:bodyPr wrap="square" lIns="254" tIns="254" rIns="254" bIns="254" rtlCol="0" anchor="ctr"/>
          <a:lstStyle/>
          <a:p>
            <a:r>
              <a:rPr lang="en-US" dirty="0">
                <a:solidFill>
                  <a:srgbClr val="111111"/>
                </a:solidFill>
                <a:latin typeface="华文中宋" panose="02010600040101010101" pitchFamily="2" charset="-122"/>
                <a:ea typeface="华文中宋" panose="02010600040101010101" pitchFamily="2" charset="-122"/>
                <a:cs typeface="等线" pitchFamily="34" charset="-120"/>
              </a:rPr>
              <a:t>后续重点</a:t>
            </a:r>
            <a:r>
              <a:rPr lang="en-US" sz="1600" dirty="0">
                <a:solidFill>
                  <a:srgbClr val="111111"/>
                </a:solidFill>
                <a:latin typeface="华文中宋" panose="02010600040101010101" pitchFamily="2" charset="-122"/>
                <a:ea typeface="华文中宋" panose="02010600040101010101" pitchFamily="2" charset="-122"/>
                <a:cs typeface="等线" pitchFamily="34" charset="-120"/>
              </a:rPr>
              <a:t>：I/O 热路径、VMA 数据结构、页缓存写回、真实硬件一致性、SMP 与更完整网络协议栈</a:t>
            </a:r>
            <a:endParaRPr lang="en-US" sz="1600" dirty="0">
              <a:latin typeface="华文中宋" panose="02010600040101010101" pitchFamily="2" charset="-122"/>
              <a:ea typeface="华文中宋" panose="02010600040101010101" pitchFamily="2" charset="-122"/>
            </a:endParaRPr>
          </a:p>
        </p:txBody>
      </p:sp>
      <p:cxnSp>
        <p:nvCxnSpPr>
          <p:cNvPr id="9" name="直接连接符 8"/>
          <p:cNvCxnSpPr/>
          <p:nvPr/>
        </p:nvCxnSpPr>
        <p:spPr>
          <a:xfrm>
            <a:off x="519545" y="1039091"/>
            <a:ext cx="7813964" cy="0"/>
          </a:xfrm>
          <a:prstGeom prst="line">
            <a:avLst/>
          </a:prstGeom>
          <a:ln w="38100">
            <a:solidFill>
              <a:schemeClr val="bg2">
                <a:lumMod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矩形 9"/>
          <p:cNvSpPr/>
          <p:nvPr/>
        </p:nvSpPr>
        <p:spPr>
          <a:xfrm>
            <a:off x="11641282" y="342901"/>
            <a:ext cx="259773" cy="581891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文本框 10"/>
          <p:cNvSpPr txBox="1"/>
          <p:nvPr/>
        </p:nvSpPr>
        <p:spPr>
          <a:xfrm>
            <a:off x="550718" y="155351"/>
            <a:ext cx="2441694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4400" dirty="0">
                <a:latin typeface="华文中宋" panose="02010600040101010101" pitchFamily="2" charset="-122"/>
                <a:ea typeface="华文中宋" panose="02010600040101010101" pitchFamily="2" charset="-122"/>
              </a:rPr>
              <a:t>总结展望</a:t>
            </a:r>
          </a:p>
        </p:txBody>
      </p:sp>
      <p:sp>
        <p:nvSpPr>
          <p:cNvPr id="12" name="文本框 11"/>
          <p:cNvSpPr txBox="1"/>
          <p:nvPr/>
        </p:nvSpPr>
        <p:spPr>
          <a:xfrm>
            <a:off x="687774" y="1153391"/>
            <a:ext cx="20901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华文中宋" panose="02010600040101010101" pitchFamily="2" charset="-122"/>
                <a:ea typeface="华文中宋" panose="02010600040101010101" pitchFamily="2" charset="-122"/>
              </a:rPr>
              <a:t>summary </a:t>
            </a:r>
            <a:endParaRPr lang="zh-CN" altLang="en-US" dirty="0">
              <a:latin typeface="华文中宋" panose="02010600040101010101" pitchFamily="2" charset="-122"/>
              <a:ea typeface="华文中宋" panose="02010600040101010101" pitchFamily="2" charset="-122"/>
            </a:endParaRPr>
          </a:p>
        </p:txBody>
      </p:sp>
      <p:sp>
        <p:nvSpPr>
          <p:cNvPr id="14" name="矩形 13"/>
          <p:cNvSpPr/>
          <p:nvPr/>
        </p:nvSpPr>
        <p:spPr>
          <a:xfrm>
            <a:off x="492529" y="4269624"/>
            <a:ext cx="116378" cy="272392"/>
          </a:xfrm>
          <a:prstGeom prst="rect">
            <a:avLst/>
          </a:prstGeom>
          <a:solidFill>
            <a:schemeClr val="bg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" name="矩形 14"/>
          <p:cNvSpPr/>
          <p:nvPr/>
        </p:nvSpPr>
        <p:spPr>
          <a:xfrm>
            <a:off x="492529" y="4822560"/>
            <a:ext cx="116378" cy="272392"/>
          </a:xfrm>
          <a:prstGeom prst="rect">
            <a:avLst/>
          </a:prstGeom>
          <a:solidFill>
            <a:schemeClr val="bg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" name="矩形 15"/>
          <p:cNvSpPr/>
          <p:nvPr/>
        </p:nvSpPr>
        <p:spPr>
          <a:xfrm>
            <a:off x="489423" y="5375496"/>
            <a:ext cx="116378" cy="272392"/>
          </a:xfrm>
          <a:prstGeom prst="rect">
            <a:avLst/>
          </a:prstGeom>
          <a:solidFill>
            <a:schemeClr val="bg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" name="矩形 16"/>
          <p:cNvSpPr/>
          <p:nvPr/>
        </p:nvSpPr>
        <p:spPr>
          <a:xfrm>
            <a:off x="488372" y="5928432"/>
            <a:ext cx="116378" cy="272392"/>
          </a:xfrm>
          <a:prstGeom prst="rect">
            <a:avLst/>
          </a:prstGeom>
          <a:solidFill>
            <a:schemeClr val="bg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Text Box 1"/>
          <p:cNvSpPr txBox="1"/>
          <p:nvPr/>
        </p:nvSpPr>
        <p:spPr>
          <a:xfrm>
            <a:off x="837392" y="1868596"/>
            <a:ext cx="10803890" cy="21380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5000"/>
              </a:lnSpc>
            </a:pPr>
            <a:r>
              <a:rPr lang="zh-CN" altLang="en-US" dirty="0">
                <a:solidFill>
                  <a:schemeClr val="bg1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经过本阶段的开发，</a:t>
            </a:r>
            <a:r>
              <a:rPr lang="en-US" altLang="en-US" dirty="0">
                <a:solidFill>
                  <a:schemeClr val="bg1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WHUSP </a:t>
            </a:r>
            <a:r>
              <a:rPr lang="zh-CN" altLang="en-US" dirty="0">
                <a:solidFill>
                  <a:schemeClr val="bg1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已基本完成一个支持 </a:t>
            </a:r>
            <a:r>
              <a:rPr lang="en-US" altLang="en-US" dirty="0">
                <a:solidFill>
                  <a:schemeClr val="bg1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RISC-V 64 </a:t>
            </a:r>
            <a:r>
              <a:rPr lang="zh-CN" altLang="en-US" dirty="0">
                <a:solidFill>
                  <a:schemeClr val="bg1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与 </a:t>
            </a:r>
            <a:r>
              <a:rPr lang="en-US" altLang="en-US" dirty="0" err="1">
                <a:solidFill>
                  <a:schemeClr val="bg1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LoongArch</a:t>
            </a:r>
            <a:r>
              <a:rPr lang="en-US" altLang="en-US" dirty="0">
                <a:solidFill>
                  <a:schemeClr val="bg1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 64 </a:t>
            </a:r>
            <a:r>
              <a:rPr lang="zh-CN" altLang="en-US" dirty="0">
                <a:solidFill>
                  <a:schemeClr val="bg1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的 </a:t>
            </a:r>
            <a:r>
              <a:rPr lang="en-US" altLang="en-US" dirty="0">
                <a:solidFill>
                  <a:schemeClr val="bg1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Rust </a:t>
            </a:r>
            <a:r>
              <a:rPr lang="zh-CN" altLang="en-US" dirty="0">
                <a:solidFill>
                  <a:schemeClr val="bg1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宏内核，实现了进程调度、虚拟内存、文件系统、网络、信号和 </a:t>
            </a:r>
            <a:r>
              <a:rPr lang="en-US" altLang="en-US" dirty="0">
                <a:solidFill>
                  <a:schemeClr val="bg1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Linux </a:t>
            </a:r>
            <a:r>
              <a:rPr lang="zh-CN" altLang="en-US" dirty="0">
                <a:solidFill>
                  <a:schemeClr val="bg1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系统调用兼容等核心功能，并建立了完整的双架构测试与性能分析链路。未来，我们希望继续完善跨架构一致性和 </a:t>
            </a:r>
            <a:r>
              <a:rPr lang="en-US" altLang="en-US" dirty="0">
                <a:solidFill>
                  <a:schemeClr val="bg1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Linux </a:t>
            </a:r>
            <a:r>
              <a:rPr lang="zh-CN" altLang="en-US" dirty="0">
                <a:solidFill>
                  <a:schemeClr val="bg1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兼容性，优化内存、文件系统及 </a:t>
            </a:r>
            <a:r>
              <a:rPr lang="en-US" altLang="en-US" dirty="0">
                <a:solidFill>
                  <a:schemeClr val="bg1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I/O </a:t>
            </a:r>
            <a:r>
              <a:rPr lang="zh-CN" altLang="en-US" dirty="0">
                <a:solidFill>
                  <a:schemeClr val="bg1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性能，并逐步探索 </a:t>
            </a:r>
            <a:r>
              <a:rPr lang="en-US" altLang="en-US" dirty="0" err="1">
                <a:solidFill>
                  <a:schemeClr val="bg1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SMP、eBPF</a:t>
            </a:r>
            <a:r>
              <a:rPr lang="en-US" altLang="en-US" dirty="0">
                <a:solidFill>
                  <a:schemeClr val="bg1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、</a:t>
            </a:r>
            <a:r>
              <a:rPr lang="zh-CN" altLang="en-US" dirty="0">
                <a:solidFill>
                  <a:schemeClr val="bg1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完整网络协议栈、异步 </a:t>
            </a:r>
            <a:r>
              <a:rPr lang="en-US" altLang="en-US" dirty="0">
                <a:solidFill>
                  <a:schemeClr val="bg1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I/O </a:t>
            </a:r>
            <a:r>
              <a:rPr lang="zh-CN" altLang="en-US" dirty="0">
                <a:solidFill>
                  <a:schemeClr val="bg1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和 </a:t>
            </a:r>
            <a:r>
              <a:rPr lang="en-US" altLang="en-US" dirty="0">
                <a:solidFill>
                  <a:schemeClr val="bg1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USB </a:t>
            </a:r>
            <a:r>
              <a:rPr lang="zh-CN" altLang="en-US" dirty="0">
                <a:solidFill>
                  <a:schemeClr val="bg1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设备支持，让 </a:t>
            </a:r>
            <a:r>
              <a:rPr lang="en-US" altLang="en-US" dirty="0">
                <a:solidFill>
                  <a:schemeClr val="bg1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WHUSP </a:t>
            </a:r>
            <a:r>
              <a:rPr lang="zh-CN" altLang="en-US" dirty="0">
                <a:solidFill>
                  <a:schemeClr val="bg1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从竞赛内核进一步成长为功能更加完整、结构更加成熟的通用操作系统内核。  </a:t>
            </a:r>
          </a:p>
          <a:p>
            <a:pPr>
              <a:lnSpc>
                <a:spcPct val="125000"/>
              </a:lnSpc>
            </a:pPr>
            <a:endParaRPr lang="zh-CN" altLang="en-US" dirty="0">
              <a:solidFill>
                <a:schemeClr val="bg1"/>
              </a:solidFill>
              <a:latin typeface="华文中宋" panose="02010600040101010101" pitchFamily="2" charset="-122"/>
              <a:ea typeface="华文中宋" panose="02010600040101010101" pitchFamily="2" charset="-122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/>
          <p:cNvSpPr/>
          <p:nvPr/>
        </p:nvSpPr>
        <p:spPr>
          <a:xfrm>
            <a:off x="0" y="2621280"/>
            <a:ext cx="12192000" cy="1513840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Text 0"/>
          <p:cNvSpPr/>
          <p:nvPr/>
        </p:nvSpPr>
        <p:spPr>
          <a:xfrm>
            <a:off x="0" y="3046984"/>
            <a:ext cx="12191695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4400" dirty="0">
                <a:solidFill>
                  <a:schemeClr val="bg1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感谢聆听</a:t>
            </a:r>
            <a:endParaRPr lang="en-US" sz="4400" dirty="0">
              <a:solidFill>
                <a:schemeClr val="bg1"/>
              </a:solidFill>
              <a:latin typeface="华文中宋" panose="02010600040101010101" pitchFamily="2" charset="-122"/>
              <a:ea typeface="华文中宋" panose="02010600040101010101" pitchFamily="2" charset="-122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</TotalTime>
  <Words>3031</Words>
  <Application>Microsoft Office PowerPoint</Application>
  <PresentationFormat>宽屏</PresentationFormat>
  <Paragraphs>467</Paragraphs>
  <Slides>30</Slides>
  <Notes>30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30</vt:i4>
      </vt:variant>
    </vt:vector>
  </HeadingPairs>
  <TitlesOfParts>
    <vt:vector size="37" baseType="lpstr">
      <vt:lpstr>等线</vt:lpstr>
      <vt:lpstr>仿宋</vt:lpstr>
      <vt:lpstr>华文中宋</vt:lpstr>
      <vt:lpstr>Arial</vt:lpstr>
      <vt:lpstr>Consolas</vt:lpstr>
      <vt:lpstr>Times New Roman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Wuhan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WHUSP-OS 初赛汇报</dc:title>
  <dc:subject>WHUSP-OS preliminary presentation</dc:subject>
  <dc:creator>WHUSP</dc:creator>
  <cp:lastModifiedBy>瑞博 石</cp:lastModifiedBy>
  <cp:revision>32</cp:revision>
  <dcterms:created xsi:type="dcterms:W3CDTF">2026-06-30T12:39:32Z</dcterms:created>
  <dcterms:modified xsi:type="dcterms:W3CDTF">2026-06-30T13:08:13Z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FC8138B528C7244F7358436A0FC48E8E_42</vt:lpwstr>
  </property>
  <property fmtid="{D5CDD505-2E9C-101B-9397-08002B2CF9AE}" pid="3" name="KSOProductBuildVer">
    <vt:lpwstr>1033-12.1.2.26885</vt:lpwstr>
  </property>
</Properties>
</file>